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becfee211a4593" /><Relationship Type="http://schemas.openxmlformats.org/officeDocument/2006/relationships/extended-properties" Target="/docProps/app.xml" Id="R26b0c0e46d6243c4" /><Relationship Type="http://schemas.openxmlformats.org/officeDocument/2006/relationships/officeDocument" Target="/ppt/presentation.xml" Id="R13a270bef9614900" /></Relationships>
</file>

<file path=ppt/presentation.xml><?xml version="1.0" encoding="utf-8"?>
<p:presentation xmlns:p="http://schemas.openxmlformats.org/presentationml/2006/main">
  <p:sldMasterIdLst>
    <p:sldMasterId xmlns:r="http://schemas.openxmlformats.org/officeDocument/2006/relationships" id="2147483648" r:id="Re3c35cb1222e44ca"/>
  </p:sldMasterIdLst>
  <p:notesMasterIdLst>
    <p:notesMasterId xmlns:r="http://schemas.openxmlformats.org/officeDocument/2006/relationships" r:id="Rb586d49c3e784bf0"/>
  </p:notesMasterIdLst>
  <p:sldIdLst>
    <p:sldId xmlns:r="http://schemas.openxmlformats.org/officeDocument/2006/relationships" id="256" r:id="Rcf6f408452b04ae5"/>
    <p:sldId xmlns:r="http://schemas.openxmlformats.org/officeDocument/2006/relationships" id="257" r:id="Rc6670888704441a5"/>
    <p:sldId xmlns:r="http://schemas.openxmlformats.org/officeDocument/2006/relationships" id="258" r:id="R62b6b3fac27f409c"/>
    <p:sldId xmlns:r="http://schemas.openxmlformats.org/officeDocument/2006/relationships" id="259" r:id="R401330e334f841f4"/>
    <p:sldId xmlns:r="http://schemas.openxmlformats.org/officeDocument/2006/relationships" id="260" r:id="R226bd5e295ad4b0c"/>
    <p:sldId xmlns:r="http://schemas.openxmlformats.org/officeDocument/2006/relationships" id="261" r:id="R4ba752c08c1a4f5c"/>
    <p:sldId xmlns:r="http://schemas.openxmlformats.org/officeDocument/2006/relationships" id="262" r:id="Rc6d6339b080c4741"/>
    <p:sldId xmlns:r="http://schemas.openxmlformats.org/officeDocument/2006/relationships" id="263" r:id="R220e0352f2c14e83"/>
    <p:sldId xmlns:r="http://schemas.openxmlformats.org/officeDocument/2006/relationships" id="264" r:id="R9875a32c89ee4d38"/>
    <p:sldId xmlns:r="http://schemas.openxmlformats.org/officeDocument/2006/relationships" id="265" r:id="Ra38211a23f854f2c"/>
    <p:sldId xmlns:r="http://schemas.openxmlformats.org/officeDocument/2006/relationships" id="266" r:id="R21646fd9095a4273"/>
    <p:sldId xmlns:r="http://schemas.openxmlformats.org/officeDocument/2006/relationships" id="267" r:id="Rf1c5da997d3d417e"/>
    <p:sldId xmlns:r="http://schemas.openxmlformats.org/officeDocument/2006/relationships" id="268" r:id="Ra4897b3e32944e62"/>
    <p:sldId xmlns:r="http://schemas.openxmlformats.org/officeDocument/2006/relationships" id="269" r:id="R3c8589af43884796"/>
    <p:sldId xmlns:r="http://schemas.openxmlformats.org/officeDocument/2006/relationships" id="270" r:id="R4d74a3702b7f4a01"/>
    <p:sldId xmlns:r="http://schemas.openxmlformats.org/officeDocument/2006/relationships" id="271" r:id="Rcd9741738be84ed3"/>
    <p:sldId xmlns:r="http://schemas.openxmlformats.org/officeDocument/2006/relationships" id="272" r:id="R7020aa3e8ac549b3"/>
    <p:sldId xmlns:r="http://schemas.openxmlformats.org/officeDocument/2006/relationships" id="273" r:id="R16417f41269c4107"/>
    <p:sldId xmlns:r="http://schemas.openxmlformats.org/officeDocument/2006/relationships" id="274" r:id="Re918edafba224a8f"/>
    <p:sldId xmlns:r="http://schemas.openxmlformats.org/officeDocument/2006/relationships" id="275" r:id="R33140fe6096e4638"/>
  </p:sldIdLst>
  <p:sldSz cx="12191999"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46627c84c5542c1" /><Relationship Type="http://schemas.openxmlformats.org/officeDocument/2006/relationships/slideMaster" Target="/ppt/slideMasters/slideMaster1.xml" Id="Re3c35cb1222e44ca" /><Relationship Type="http://schemas.openxmlformats.org/officeDocument/2006/relationships/notesMaster" Target="/ppt/notesMasters/notesMaster1.xml" Id="Rb586d49c3e784bf0" /><Relationship Type="http://schemas.openxmlformats.org/officeDocument/2006/relationships/presProps" Target="/ppt/presProps.xml" Id="R11fca6b6767f4692" /><Relationship Type="http://schemas.openxmlformats.org/officeDocument/2006/relationships/viewProps" Target="/ppt/viewProps.xml" Id="R65b3b21e3e514a7e" /><Relationship Type="http://schemas.openxmlformats.org/officeDocument/2006/relationships/tableStyles" Target="/ppt/tableStyles.xml" Id="R6da82cc6a9554cdb" /><Relationship Type="http://schemas.openxmlformats.org/officeDocument/2006/relationships/slide" Target="/ppt/slides/slide1.xml" Id="Rcf6f408452b04ae5" /><Relationship Type="http://schemas.openxmlformats.org/officeDocument/2006/relationships/slide" Target="/ppt/slides/slide2.xml" Id="Rc6670888704441a5" /><Relationship Type="http://schemas.openxmlformats.org/officeDocument/2006/relationships/slide" Target="/ppt/slides/slide3.xml" Id="R62b6b3fac27f409c" /><Relationship Type="http://schemas.openxmlformats.org/officeDocument/2006/relationships/slide" Target="/ppt/slides/slide4.xml" Id="R401330e334f841f4" /><Relationship Type="http://schemas.openxmlformats.org/officeDocument/2006/relationships/slide" Target="/ppt/slides/slide5.xml" Id="R226bd5e295ad4b0c" /><Relationship Type="http://schemas.openxmlformats.org/officeDocument/2006/relationships/slide" Target="/ppt/slides/slide6.xml" Id="R4ba752c08c1a4f5c" /><Relationship Type="http://schemas.openxmlformats.org/officeDocument/2006/relationships/slide" Target="/ppt/slides/slide7.xml" Id="Rc6d6339b080c4741" /><Relationship Type="http://schemas.openxmlformats.org/officeDocument/2006/relationships/slide" Target="/ppt/slides/slide8.xml" Id="R220e0352f2c14e83" /><Relationship Type="http://schemas.openxmlformats.org/officeDocument/2006/relationships/slide" Target="/ppt/slides/slide9.xml" Id="R9875a32c89ee4d38" /><Relationship Type="http://schemas.openxmlformats.org/officeDocument/2006/relationships/slide" Target="/ppt/slides/slide10.xml" Id="Ra38211a23f854f2c" /><Relationship Type="http://schemas.openxmlformats.org/officeDocument/2006/relationships/slide" Target="/ppt/slides/slide11.xml" Id="R21646fd9095a4273" /><Relationship Type="http://schemas.openxmlformats.org/officeDocument/2006/relationships/slide" Target="/ppt/slides/slide12.xml" Id="Rf1c5da997d3d417e" /><Relationship Type="http://schemas.openxmlformats.org/officeDocument/2006/relationships/slide" Target="/ppt/slides/slide13.xml" Id="Ra4897b3e32944e62" /><Relationship Type="http://schemas.openxmlformats.org/officeDocument/2006/relationships/slide" Target="/ppt/slides/slide14.xml" Id="R3c8589af43884796" /><Relationship Type="http://schemas.openxmlformats.org/officeDocument/2006/relationships/slide" Target="/ppt/slides/slide15.xml" Id="R4d74a3702b7f4a01" /><Relationship Type="http://schemas.openxmlformats.org/officeDocument/2006/relationships/slide" Target="/ppt/slides/slide16.xml" Id="Rcd9741738be84ed3" /><Relationship Type="http://schemas.openxmlformats.org/officeDocument/2006/relationships/slide" Target="/ppt/slides/slide17.xml" Id="R7020aa3e8ac549b3" /><Relationship Type="http://schemas.openxmlformats.org/officeDocument/2006/relationships/slide" Target="/ppt/slides/slide18.xml" Id="R16417f41269c4107" /><Relationship Type="http://schemas.openxmlformats.org/officeDocument/2006/relationships/slide" Target="/ppt/slides/slide19.xml" Id="Re918edafba224a8f" /><Relationship Type="http://schemas.openxmlformats.org/officeDocument/2006/relationships/slide" Target="/ppt/slides/slide20.xml" Id="R33140fe6096e46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21c6e0aa754f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7bd1105854f4c" /><Relationship Type="http://schemas.openxmlformats.org/officeDocument/2006/relationships/notesMaster" Target="/ppt/notesMasters/notesMaster1.xml" Id="R46e30039b46241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10b0ad82c24c6d" /><Relationship Type="http://schemas.openxmlformats.org/officeDocument/2006/relationships/notesMaster" Target="/ppt/notesMasters/notesMaster1.xml" Id="Ra2ed989559d642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10f36d59944ceb" /><Relationship Type="http://schemas.openxmlformats.org/officeDocument/2006/relationships/notesMaster" Target="/ppt/notesMasters/notesMaster1.xml" Id="Rb7a92deaf33d4f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44277327784fec" /><Relationship Type="http://schemas.openxmlformats.org/officeDocument/2006/relationships/notesMaster" Target="/ppt/notesMasters/notesMaster1.xml" Id="Rfec5dd4999d840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9cf320ca14c3c" /><Relationship Type="http://schemas.openxmlformats.org/officeDocument/2006/relationships/notesMaster" Target="/ppt/notesMasters/notesMaster1.xml" Id="R717cc6522f6344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6e643fcd2648ce" /><Relationship Type="http://schemas.openxmlformats.org/officeDocument/2006/relationships/notesMaster" Target="/ppt/notesMasters/notesMaster1.xml" Id="R8e575c314a2042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1ed8362004b11" /><Relationship Type="http://schemas.openxmlformats.org/officeDocument/2006/relationships/notesMaster" Target="/ppt/notesMasters/notesMaster1.xml" Id="Rdda4e531a466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b8c8cef52c4809" /><Relationship Type="http://schemas.openxmlformats.org/officeDocument/2006/relationships/notesMaster" Target="/ppt/notesMasters/notesMaster1.xml" Id="R445fad00fdbd44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81776b9ee242b0" /><Relationship Type="http://schemas.openxmlformats.org/officeDocument/2006/relationships/notesMaster" Target="/ppt/notesMasters/notesMaster1.xml" Id="R64732f43e21841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a6ca3cae1d4105" /><Relationship Type="http://schemas.openxmlformats.org/officeDocument/2006/relationships/notesMaster" Target="/ppt/notesMasters/notesMaster1.xml" Id="R78fe6e2d3ec042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c1635b13cc4e10" /><Relationship Type="http://schemas.openxmlformats.org/officeDocument/2006/relationships/notesMaster" Target="/ppt/notesMasters/notesMaster1.xml" Id="R9d250a303f8440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359777ff814fda" /><Relationship Type="http://schemas.openxmlformats.org/officeDocument/2006/relationships/notesMaster" Target="/ppt/notesMasters/notesMaster1.xml" Id="R86371cc94e384b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5721b406124288" /><Relationship Type="http://schemas.openxmlformats.org/officeDocument/2006/relationships/notesMaster" Target="/ppt/notesMasters/notesMaster1.xml" Id="Raa530cf52e8245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955859d3cd4ec8" /><Relationship Type="http://schemas.openxmlformats.org/officeDocument/2006/relationships/notesMaster" Target="/ppt/notesMasters/notesMaster1.xml" Id="R720f4e654c2a42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91bb599278465b" /><Relationship Type="http://schemas.openxmlformats.org/officeDocument/2006/relationships/notesMaster" Target="/ppt/notesMasters/notesMaster1.xml" Id="Rfba7d118956a4e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089fb63f2c417e" /><Relationship Type="http://schemas.openxmlformats.org/officeDocument/2006/relationships/notesMaster" Target="/ppt/notesMasters/notesMaster1.xml" Id="Rf23660c405794d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5a9a2995974f86" /><Relationship Type="http://schemas.openxmlformats.org/officeDocument/2006/relationships/notesMaster" Target="/ppt/notesMasters/notesMaster1.xml" Id="R31b175d5e80247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48c876dd89491d" /><Relationship Type="http://schemas.openxmlformats.org/officeDocument/2006/relationships/notesMaster" Target="/ppt/notesMasters/notesMaster1.xml" Id="Re3bf15417c8449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94e5cc617946bf" /><Relationship Type="http://schemas.openxmlformats.org/officeDocument/2006/relationships/notesMaster" Target="/ppt/notesMasters/notesMaster1.xml" Id="R25a435f3b2694cb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9de77c750648b3" /><Relationship Type="http://schemas.openxmlformats.org/officeDocument/2006/relationships/notesMaster" Target="/ppt/notesMasters/notesMaster1.xml" Id="R5a1c0ac24f4e47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data can answer what was funded. This prototype helps an analyst ask what deserves review and why. It combines five MCP tools with traceable calculations and evidence. It is a read-only sandbox, not a finding or eligibility engine.</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needs a calculation they can inspect, a source record they can identify, and limits they can explain. We do not claim a measured labor saving; we address a reviewability gap.</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tools screen records. Two explain the rule and package evidence. Their names and schemas express analyst goals rather than exposing an unrestricted API or SQL executor.</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submission is API-backed FastMCP on Databricks Apps. The loaded table and Genie space are adjacent assets, not this measured calculation path. The graph is a directed review workflow implemented by a bounded tool loop.</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Worksheet numbers alone are not globally unique. We reject ambiguous evidence identities and include disaster in repeated grouping. Category filtering improves relevance, but it is not matched engineering-cost analysis. Cost-share authority remains unverified.</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Florida disaster 4673, the snapshot had 179 Category C records. The tool and independent SQL control returned the same three project identities. The bars show actual project amounts, not an allegation of excess or improper cost.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238 eligible records in this cost-share test exceeded the configured upper band. That is the calculation result. The screen does not determine whether a declaration authorized the share. It demonstrates why domain context must accompany a threshold.</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brief for worksheet 169 uses disaster 4734 and applicant 123-0BE2A-00. It packages source fields and method. It explicitly does not independently verify the indicator trigger, and the analyst must review policy context.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save the source snapshot once, replay it through the actual registered MCP tool, and compute a separate SQLite control. This avoids a moving-source comparison and tests the implementation rather than copied tool logic. Live calls and model traces are separate layers.</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narrow measured results from the selected reference run. The 15-question routing set is explicit and developer-authored. Three workflows completed, but that is not a claim that every sentence is correct. There is no general retrieval or hallucination score.</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median uses three real calls inside Databricks with live OpenFEMA access. It excludes remote MCP transport, model time and browser rendering. Three samples are not a load benchmark or service-level commitment.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tools have no write or payment action. Fixed-origin outbound access and sanitized errors address specific boundaries, with tests. Databricks authentication protects the app. Human review and narrative grounding are not solved by tool annotations or a system prompt.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inspected actual model answers. One introduced statutory citations that were not in its tool evidence, called a section Key Finding, and said 90 percent was outside a 70 to 95 percent band. Those issues are retained in the raw trace. This is why completion is not correctness.</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 reusable evidence contract. It can help an analyst inspect public funding without treating a screen as a verdict. We have not measured audit savings or improper-payment reduction, and we do not claim another agency integration is already built.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operational reliance, add authorized-share rules, full source pagination, matched cohorts and claim-level verification. Expand independent and adversarial testing, then benchmark remote transport and review permissions. Financial execution remains outside this project.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live demonstration prompts, not as additional held-out test results. If repeated groups are zero, keep the zero. Do not stage a comparison or invent a positive record. Recording is excluded from this packet.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folder contains raw inputs and outputs, not just a scorecard. The source hash matches the evaluated code. A fresh run creates a new dated folder. Live records may change, so the comparison must use the same saved snapshot.</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makes the boundaries explicit. There is no policy eligibility engine, fraud finding, payment path or production compliance claim. The graph describes the review flow; the implementation is a bounded tool loop. Keep these distinctions in Q and A.</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Reviewers need approved workspace access. Start at SUBMISSION.md and the saved job. GitHub synchronization and reviewer permissions are final administrative checks. This documentation task does not submit anything to the organizers.</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story avoids unsupported legal metrics and executive-order assertions. External references establish event, data and platform context; the project artifacts establish measured results. See SOURCES.md for the claim register.</a:t>
            </a:r>
          </a:p>
          <a:p xmlns:a="http://schemas.openxmlformats.org/drawingml/2006/main">
            <a:br/>
            <a:r>
              <a:t>October 29 update: measured evidence eval/results/20261029T111811Z. 64 tests; 3/3 SQL sets; 15/15 first tools; 3/3 evidence-summary workflows. Browser summary is deterministic; the model still chooses parameters. Human review remains required. Source: https://www.gsa.gov/super-intelligence/si-community-of-practice/events-and-training/mcp-server-and-si-agent-government-hackathon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43b1b2ebf446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2c66d792a943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a76cd64c1b43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adb21c493449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c8a697517a4c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4c795c77ff470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feaf865fc642b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ca2172876cf49f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f419221c6c46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ef95e1b42384be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581a30ebf7e428f"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B9EFFB-3B4A-4D8F-B75F-494009A0B11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46362DE-4AC9-4902-9674-145D1B60743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1A192B2-C7CB-40DC-B71C-532A21045D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C4E463F-1750-4808-A265-35258F5D26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780025D-DD79-4F40-B33B-A0C81AC4E9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CA3ECB-7D9F-4D8E-8D91-9E7CCB790A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C9C9EAB-776A-47A1-A92B-2794DBB7AA9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7ACBCEF-0FE5-4D0C-95A2-5C7C009B7B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5F109CC-4FFE-49F4-AF0F-3C8ECED223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0E2CB0-6D49-43FA-85BE-E4A639C7F3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25F8A4-9EE9-4D91-A1CE-08BF7817DF0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5C3E50D-D5D7-46C2-A5D9-1B3B7C96A86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F9F5DFA-741D-43E2-AD7C-F2531DD79C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690D9AE-0D7F-42DD-A65A-106CE4175D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7DE175F-F238-4C8B-8284-205F051CAB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36B770-65C2-47DD-A6CA-2B6A614046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7A3A3EA-DF11-4E7F-802C-E67412FBF23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F8A08F0-78CC-492D-8F09-ECFE3134BF34}"/>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0330AB1-BAC5-4462-87DB-0EE5DBD99A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8969CA6-78AB-4EC0-8F3C-475C539D0F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A3496A6-FEB6-48E8-842E-9339C66F72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E75283-2995-46EE-8928-9C0614BBEC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F6EF465-0E6B-4E3F-8969-2590D5D1820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8805821-6FA5-4CEF-BCEA-14CC7801EF3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764FF8D-1317-43B7-ABC0-F5CFDEF4BE1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FA66E91-C2F1-4E95-ADBE-BCE1CD5081C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50B185F-883E-431B-9E76-894A0DDAAD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77F3F0A9-79D4-4AC8-8C17-4F56262807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EA43DDA4-66CE-4442-999D-E36F5AF540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A8ACAF-55EE-4591-B9C4-F2B0350229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23BA708-8A99-431E-82F2-62656ABCF0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BB448175-80DE-4027-925A-BC4BC9AA0D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39F72C6-E7C3-49C4-AEEB-E9B7C8FA01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6D40553-2A23-4CA0-9E9E-F425A7BED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5F51D00-739A-409E-8B5E-9E1A962110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9DD6CA0-8B80-4A10-83E8-B776EFD8B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53B5AB7-D54C-43B2-8FBC-9753DD3ED24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B440962-2AB9-4759-92DD-4C8458B358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397131F-0772-4898-8AE8-4FAA01BF6F7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5DC98C2-983D-44CC-ABEF-BDAD56B154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53A84DF-4D06-423E-8C1E-AEE9178A41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ADB5A1E-B19E-496B-BED1-DEA33F7A22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7E843A-D5BB-49CB-9E1A-61EF600B7DAF}"/>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481E264-8951-4E6B-B727-7A6A9DF61C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78CBF94-9D3D-4B27-9C3B-3A100707800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FE2BAE4-B136-4AF6-8DA9-86C8F771FB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4BE5EA3-8E33-4FCD-A9B2-84E59B50FE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136FEB1-F46D-4655-9C06-041FAB0BC00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45A41E-FB73-4B2A-A67D-0320E8862E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858DF3C-16E1-4E3A-AB4B-917AD0D9603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4DF370-4A16-450A-AE47-E7DE470BF52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210820B-951C-43EF-A281-649F3F9239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2E301ED-E404-44B8-92A5-F95C128C19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EC64B2F-91A5-433A-8594-9EC15A9CEE8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C8B206B-B059-4B82-9062-D2C4B5CCE8E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E9F0639-6A7D-459D-8E45-B169D7F709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C7E5856-8C50-4560-8821-30A24DA746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4582D41-DDBF-4E7A-AB3B-4408311C3F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a0371452e4475d" /><Relationship Type="http://schemas.openxmlformats.org/officeDocument/2006/relationships/slideLayout" Target="/ppt/slideLayouts/slideLayout1.xml" Id="R9e3257c7232540dc" /><Relationship Type="http://schemas.openxmlformats.org/officeDocument/2006/relationships/slideLayout" Target="/ppt/slideLayouts/slideLayout2.xml" Id="R6b2f8511b7b14795" /><Relationship Type="http://schemas.openxmlformats.org/officeDocument/2006/relationships/slideLayout" Target="/ppt/slideLayouts/slideLayout3.xml" Id="Re29c36594cb34f66" /><Relationship Type="http://schemas.openxmlformats.org/officeDocument/2006/relationships/slideLayout" Target="/ppt/slideLayouts/slideLayout4.xml" Id="R1c07dc8fb4b04e2c" /><Relationship Type="http://schemas.openxmlformats.org/officeDocument/2006/relationships/slideLayout" Target="/ppt/slideLayouts/slideLayout5.xml" Id="Re6e318f6ee3045f1" /><Relationship Type="http://schemas.openxmlformats.org/officeDocument/2006/relationships/slideLayout" Target="/ppt/slideLayouts/slideLayout6.xml" Id="Rd8338c101e084a1a" /><Relationship Type="http://schemas.openxmlformats.org/officeDocument/2006/relationships/slideLayout" Target="/ppt/slideLayouts/slideLayout7.xml" Id="Ra37e8ffdc9874097" /><Relationship Type="http://schemas.openxmlformats.org/officeDocument/2006/relationships/slideLayout" Target="/ppt/slideLayouts/slideLayout8.xml" Id="R72573f19b5b34d20" /><Relationship Type="http://schemas.openxmlformats.org/officeDocument/2006/relationships/slideLayout" Target="/ppt/slideLayouts/slideLayout9.xml" Id="Rf55cfce2329d42f6" /><Relationship Type="http://schemas.openxmlformats.org/officeDocument/2006/relationships/slideLayout" Target="/ppt/slideLayouts/slideLayout10.xml" Id="R21adfd9f20694357" /><Relationship Type="http://schemas.openxmlformats.org/officeDocument/2006/relationships/slideLayout" Target="/ppt/slideLayouts/slideLayout11.xml" Id="Rb63b461ed760492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89E23D4-4891-468E-B9FE-A8EC8B8D866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B889ED-2FC1-407E-9DF7-3684DA6778B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8AAE18C-91BF-4194-9275-780A0DFC9F8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FBCE317-DCAF-4FF6-83D9-F7B6BED57F9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F53250-FE04-452D-8E24-98E9BE59411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3257c7232540dc"/>
    <p:sldLayoutId xmlns:r="http://schemas.openxmlformats.org/officeDocument/2006/relationships" id="2147483650" r:id="R6b2f8511b7b14795"/>
    <p:sldLayoutId xmlns:r="http://schemas.openxmlformats.org/officeDocument/2006/relationships" id="2147483651" r:id="Re29c36594cb34f66"/>
    <p:sldLayoutId xmlns:r="http://schemas.openxmlformats.org/officeDocument/2006/relationships" id="2147483652" r:id="R1c07dc8fb4b04e2c"/>
    <p:sldLayoutId xmlns:r="http://schemas.openxmlformats.org/officeDocument/2006/relationships" id="2147483653" r:id="Re6e318f6ee3045f1"/>
    <p:sldLayoutId xmlns:r="http://schemas.openxmlformats.org/officeDocument/2006/relationships" id="2147483654" r:id="Rd8338c101e084a1a"/>
    <p:sldLayoutId xmlns:r="http://schemas.openxmlformats.org/officeDocument/2006/relationships" id="2147483655" r:id="Ra37e8ffdc9874097"/>
    <p:sldLayoutId xmlns:r="http://schemas.openxmlformats.org/officeDocument/2006/relationships" id="2147483656" r:id="R72573f19b5b34d20"/>
    <p:sldLayoutId xmlns:r="http://schemas.openxmlformats.org/officeDocument/2006/relationships" id="2147483657" r:id="Rf55cfce2329d42f6"/>
    <p:sldLayoutId xmlns:r="http://schemas.openxmlformats.org/officeDocument/2006/relationships" id="2147483658" r:id="R21adfd9f20694357"/>
    <p:sldLayoutId xmlns:r="http://schemas.openxmlformats.org/officeDocument/2006/relationships" id="2147483659" r:id="Rb63b461ed760492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d9106c4db0444a9" /><Relationship Type="http://schemas.openxmlformats.org/officeDocument/2006/relationships/notesSlide" Target="/ppt/notesSlides/notesSlide1.xml" Id="Rd85489feebd048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2a76e73e13440bb" /><Relationship Type="http://schemas.openxmlformats.org/officeDocument/2006/relationships/notesSlide" Target="/ppt/notesSlides/notesSlide2.xml" Id="R624ca4e0adf34f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c17e25d8d994dde" /><Relationship Type="http://schemas.openxmlformats.org/officeDocument/2006/relationships/notesSlide" Target="/ppt/notesSlides/notesSlide3.xml" Id="R0f54fe99fb394a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f3d3e26ef124753" /><Relationship Type="http://schemas.openxmlformats.org/officeDocument/2006/relationships/notesSlide" Target="/ppt/notesSlides/notesSlide4.xml" Id="R26058a82dd3f4a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4ff80738a1b49f1" /><Relationship Type="http://schemas.openxmlformats.org/officeDocument/2006/relationships/notesSlide" Target="/ppt/notesSlides/notesSlide5.xml" Id="Rf6001517bbf74a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66c3bdd9acf462c" /><Relationship Type="http://schemas.openxmlformats.org/officeDocument/2006/relationships/notesSlide" Target="/ppt/notesSlides/notesSlide6.xml" Id="R11111bb3985a4e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67ca39940b74d3c" /><Relationship Type="http://schemas.openxmlformats.org/officeDocument/2006/relationships/notesSlide" Target="/ppt/notesSlides/notesSlide7.xml" Id="Rdad3724d666f47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88977bca74e4a17" /><Relationship Type="http://schemas.openxmlformats.org/officeDocument/2006/relationships/notesSlide" Target="/ppt/notesSlides/notesSlide8.xml" Id="R648fc064d55a4f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f781d9f7b5a440d" /><Relationship Type="http://schemas.openxmlformats.org/officeDocument/2006/relationships/notesSlide" Target="/ppt/notesSlides/notesSlide9.xml" Id="R1fac28d54dda4e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78dcba2ddf24c31" /><Relationship Type="http://schemas.openxmlformats.org/officeDocument/2006/relationships/notesSlide" Target="/ppt/notesSlides/notesSlide10.xml" Id="R55adad431bb24b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65fe100ba8544a6" /><Relationship Type="http://schemas.openxmlformats.org/officeDocument/2006/relationships/notesSlide" Target="/ppt/notesSlides/notesSlide11.xml" Id="R1578416d2f3540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dbf27a200d64fad" /><Relationship Type="http://schemas.openxmlformats.org/officeDocument/2006/relationships/notesSlide" Target="/ppt/notesSlides/notesSlide12.xml" Id="Rf7d2dfb1e83647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41261b648c149eb" /><Relationship Type="http://schemas.openxmlformats.org/officeDocument/2006/relationships/notesSlide" Target="/ppt/notesSlides/notesSlide13.xml" Id="Ra3094462fbc645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8b42d56c263e44b3" /><Relationship Type="http://schemas.openxmlformats.org/officeDocument/2006/relationships/notesSlide" Target="/ppt/notesSlides/notesSlide14.xml" Id="R5cc8cee13a3844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81ce3e22bc245ea" /><Relationship Type="http://schemas.openxmlformats.org/officeDocument/2006/relationships/notesSlide" Target="/ppt/notesSlides/notesSlide15.xml" Id="Rbd8282650bd24c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2aaa9e61b0c4a7e" /><Relationship Type="http://schemas.openxmlformats.org/officeDocument/2006/relationships/notesSlide" Target="/ppt/notesSlides/notesSlide16.xml" Id="R7f3b0a5581d741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bbdf078ecb1f4bae" /><Relationship Type="http://schemas.openxmlformats.org/officeDocument/2006/relationships/notesSlide" Target="/ppt/notesSlides/notesSlide17.xml" Id="R095d182796f74f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a8693e31e7654864" /><Relationship Type="http://schemas.openxmlformats.org/officeDocument/2006/relationships/notesSlide" Target="/ppt/notesSlides/notesSlide18.xml" Id="R55194c518cdd41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4eb1f8b53fa046c5" /><Relationship Type="http://schemas.openxmlformats.org/officeDocument/2006/relationships/notesSlide" Target="/ppt/notesSlides/notesSlide19.xml" Id="R0ed749350dea40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6fcaa4331104628" /><Relationship Type="http://schemas.openxmlformats.org/officeDocument/2006/relationships/hyperlink" Target="https://www.gsa.gov/super-intelligence/si-community-of-practice/events-and-training/mcp-server-and-si-agent-government-hackathon" TargetMode="External" Id="Rfbefbf84b62a45e1" /><Relationship Type="http://schemas.openxmlformats.org/officeDocument/2006/relationships/hyperlink" Target="https://www.fema.gov/api/open/v2/PublicAssistanceFundedProjectsDetails" TargetMode="External" Id="R05da01ca68e24595" /><Relationship Type="http://schemas.openxmlformats.org/officeDocument/2006/relationships/hyperlink" Target="https://docs.databricks.com/aws/en/agents/mcp-tools/authentication-networking" TargetMode="External" Id="Rb12e289fc12b49f4" /><Relationship Type="http://schemas.openxmlformats.org/officeDocument/2006/relationships/hyperlink" Target="https://dbc-aae0ba16-8727.cloud.databricks.com/ml/experiments/1305734463288268/runs/25a3e180b6ea446c984d615a502dde46?o=7474654188777746" TargetMode="External" Id="R2aa74c84005844e1" /><Relationship Type="http://schemas.openxmlformats.org/officeDocument/2006/relationships/notesSlide" Target="/ppt/notesSlides/notesSlide20.xml" Id="R3bd42782de484f55" /></Relationships>
</file>

<file path=ppt/slides/slide1.xml><?xml version="1.0" encoding="utf-8"?>
<p:sld xmlns:p="http://schemas.openxmlformats.org/presentationml/2006/main">
  <p:cSld>
    <p:bg>
      <p:bgPr>
        <a:solidFill xmlns:a="http://schemas.openxmlformats.org/drawingml/2006/main">
          <a:srgbClr val="1747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DED8A64-25FD-4A66-98D9-CD8758742F66}"/>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9DDBC8"/>
                </a:solidFill>
                <a:latin typeface="Arial"/>
                <a:ea typeface="Arial"/>
                <a:cs typeface="Arial"/>
              </a:defRPr>
            </a:pPr>
            <a:r>
              <a:t>DATASET ACCESS | HACKATHON 2026</a:t>
            </a:r>
          </a:p>
        </p:txBody>
      </p:sp>
      <p:sp>
        <p:nvSpPr>
          <p:cNvPr id="3" name="TextBox 2">
            <a:extLst xmlns:a="http://schemas.openxmlformats.org/drawingml/2006/main">
              <a:ext uri="{FF2B5EF4-FFF2-40B4-BE49-F238E27FC236}">
                <a16:creationId xmlns:a16="http://schemas.microsoft.com/office/drawing/2014/main" id="{5F5BA100-7E12-4265-8748-E67948A6B16B}"/>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FFFFFF"/>
                </a:solidFill>
                <a:latin typeface="Arial"/>
                <a:ea typeface="Arial"/>
                <a:cs typeface="Arial"/>
              </a:defRPr>
            </a:pPr>
            <a:r>
              <a:t>FEMA Evidence &amp; Oversight Graph</a:t>
            </a:r>
          </a:p>
        </p:txBody>
      </p:sp>
      <p:sp>
        <p:nvSpPr>
          <p:cNvPr id="4" name="TextBox 3">
            <a:extLst xmlns:a="http://schemas.openxmlformats.org/drawingml/2006/main">
              <a:ext uri="{FF2B5EF4-FFF2-40B4-BE49-F238E27FC236}">
                <a16:creationId xmlns:a16="http://schemas.microsoft.com/office/drawing/2014/main" id="{26E0E1F7-E026-4581-B4C3-DF610B3067CE}"/>
              </a:ext>
            </a:extLst>
          </p:cNvPr>
          <p:cNvSpPr>
            <a:spLocks xmlns:a="http://schemas.openxmlformats.org/drawingml/2006/main" noGrp="1"/>
          </p:cNvSpPr>
          <p:nvPr/>
        </p:nvSpPr>
        <p:spPr>
          <a:xfrm xmlns:a="http://schemas.openxmlformats.org/drawingml/2006/main">
            <a:off x="609600" y="2082800"/>
            <a:ext cx="10541000" cy="1460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689"/>
              </a:lnSpc>
              <a:spcBef>
                <a:spcPts val="0"/>
              </a:spcBef>
              <a:spcAft>
                <a:spcPts val="0"/>
              </a:spcAft>
              <a:buNone/>
              <a:defRPr sz="3100" b="0">
                <a:solidFill>
                  <a:srgbClr val="FFFFFF"/>
                </a:solidFill>
                <a:latin typeface="Arial"/>
                <a:ea typeface="Arial"/>
                <a:cs typeface="Arial"/>
              </a:defRPr>
            </a:pPr>
            <a:r>
              <a:t>From a public project record</a:t>
            </a:r>
          </a:p>
          <a:p xmlns:a="http://schemas.openxmlformats.org/drawingml/2006/main">
            <a:pPr>
              <a:lnSpc>
                <a:spcPts val="3689"/>
              </a:lnSpc>
              <a:spcBef>
                <a:spcPts val="0"/>
              </a:spcBef>
              <a:spcAft>
                <a:spcPts val="0"/>
              </a:spcAft>
              <a:buNone/>
              <a:defRPr sz="3100" b="0">
                <a:solidFill>
                  <a:srgbClr val="FFFFFF"/>
                </a:solidFill>
                <a:latin typeface="Arial"/>
                <a:ea typeface="Arial"/>
                <a:cs typeface="Arial"/>
              </a:defRPr>
            </a:pPr>
            <a:r>
              <a:t>to a reviewable analyst question.</a:t>
            </a:r>
          </a:p>
        </p:txBody>
      </p:sp>
      <p:sp>
        <p:nvSpPr>
          <p:cNvPr id="5" name="TextBox 4">
            <a:extLst xmlns:a="http://schemas.openxmlformats.org/drawingml/2006/main">
              <a:ext uri="{FF2B5EF4-FFF2-40B4-BE49-F238E27FC236}">
                <a16:creationId xmlns:a16="http://schemas.microsoft.com/office/drawing/2014/main" id="{D1F4231C-7ECE-4DE7-8D9C-6D6007122B19}"/>
              </a:ext>
            </a:extLst>
          </p:cNvPr>
          <p:cNvSpPr>
            <a:spLocks xmlns:a="http://schemas.openxmlformats.org/drawingml/2006/main" noGrp="1"/>
          </p:cNvSpPr>
          <p:nvPr/>
        </p:nvSpPr>
        <p:spPr>
          <a:xfrm xmlns:a="http://schemas.openxmlformats.org/drawingml/2006/main">
            <a:off x="609600" y="4191000"/>
            <a:ext cx="10541000" cy="952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379"/>
              </a:lnSpc>
              <a:spcBef>
                <a:spcPts val="0"/>
              </a:spcBef>
              <a:spcAft>
                <a:spcPts val="0"/>
              </a:spcAft>
              <a:buNone/>
              <a:defRPr sz="2000" b="0">
                <a:solidFill>
                  <a:srgbClr val="C9E5DC"/>
                </a:solidFill>
                <a:latin typeface="Arial"/>
                <a:ea typeface="Arial"/>
                <a:cs typeface="Arial"/>
              </a:defRPr>
            </a:pPr>
            <a:r>
              <a:t>Five MCP tools. Real Databricks execution.</a:t>
            </a:r>
          </a:p>
          <a:p xmlns:a="http://schemas.openxmlformats.org/drawingml/2006/main">
            <a:pPr>
              <a:lnSpc>
                <a:spcPts val="2379"/>
              </a:lnSpc>
              <a:spcBef>
                <a:spcPts val="0"/>
              </a:spcBef>
              <a:spcAft>
                <a:spcPts val="0"/>
              </a:spcAft>
              <a:buNone/>
              <a:defRPr sz="2000" b="0">
                <a:solidFill>
                  <a:srgbClr val="C9E5DC"/>
                </a:solidFill>
                <a:latin typeface="Arial"/>
                <a:ea typeface="Arial"/>
                <a:cs typeface="Arial"/>
              </a:defRPr>
            </a:pPr>
            <a:r>
              <a:t>Source records, methods and limits travel together.</a:t>
            </a:r>
          </a:p>
        </p:txBody>
      </p:sp>
      <p:sp>
        <p:nvSpPr>
          <p:cNvPr id="6" name="TextBox 5">
            <a:extLst xmlns:a="http://schemas.openxmlformats.org/drawingml/2006/main">
              <a:ext uri="{FF2B5EF4-FFF2-40B4-BE49-F238E27FC236}">
                <a16:creationId xmlns:a16="http://schemas.microsoft.com/office/drawing/2014/main" id="{29F5BB33-0E7E-4C10-A8F1-726EF1444C15}"/>
              </a:ext>
            </a:extLst>
          </p:cNvPr>
          <p:cNvSpPr>
            <a:spLocks xmlns:a="http://schemas.openxmlformats.org/drawingml/2006/main" noGrp="1"/>
          </p:cNvSpPr>
          <p:nvPr/>
        </p:nvSpPr>
        <p:spPr>
          <a:xfrm xmlns:a="http://schemas.openxmlformats.org/drawingml/2006/main">
            <a:off x="609600" y="5753100"/>
            <a:ext cx="2967037" cy="241808"/>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FFFFFF"/>
                </a:solidFill>
                <a:latin typeface="Arial"/>
                <a:ea typeface="Arial"/>
                <a:cs typeface="Arial"/>
              </a:defRPr>
            </a:pPr>
            <a:r>
              <a:t>Phebe Arouni | </a:t>
            </a:r>
            <a:r>
              <a:t>October 29, 2026</a:t>
            </a:r>
          </a:p>
        </p:txBody>
      </p:sp>
      <p:sp>
        <p:nvSpPr>
          <p:cNvPr id="7" name="TextBox 6">
            <a:extLst xmlns:a="http://schemas.openxmlformats.org/drawingml/2006/main">
              <a:ext uri="{FF2B5EF4-FFF2-40B4-BE49-F238E27FC236}">
                <a16:creationId xmlns:a16="http://schemas.microsoft.com/office/drawing/2014/main" id="{BA96C82F-D666-454B-B382-8DE48AF88219}"/>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B5D8CC"/>
                </a:solidFill>
                <a:latin typeface="Arial"/>
                <a:ea typeface="Arial"/>
                <a:cs typeface="Arial"/>
              </a:defRPr>
            </a:pPr>
            <a:r>
              <a:t>FEMA Evidence &amp; Oversight | Reference run: </a:t>
            </a:r>
            <a:r>
              <a:t>20261029T111811Z</a:t>
            </a:r>
          </a:p>
        </p:txBody>
      </p:sp>
      <p:sp>
        <p:nvSpPr>
          <p:cNvPr id="8" name="TextBox 7">
            <a:extLst xmlns:a="http://schemas.openxmlformats.org/drawingml/2006/main">
              <a:ext uri="{FF2B5EF4-FFF2-40B4-BE49-F238E27FC236}">
                <a16:creationId xmlns:a16="http://schemas.microsoft.com/office/drawing/2014/main" id="{69EAFE61-BBBC-4538-9D07-0C0B2276E19C}"/>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FFFFFF"/>
                </a:solidFill>
                <a:latin typeface="Arial"/>
                <a:ea typeface="Arial"/>
                <a:cs typeface="Arial"/>
              </a:defRPr>
            </a:pPr>
            <a:r>
              <a:t>01</a:t>
            </a:r>
          </a:p>
        </p:txBody>
      </p:sp>
    </p:spTree>
    <p:extLst>
      <p:ext uri="{BB962C8B-B14F-4D97-AF65-F5344CB8AC3E}">
        <p14:creationId xmlns:p14="http://schemas.microsoft.com/office/powerpoint/2010/main" val="542876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216FEC4-65C9-4E9A-BBF6-7B675145DA5A}"/>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01 | PROBLEM</a:t>
            </a:r>
          </a:p>
        </p:txBody>
      </p:sp>
      <p:sp>
        <p:nvSpPr>
          <p:cNvPr id="3" name="TextBox 2">
            <a:extLst xmlns:a="http://schemas.openxmlformats.org/drawingml/2006/main">
              <a:ext uri="{FF2B5EF4-FFF2-40B4-BE49-F238E27FC236}">
                <a16:creationId xmlns:a16="http://schemas.microsoft.com/office/drawing/2014/main" id="{F1028C0A-B8A3-4BE1-8AE4-22703E5FFBA5}"/>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A funding total is not enough.</a:t>
            </a:r>
          </a:p>
        </p:txBody>
      </p:sp>
      <p:sp>
        <p:nvSpPr>
          <p:cNvPr id="4" name="TextBox 3">
            <a:extLst xmlns:a="http://schemas.openxmlformats.org/drawingml/2006/main">
              <a:ext uri="{FF2B5EF4-FFF2-40B4-BE49-F238E27FC236}">
                <a16:creationId xmlns:a16="http://schemas.microsoft.com/office/drawing/2014/main" id="{BB139883-3C94-40B5-9F73-857E3F72E502}"/>
              </a:ext>
            </a:extLst>
          </p:cNvPr>
          <p:cNvSpPr>
            <a:spLocks xmlns:a="http://schemas.openxmlformats.org/drawingml/2006/main" noGrp="1"/>
          </p:cNvSpPr>
          <p:nvPr/>
        </p:nvSpPr>
        <p:spPr>
          <a:xfrm xmlns:a="http://schemas.openxmlformats.org/drawingml/2006/main">
            <a:off x="609600" y="1905000"/>
            <a:ext cx="5207000" cy="3556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Which projects deserve a</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second look, and what</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supports the question?</a:t>
            </a:r>
          </a:p>
        </p:txBody>
      </p:sp>
      <p:sp>
        <p:nvSpPr>
          <p:cNvPr id="5" name="TextBox 4">
            <a:extLst xmlns:a="http://schemas.openxmlformats.org/drawingml/2006/main">
              <a:ext uri="{FF2B5EF4-FFF2-40B4-BE49-F238E27FC236}">
                <a16:creationId xmlns:a16="http://schemas.microsoft.com/office/drawing/2014/main" id="{298B2390-F63B-4AA7-8D17-1E3E9B78DAEC}"/>
              </a:ext>
            </a:extLst>
          </p:cNvPr>
          <p:cNvSpPr>
            <a:spLocks xmlns:a="http://schemas.openxmlformats.org/drawingml/2006/main" noGrp="1"/>
          </p:cNvSpPr>
          <p:nvPr/>
        </p:nvSpPr>
        <p:spPr>
          <a:xfrm xmlns:a="http://schemas.openxmlformats.org/drawingml/2006/main">
            <a:off x="6477000" y="1930400"/>
            <a:ext cx="5016500" cy="3810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An analyst needs: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A bounded, repeatable screen</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The exact project identity</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The calculation and baseline</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Source records and caveats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A clear human decision boundary</a:t>
            </a:r>
          </a:p>
        </p:txBody>
      </p:sp>
      <p:sp>
        <p:nvSpPr>
          <p:cNvPr id="6" name="TextBox 5">
            <a:extLst xmlns:a="http://schemas.openxmlformats.org/drawingml/2006/main">
              <a:ext uri="{FF2B5EF4-FFF2-40B4-BE49-F238E27FC236}">
                <a16:creationId xmlns:a16="http://schemas.microsoft.com/office/drawing/2014/main" id="{E594230D-5344-4E06-972E-C9BAA047FE42}"/>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7" name="TextBox 6">
            <a:extLst xmlns:a="http://schemas.openxmlformats.org/drawingml/2006/main">
              <a:ext uri="{FF2B5EF4-FFF2-40B4-BE49-F238E27FC236}">
                <a16:creationId xmlns:a16="http://schemas.microsoft.com/office/drawing/2014/main" id="{56F6D91C-F964-4F6D-994C-49C5D9A444DD}"/>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02</a:t>
            </a:r>
          </a:p>
        </p:txBody>
      </p:sp>
    </p:spTree>
    <p:extLst>
      <p:ext uri="{BB962C8B-B14F-4D97-AF65-F5344CB8AC3E}">
        <p14:creationId xmlns:p14="http://schemas.microsoft.com/office/powerpoint/2010/main" val="5972173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A023028-AFF4-4328-834D-E698C3818F5C}"/>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02 | SOLUTION</a:t>
            </a:r>
          </a:p>
        </p:txBody>
      </p:sp>
      <p:sp>
        <p:nvSpPr>
          <p:cNvPr id="3" name="TextBox 2">
            <a:extLst xmlns:a="http://schemas.openxmlformats.org/drawingml/2006/main">
              <a:ext uri="{FF2B5EF4-FFF2-40B4-BE49-F238E27FC236}">
                <a16:creationId xmlns:a16="http://schemas.microsoft.com/office/drawing/2014/main" id="{6ECD5E2B-33E8-47C1-808A-6A6C1E76AA72}"/>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Five actions built around analyst work.</a:t>
            </a:r>
          </a:p>
        </p:txBody>
      </p:sp>
      <p:sp>
        <p:nvSpPr>
          <p:cNvPr id="4" name="Rectangle 3">
            <a:extLst xmlns:a="http://schemas.openxmlformats.org/drawingml/2006/main">
              <a:ext uri="{FF2B5EF4-FFF2-40B4-BE49-F238E27FC236}">
                <a16:creationId xmlns:a16="http://schemas.microsoft.com/office/drawing/2014/main" id="{7A40FC89-78F8-4D05-ABC4-F7D01572DF46}"/>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8E78B6B-33AE-4690-94CF-B42FAE358D32}"/>
              </a:ext>
            </a:extLst>
          </p:cNvPr>
          <p:cNvSpPr>
            <a:spLocks xmlns:a="http://schemas.openxmlformats.org/drawingml/2006/main" noGrp="1"/>
          </p:cNvSpPr>
          <p:nvPr/>
        </p:nvSpPr>
        <p:spPr>
          <a:xfrm xmlns:a="http://schemas.openxmlformats.org/drawingml/2006/main">
            <a:off x="723900" y="2133600"/>
            <a:ext cx="1358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1">
                <a:solidFill>
                  <a:srgbClr val="17473D"/>
                </a:solidFill>
                <a:latin typeface="Arial"/>
                <a:ea typeface="Arial"/>
                <a:cs typeface="Arial"/>
              </a:defRPr>
            </a:pPr>
            <a:r>
              <a:t>Layer</a:t>
            </a:r>
          </a:p>
        </p:txBody>
      </p:sp>
      <p:sp>
        <p:nvSpPr>
          <p:cNvPr id="6" name="TextBox 5">
            <a:extLst xmlns:a="http://schemas.openxmlformats.org/drawingml/2006/main">
              <a:ext uri="{FF2B5EF4-FFF2-40B4-BE49-F238E27FC236}">
                <a16:creationId xmlns:a16="http://schemas.microsoft.com/office/drawing/2014/main" id="{9A757201-2FB1-48E5-9A89-5E1AF866C353}"/>
              </a:ext>
            </a:extLst>
          </p:cNvPr>
          <p:cNvSpPr>
            <a:spLocks xmlns:a="http://schemas.openxmlformats.org/drawingml/2006/main" noGrp="1"/>
          </p:cNvSpPr>
          <p:nvPr/>
        </p:nvSpPr>
        <p:spPr>
          <a:xfrm xmlns:a="http://schemas.openxmlformats.org/drawingml/2006/main">
            <a:off x="2311400" y="2133600"/>
            <a:ext cx="4406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1">
                <a:solidFill>
                  <a:srgbClr val="17473D"/>
                </a:solidFill>
                <a:latin typeface="Arial"/>
                <a:ea typeface="Arial"/>
                <a:cs typeface="Arial"/>
              </a:defRPr>
            </a:pPr>
            <a:r>
              <a:t>Tool</a:t>
            </a:r>
          </a:p>
        </p:txBody>
      </p:sp>
      <p:sp>
        <p:nvSpPr>
          <p:cNvPr id="7" name="TextBox 6">
            <a:extLst xmlns:a="http://schemas.openxmlformats.org/drawingml/2006/main">
              <a:ext uri="{FF2B5EF4-FFF2-40B4-BE49-F238E27FC236}">
                <a16:creationId xmlns:a16="http://schemas.microsoft.com/office/drawing/2014/main" id="{8E5540D8-B02D-49CA-9B25-B627314C619D}"/>
              </a:ext>
            </a:extLst>
          </p:cNvPr>
          <p:cNvSpPr>
            <a:spLocks xmlns:a="http://schemas.openxmlformats.org/drawingml/2006/main" noGrp="1"/>
          </p:cNvSpPr>
          <p:nvPr/>
        </p:nvSpPr>
        <p:spPr>
          <a:xfrm xmlns:a="http://schemas.openxmlformats.org/drawingml/2006/main">
            <a:off x="6946900" y="2133600"/>
            <a:ext cx="4521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1">
                <a:solidFill>
                  <a:srgbClr val="17473D"/>
                </a:solidFill>
                <a:latin typeface="Arial"/>
                <a:ea typeface="Arial"/>
                <a:cs typeface="Arial"/>
              </a:defRPr>
            </a:pPr>
            <a:r>
              <a:t>Review purpose</a:t>
            </a:r>
          </a:p>
        </p:txBody>
      </p:sp>
      <p:sp>
        <p:nvSpPr>
          <p:cNvPr id="8" name="TextBox 7">
            <a:extLst xmlns:a="http://schemas.openxmlformats.org/drawingml/2006/main">
              <a:ext uri="{FF2B5EF4-FFF2-40B4-BE49-F238E27FC236}">
                <a16:creationId xmlns:a16="http://schemas.microsoft.com/office/drawing/2014/main" id="{F05059D7-5A0B-4D4C-AD07-00E21C444281}"/>
              </a:ext>
            </a:extLst>
          </p:cNvPr>
          <p:cNvSpPr>
            <a:spLocks xmlns:a="http://schemas.openxmlformats.org/drawingml/2006/main" noGrp="1"/>
          </p:cNvSpPr>
          <p:nvPr/>
        </p:nvSpPr>
        <p:spPr>
          <a:xfrm xmlns:a="http://schemas.openxmlformats.org/drawingml/2006/main">
            <a:off x="723900" y="2794000"/>
            <a:ext cx="1358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Screen</a:t>
            </a:r>
          </a:p>
        </p:txBody>
      </p:sp>
      <p:sp>
        <p:nvSpPr>
          <p:cNvPr id="9" name="TextBox 8">
            <a:extLst xmlns:a="http://schemas.openxmlformats.org/drawingml/2006/main">
              <a:ext uri="{FF2B5EF4-FFF2-40B4-BE49-F238E27FC236}">
                <a16:creationId xmlns:a16="http://schemas.microsoft.com/office/drawing/2014/main" id="{6525A5E3-A2E3-4FDA-8EBE-4FBF3FAC2B1C}"/>
              </a:ext>
            </a:extLst>
          </p:cNvPr>
          <p:cNvSpPr>
            <a:spLocks xmlns:a="http://schemas.openxmlformats.org/drawingml/2006/main" noGrp="1"/>
          </p:cNvSpPr>
          <p:nvPr/>
        </p:nvSpPr>
        <p:spPr>
          <a:xfrm xmlns:a="http://schemas.openxmlformats.org/drawingml/2006/main">
            <a:off x="2311400" y="2794000"/>
            <a:ext cx="4406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Cost-share ratios</a:t>
            </a:r>
          </a:p>
        </p:txBody>
      </p:sp>
      <p:sp>
        <p:nvSpPr>
          <p:cNvPr id="10" name="TextBox 9">
            <a:extLst xmlns:a="http://schemas.openxmlformats.org/drawingml/2006/main">
              <a:ext uri="{FF2B5EF4-FFF2-40B4-BE49-F238E27FC236}">
                <a16:creationId xmlns:a16="http://schemas.microsoft.com/office/drawing/2014/main" id="{C1765760-73E6-40EC-824C-15EA23F968DC}"/>
              </a:ext>
            </a:extLst>
          </p:cNvPr>
          <p:cNvSpPr>
            <a:spLocks xmlns:a="http://schemas.openxmlformats.org/drawingml/2006/main" noGrp="1"/>
          </p:cNvSpPr>
          <p:nvPr/>
        </p:nvSpPr>
        <p:spPr>
          <a:xfrm xmlns:a="http://schemas.openxmlformats.org/drawingml/2006/main">
            <a:off x="6946900" y="2794000"/>
            <a:ext cx="4521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Threshold exceptions</a:t>
            </a:r>
          </a:p>
        </p:txBody>
      </p:sp>
      <p:sp>
        <p:nvSpPr>
          <p:cNvPr id="11" name="TextBox 10">
            <a:extLst xmlns:a="http://schemas.openxmlformats.org/drawingml/2006/main">
              <a:ext uri="{FF2B5EF4-FFF2-40B4-BE49-F238E27FC236}">
                <a16:creationId xmlns:a16="http://schemas.microsoft.com/office/drawing/2014/main" id="{6A246261-069A-4D1F-B290-3AB7E9495C20}"/>
              </a:ext>
            </a:extLst>
          </p:cNvPr>
          <p:cNvSpPr>
            <a:spLocks xmlns:a="http://schemas.openxmlformats.org/drawingml/2006/main" noGrp="1"/>
          </p:cNvSpPr>
          <p:nvPr/>
        </p:nvSpPr>
        <p:spPr>
          <a:xfrm xmlns:a="http://schemas.openxmlformats.org/drawingml/2006/main">
            <a:off x="723900" y="3454400"/>
            <a:ext cx="1358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Screen</a:t>
            </a:r>
          </a:p>
        </p:txBody>
      </p:sp>
      <p:sp>
        <p:nvSpPr>
          <p:cNvPr id="12" name="TextBox 11">
            <a:extLst xmlns:a="http://schemas.openxmlformats.org/drawingml/2006/main">
              <a:ext uri="{FF2B5EF4-FFF2-40B4-BE49-F238E27FC236}">
                <a16:creationId xmlns:a16="http://schemas.microsoft.com/office/drawing/2014/main" id="{D91023C5-F32F-4BEF-AAD7-98C71EE60D08}"/>
              </a:ext>
            </a:extLst>
          </p:cNvPr>
          <p:cNvSpPr>
            <a:spLocks xmlns:a="http://schemas.openxmlformats.org/drawingml/2006/main" noGrp="1"/>
          </p:cNvSpPr>
          <p:nvPr/>
        </p:nvSpPr>
        <p:spPr>
          <a:xfrm xmlns:a="http://schemas.openxmlformats.org/drawingml/2006/main">
            <a:off x="2311400" y="3454400"/>
            <a:ext cx="4406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Repeated worksheets</a:t>
            </a:r>
          </a:p>
        </p:txBody>
      </p:sp>
      <p:sp>
        <p:nvSpPr>
          <p:cNvPr id="13" name="TextBox 12">
            <a:extLst xmlns:a="http://schemas.openxmlformats.org/drawingml/2006/main">
              <a:ext uri="{FF2B5EF4-FFF2-40B4-BE49-F238E27FC236}">
                <a16:creationId xmlns:a16="http://schemas.microsoft.com/office/drawing/2014/main" id="{BA75C4A1-5EF6-41D8-98F3-730604867102}"/>
              </a:ext>
            </a:extLst>
          </p:cNvPr>
          <p:cNvSpPr>
            <a:spLocks xmlns:a="http://schemas.openxmlformats.org/drawingml/2006/main" noGrp="1"/>
          </p:cNvSpPr>
          <p:nvPr/>
        </p:nvSpPr>
        <p:spPr>
          <a:xfrm xmlns:a="http://schemas.openxmlformats.org/drawingml/2006/main">
            <a:off x="6946900" y="3454400"/>
            <a:ext cx="4521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Same-disaster groups</a:t>
            </a:r>
          </a:p>
        </p:txBody>
      </p:sp>
      <p:sp>
        <p:nvSpPr>
          <p:cNvPr id="14" name="TextBox 13">
            <a:extLst xmlns:a="http://schemas.openxmlformats.org/drawingml/2006/main">
              <a:ext uri="{FF2B5EF4-FFF2-40B4-BE49-F238E27FC236}">
                <a16:creationId xmlns:a16="http://schemas.microsoft.com/office/drawing/2014/main" id="{186204B9-B092-49E5-9840-5D16F55D18BA}"/>
              </a:ext>
            </a:extLst>
          </p:cNvPr>
          <p:cNvSpPr>
            <a:spLocks xmlns:a="http://schemas.openxmlformats.org/drawingml/2006/main" noGrp="1"/>
          </p:cNvSpPr>
          <p:nvPr/>
        </p:nvSpPr>
        <p:spPr>
          <a:xfrm xmlns:a="http://schemas.openxmlformats.org/drawingml/2006/main">
            <a:off x="723900" y="4114800"/>
            <a:ext cx="1358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Screen</a:t>
            </a:r>
          </a:p>
        </p:txBody>
      </p:sp>
      <p:sp>
        <p:nvSpPr>
          <p:cNvPr id="15" name="TextBox 14">
            <a:extLst xmlns:a="http://schemas.openxmlformats.org/drawingml/2006/main">
              <a:ext uri="{FF2B5EF4-FFF2-40B4-BE49-F238E27FC236}">
                <a16:creationId xmlns:a16="http://schemas.microsoft.com/office/drawing/2014/main" id="{D690DE80-A868-438B-A78C-04A586005D45}"/>
              </a:ext>
            </a:extLst>
          </p:cNvPr>
          <p:cNvSpPr>
            <a:spLocks xmlns:a="http://schemas.openxmlformats.org/drawingml/2006/main" noGrp="1"/>
          </p:cNvSpPr>
          <p:nvPr/>
        </p:nvSpPr>
        <p:spPr>
          <a:xfrm xmlns:a="http://schemas.openxmlformats.org/drawingml/2006/main">
            <a:off x="2311400" y="4114800"/>
            <a:ext cx="4406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Category cost outliers</a:t>
            </a:r>
          </a:p>
        </p:txBody>
      </p:sp>
      <p:sp>
        <p:nvSpPr>
          <p:cNvPr id="16" name="TextBox 15">
            <a:extLst xmlns:a="http://schemas.openxmlformats.org/drawingml/2006/main">
              <a:ext uri="{FF2B5EF4-FFF2-40B4-BE49-F238E27FC236}">
                <a16:creationId xmlns:a16="http://schemas.microsoft.com/office/drawing/2014/main" id="{809FFE20-A565-40DE-B411-62733D223902}"/>
              </a:ext>
            </a:extLst>
          </p:cNvPr>
          <p:cNvSpPr>
            <a:spLocks xmlns:a="http://schemas.openxmlformats.org/drawingml/2006/main" noGrp="1"/>
          </p:cNvSpPr>
          <p:nvPr/>
        </p:nvSpPr>
        <p:spPr>
          <a:xfrm xmlns:a="http://schemas.openxmlformats.org/drawingml/2006/main">
            <a:off x="6946900" y="4114800"/>
            <a:ext cx="4521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Within-cohort comparisons</a:t>
            </a:r>
          </a:p>
        </p:txBody>
      </p:sp>
      <p:sp>
        <p:nvSpPr>
          <p:cNvPr id="17" name="TextBox 16">
            <a:extLst xmlns:a="http://schemas.openxmlformats.org/drawingml/2006/main">
              <a:ext uri="{FF2B5EF4-FFF2-40B4-BE49-F238E27FC236}">
                <a16:creationId xmlns:a16="http://schemas.microsoft.com/office/drawing/2014/main" id="{683D5B89-36BD-4D8A-8674-D4B78A10F902}"/>
              </a:ext>
            </a:extLst>
          </p:cNvPr>
          <p:cNvSpPr>
            <a:spLocks xmlns:a="http://schemas.openxmlformats.org/drawingml/2006/main" noGrp="1"/>
          </p:cNvSpPr>
          <p:nvPr/>
        </p:nvSpPr>
        <p:spPr>
          <a:xfrm xmlns:a="http://schemas.openxmlformats.org/drawingml/2006/main">
            <a:off x="723900" y="4775200"/>
            <a:ext cx="1358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Explain</a:t>
            </a:r>
          </a:p>
        </p:txBody>
      </p:sp>
      <p:sp>
        <p:nvSpPr>
          <p:cNvPr id="18" name="TextBox 17">
            <a:extLst xmlns:a="http://schemas.openxmlformats.org/drawingml/2006/main">
              <a:ext uri="{FF2B5EF4-FFF2-40B4-BE49-F238E27FC236}">
                <a16:creationId xmlns:a16="http://schemas.microsoft.com/office/drawing/2014/main" id="{59D466B4-A8CA-4AFB-BF63-D8C865DD30D8}"/>
              </a:ext>
            </a:extLst>
          </p:cNvPr>
          <p:cNvSpPr>
            <a:spLocks xmlns:a="http://schemas.openxmlformats.org/drawingml/2006/main" noGrp="1"/>
          </p:cNvSpPr>
          <p:nvPr/>
        </p:nvSpPr>
        <p:spPr>
          <a:xfrm xmlns:a="http://schemas.openxmlformats.org/drawingml/2006/main">
            <a:off x="2311400" y="4775200"/>
            <a:ext cx="4406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Method + evidence brief</a:t>
            </a:r>
          </a:p>
        </p:txBody>
      </p:sp>
      <p:sp>
        <p:nvSpPr>
          <p:cNvPr id="19" name="TextBox 18">
            <a:extLst xmlns:a="http://schemas.openxmlformats.org/drawingml/2006/main">
              <a:ext uri="{FF2B5EF4-FFF2-40B4-BE49-F238E27FC236}">
                <a16:creationId xmlns:a16="http://schemas.microsoft.com/office/drawing/2014/main" id="{172F5591-EB82-40E4-ACAE-DE74042AE29A}"/>
              </a:ext>
            </a:extLst>
          </p:cNvPr>
          <p:cNvSpPr>
            <a:spLocks xmlns:a="http://schemas.openxmlformats.org/drawingml/2006/main" noGrp="1"/>
          </p:cNvSpPr>
          <p:nvPr/>
        </p:nvSpPr>
        <p:spPr>
          <a:xfrm xmlns:a="http://schemas.openxmlformats.org/drawingml/2006/main">
            <a:off x="6946900" y="4775200"/>
            <a:ext cx="4521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203430"/>
                </a:solidFill>
                <a:latin typeface="Arial"/>
                <a:ea typeface="Arial"/>
                <a:cs typeface="Arial"/>
              </a:defRPr>
            </a:pPr>
            <a:r>
              <a:t>Reviewable source context</a:t>
            </a:r>
          </a:p>
        </p:txBody>
      </p:sp>
      <p:sp>
        <p:nvSpPr>
          <p:cNvPr id="20" name="TextBox 19">
            <a:extLst xmlns:a="http://schemas.openxmlformats.org/drawingml/2006/main">
              <a:ext uri="{FF2B5EF4-FFF2-40B4-BE49-F238E27FC236}">
                <a16:creationId xmlns:a16="http://schemas.microsoft.com/office/drawing/2014/main" id="{5A3B0FE8-6BF5-46DF-AC95-59CB3313004E}"/>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21" name="TextBox 20">
            <a:extLst xmlns:a="http://schemas.openxmlformats.org/drawingml/2006/main">
              <a:ext uri="{FF2B5EF4-FFF2-40B4-BE49-F238E27FC236}">
                <a16:creationId xmlns:a16="http://schemas.microsoft.com/office/drawing/2014/main" id="{C366DA36-9B33-4AAA-8572-83B28661925E}"/>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03</a:t>
            </a:r>
          </a:p>
        </p:txBody>
      </p:sp>
    </p:spTree>
    <p:extLst>
      <p:ext uri="{BB962C8B-B14F-4D97-AF65-F5344CB8AC3E}">
        <p14:creationId xmlns:p14="http://schemas.microsoft.com/office/powerpoint/2010/main" val="19059867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6D2F05F-6147-4404-B923-0D2528938CE9}"/>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03 | ACTUAL ARCHITECTURE</a:t>
            </a:r>
          </a:p>
        </p:txBody>
      </p:sp>
      <p:sp>
        <p:nvSpPr>
          <p:cNvPr id="3" name="TextBox 2">
            <a:extLst xmlns:a="http://schemas.openxmlformats.org/drawingml/2006/main">
              <a:ext uri="{FF2B5EF4-FFF2-40B4-BE49-F238E27FC236}">
                <a16:creationId xmlns:a16="http://schemas.microsoft.com/office/drawing/2014/main" id="{72B65212-73AF-47CA-A4B8-5217308811F3}"/>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Hosted on Databricks. Backed by OpenFEMA.</a:t>
            </a:r>
          </a:p>
        </p:txBody>
      </p:sp>
      <p:sp>
        <p:nvSpPr>
          <p:cNvPr id="4" name="Rectangle 3">
            <a:extLst xmlns:a="http://schemas.openxmlformats.org/drawingml/2006/main">
              <a:ext uri="{FF2B5EF4-FFF2-40B4-BE49-F238E27FC236}">
                <a16:creationId xmlns:a16="http://schemas.microsoft.com/office/drawing/2014/main" id="{8DF52CB4-9119-46B9-9440-450696DBD940}"/>
              </a:ext>
            </a:extLst>
          </p:cNvPr>
          <p:cNvSpPr>
            <a:spLocks xmlns:a="http://schemas.openxmlformats.org/drawingml/2006/main" noGrp="1"/>
          </p:cNvSpPr>
          <p:nvPr/>
        </p:nvSpPr>
        <p:spPr>
          <a:xfrm xmlns:a="http://schemas.openxmlformats.org/drawingml/2006/main">
            <a:off x="609600" y="2273300"/>
            <a:ext cx="2032000" cy="1422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84FF8F96-2CE0-48ED-A735-475203D29905}"/>
              </a:ext>
            </a:extLst>
          </p:cNvPr>
          <p:cNvSpPr>
            <a:spLocks xmlns:a="http://schemas.openxmlformats.org/drawingml/2006/main" noGrp="1"/>
          </p:cNvSpPr>
          <p:nvPr/>
        </p:nvSpPr>
        <p:spPr>
          <a:xfrm xmlns:a="http://schemas.openxmlformats.org/drawingml/2006/main">
            <a:off x="762000" y="2578100"/>
            <a:ext cx="1752600" cy="939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Analyst</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question</a:t>
            </a:r>
          </a:p>
        </p:txBody>
      </p:sp>
      <p:sp>
        <p:nvSpPr>
          <p:cNvPr id="6" name="Rectangle 5">
            <a:extLst xmlns:a="http://schemas.openxmlformats.org/drawingml/2006/main">
              <a:ext uri="{FF2B5EF4-FFF2-40B4-BE49-F238E27FC236}">
                <a16:creationId xmlns:a16="http://schemas.microsoft.com/office/drawing/2014/main" id="{CE47D98F-495C-4EEA-9036-6F68E176B55F}"/>
              </a:ext>
            </a:extLst>
          </p:cNvPr>
          <p:cNvSpPr>
            <a:spLocks xmlns:a="http://schemas.openxmlformats.org/drawingml/2006/main" noGrp="1"/>
          </p:cNvSpPr>
          <p:nvPr/>
        </p:nvSpPr>
        <p:spPr>
          <a:xfrm xmlns:a="http://schemas.openxmlformats.org/drawingml/2006/main">
            <a:off x="2844800" y="2273300"/>
            <a:ext cx="2032000" cy="1422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A34369A-7C75-4F79-9128-F3AFD4277564}"/>
              </a:ext>
            </a:extLst>
          </p:cNvPr>
          <p:cNvSpPr>
            <a:spLocks xmlns:a="http://schemas.openxmlformats.org/drawingml/2006/main" noGrp="1"/>
          </p:cNvSpPr>
          <p:nvPr/>
        </p:nvSpPr>
        <p:spPr>
          <a:xfrm xmlns:a="http://schemas.openxmlformats.org/drawingml/2006/main">
            <a:off x="2997200" y="2578100"/>
            <a:ext cx="1752600" cy="939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Bounded</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model loop</a:t>
            </a:r>
          </a:p>
        </p:txBody>
      </p:sp>
      <p:sp>
        <p:nvSpPr>
          <p:cNvPr id="8" name="Rectangle 7">
            <a:extLst xmlns:a="http://schemas.openxmlformats.org/drawingml/2006/main">
              <a:ext uri="{FF2B5EF4-FFF2-40B4-BE49-F238E27FC236}">
                <a16:creationId xmlns:a16="http://schemas.microsoft.com/office/drawing/2014/main" id="{C87337C7-AC60-49F3-8CF5-897437F3553A}"/>
              </a:ext>
            </a:extLst>
          </p:cNvPr>
          <p:cNvSpPr>
            <a:spLocks xmlns:a="http://schemas.openxmlformats.org/drawingml/2006/main" noGrp="1"/>
          </p:cNvSpPr>
          <p:nvPr/>
        </p:nvSpPr>
        <p:spPr>
          <a:xfrm xmlns:a="http://schemas.openxmlformats.org/drawingml/2006/main">
            <a:off x="5080000" y="2273300"/>
            <a:ext cx="2032000" cy="1422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6BC47F5-3B65-447A-A2D6-4263BA59FF10}"/>
              </a:ext>
            </a:extLst>
          </p:cNvPr>
          <p:cNvSpPr>
            <a:spLocks xmlns:a="http://schemas.openxmlformats.org/drawingml/2006/main" noGrp="1"/>
          </p:cNvSpPr>
          <p:nvPr/>
        </p:nvSpPr>
        <p:spPr>
          <a:xfrm xmlns:a="http://schemas.openxmlformats.org/drawingml/2006/main">
            <a:off x="5232400" y="2578100"/>
            <a:ext cx="1752600" cy="939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Read-only</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MCP tools</a:t>
            </a:r>
          </a:p>
        </p:txBody>
      </p:sp>
      <p:sp>
        <p:nvSpPr>
          <p:cNvPr id="10" name="Rectangle 9">
            <a:extLst xmlns:a="http://schemas.openxmlformats.org/drawingml/2006/main">
              <a:ext uri="{FF2B5EF4-FFF2-40B4-BE49-F238E27FC236}">
                <a16:creationId xmlns:a16="http://schemas.microsoft.com/office/drawing/2014/main" id="{B66B3C26-1586-448F-98C5-B60C8F99C122}"/>
              </a:ext>
            </a:extLst>
          </p:cNvPr>
          <p:cNvSpPr>
            <a:spLocks xmlns:a="http://schemas.openxmlformats.org/drawingml/2006/main" noGrp="1"/>
          </p:cNvSpPr>
          <p:nvPr/>
        </p:nvSpPr>
        <p:spPr>
          <a:xfrm xmlns:a="http://schemas.openxmlformats.org/drawingml/2006/main">
            <a:off x="7315200" y="2273300"/>
            <a:ext cx="2032000" cy="1422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0CBB6FD2-580A-42B5-B80D-C063EC5A6282}"/>
              </a:ext>
            </a:extLst>
          </p:cNvPr>
          <p:cNvSpPr>
            <a:spLocks xmlns:a="http://schemas.openxmlformats.org/drawingml/2006/main" noGrp="1"/>
          </p:cNvSpPr>
          <p:nvPr/>
        </p:nvSpPr>
        <p:spPr>
          <a:xfrm xmlns:a="http://schemas.openxmlformats.org/drawingml/2006/main">
            <a:off x="7467600" y="2578100"/>
            <a:ext cx="1752600" cy="939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OpenFEMA</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public API</a:t>
            </a:r>
          </a:p>
        </p:txBody>
      </p:sp>
      <p:sp>
        <p:nvSpPr>
          <p:cNvPr id="12" name="Rectangle 11">
            <a:extLst xmlns:a="http://schemas.openxmlformats.org/drawingml/2006/main">
              <a:ext uri="{FF2B5EF4-FFF2-40B4-BE49-F238E27FC236}">
                <a16:creationId xmlns:a16="http://schemas.microsoft.com/office/drawing/2014/main" id="{EC7B6396-66F8-4E1A-B401-6DD496E38354}"/>
              </a:ext>
            </a:extLst>
          </p:cNvPr>
          <p:cNvSpPr>
            <a:spLocks xmlns:a="http://schemas.openxmlformats.org/drawingml/2006/main" noGrp="1"/>
          </p:cNvSpPr>
          <p:nvPr/>
        </p:nvSpPr>
        <p:spPr>
          <a:xfrm xmlns:a="http://schemas.openxmlformats.org/drawingml/2006/main">
            <a:off x="9550400" y="2273300"/>
            <a:ext cx="2032000" cy="1422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2084A7D-E2BD-4674-9BF9-4B0A6CD169A3}"/>
              </a:ext>
            </a:extLst>
          </p:cNvPr>
          <p:cNvSpPr>
            <a:spLocks xmlns:a="http://schemas.openxmlformats.org/drawingml/2006/main" noGrp="1"/>
          </p:cNvSpPr>
          <p:nvPr/>
        </p:nvSpPr>
        <p:spPr>
          <a:xfrm xmlns:a="http://schemas.openxmlformats.org/drawingml/2006/main">
            <a:off x="9702800" y="2578100"/>
            <a:ext cx="1752600" cy="939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Evidence +</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human</a:t>
            </a:r>
          </a:p>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review</a:t>
            </a:r>
          </a:p>
        </p:txBody>
      </p:sp>
      <p:sp>
        <p:nvSpPr>
          <p:cNvPr id="14" name="TextBox 13">
            <a:extLst xmlns:a="http://schemas.openxmlformats.org/drawingml/2006/main">
              <a:ext uri="{FF2B5EF4-FFF2-40B4-BE49-F238E27FC236}">
                <a16:creationId xmlns:a16="http://schemas.microsoft.com/office/drawing/2014/main" id="{7C216163-11C2-4E09-97DF-861FAF8AF3F6}"/>
              </a:ext>
            </a:extLst>
          </p:cNvPr>
          <p:cNvSpPr>
            <a:spLocks xmlns:a="http://schemas.openxmlformats.org/drawingml/2006/main" noGrp="1"/>
          </p:cNvSpPr>
          <p:nvPr/>
        </p:nvSpPr>
        <p:spPr>
          <a:xfrm xmlns:a="http://schemas.openxmlformats.org/drawingml/2006/main">
            <a:off x="2641600" y="2743200"/>
            <a:ext cx="254000" cy="457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147D71"/>
                </a:solidFill>
                <a:latin typeface="Arial"/>
                <a:ea typeface="Arial"/>
                <a:cs typeface="Arial"/>
              </a:defRPr>
            </a:pPr>
            <a:r>
              <a:t>&gt;</a:t>
            </a:r>
          </a:p>
        </p:txBody>
      </p:sp>
      <p:sp>
        <p:nvSpPr>
          <p:cNvPr id="15" name="TextBox 14">
            <a:extLst xmlns:a="http://schemas.openxmlformats.org/drawingml/2006/main">
              <a:ext uri="{FF2B5EF4-FFF2-40B4-BE49-F238E27FC236}">
                <a16:creationId xmlns:a16="http://schemas.microsoft.com/office/drawing/2014/main" id="{459E562C-147E-4ECF-AFDE-6055433AF52E}"/>
              </a:ext>
            </a:extLst>
          </p:cNvPr>
          <p:cNvSpPr>
            <a:spLocks xmlns:a="http://schemas.openxmlformats.org/drawingml/2006/main" noGrp="1"/>
          </p:cNvSpPr>
          <p:nvPr/>
        </p:nvSpPr>
        <p:spPr>
          <a:xfrm xmlns:a="http://schemas.openxmlformats.org/drawingml/2006/main">
            <a:off x="4876800" y="2743200"/>
            <a:ext cx="254000" cy="457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147D71"/>
                </a:solidFill>
                <a:latin typeface="Arial"/>
                <a:ea typeface="Arial"/>
                <a:cs typeface="Arial"/>
              </a:defRPr>
            </a:pPr>
            <a:r>
              <a:t>&gt;</a:t>
            </a:r>
          </a:p>
        </p:txBody>
      </p:sp>
      <p:sp>
        <p:nvSpPr>
          <p:cNvPr id="16" name="TextBox 15">
            <a:extLst xmlns:a="http://schemas.openxmlformats.org/drawingml/2006/main">
              <a:ext uri="{FF2B5EF4-FFF2-40B4-BE49-F238E27FC236}">
                <a16:creationId xmlns:a16="http://schemas.microsoft.com/office/drawing/2014/main" id="{B9D33572-B60E-4CE2-901E-1F47970F987A}"/>
              </a:ext>
            </a:extLst>
          </p:cNvPr>
          <p:cNvSpPr>
            <a:spLocks xmlns:a="http://schemas.openxmlformats.org/drawingml/2006/main" noGrp="1"/>
          </p:cNvSpPr>
          <p:nvPr/>
        </p:nvSpPr>
        <p:spPr>
          <a:xfrm xmlns:a="http://schemas.openxmlformats.org/drawingml/2006/main">
            <a:off x="7112000" y="2743200"/>
            <a:ext cx="254000" cy="457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147D71"/>
                </a:solidFill>
                <a:latin typeface="Arial"/>
                <a:ea typeface="Arial"/>
                <a:cs typeface="Arial"/>
              </a:defRPr>
            </a:pPr>
            <a:r>
              <a:t>&gt;</a:t>
            </a:r>
          </a:p>
        </p:txBody>
      </p:sp>
      <p:sp>
        <p:nvSpPr>
          <p:cNvPr id="17" name="TextBox 16">
            <a:extLst xmlns:a="http://schemas.openxmlformats.org/drawingml/2006/main">
              <a:ext uri="{FF2B5EF4-FFF2-40B4-BE49-F238E27FC236}">
                <a16:creationId xmlns:a16="http://schemas.microsoft.com/office/drawing/2014/main" id="{73EFF8D0-1F68-4938-9939-6430CE72F662}"/>
              </a:ext>
            </a:extLst>
          </p:cNvPr>
          <p:cNvSpPr>
            <a:spLocks xmlns:a="http://schemas.openxmlformats.org/drawingml/2006/main" noGrp="1"/>
          </p:cNvSpPr>
          <p:nvPr/>
        </p:nvSpPr>
        <p:spPr>
          <a:xfrm xmlns:a="http://schemas.openxmlformats.org/drawingml/2006/main">
            <a:off x="9347200" y="2743200"/>
            <a:ext cx="254000" cy="457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147D71"/>
                </a:solidFill>
                <a:latin typeface="Arial"/>
                <a:ea typeface="Arial"/>
                <a:cs typeface="Arial"/>
              </a:defRPr>
            </a:pPr>
            <a:r>
              <a:t>&gt;</a:t>
            </a:r>
          </a:p>
        </p:txBody>
      </p:sp>
      <p:sp>
        <p:nvSpPr>
          <p:cNvPr id="18" name="TextBox 17">
            <a:extLst xmlns:a="http://schemas.openxmlformats.org/drawingml/2006/main">
              <a:ext uri="{FF2B5EF4-FFF2-40B4-BE49-F238E27FC236}">
                <a16:creationId xmlns:a16="http://schemas.microsoft.com/office/drawing/2014/main" id="{148C6D8C-E1DF-48C3-A2FA-B95D6B4409D2}"/>
              </a:ext>
            </a:extLst>
          </p:cNvPr>
          <p:cNvSpPr>
            <a:spLocks xmlns:a="http://schemas.openxmlformats.org/drawingml/2006/main" noGrp="1"/>
          </p:cNvSpPr>
          <p:nvPr/>
        </p:nvSpPr>
        <p:spPr>
          <a:xfrm xmlns:a="http://schemas.openxmlformats.org/drawingml/2006/main">
            <a:off x="609600" y="4343400"/>
            <a:ext cx="10871200" cy="1460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856"/>
              </a:lnSpc>
              <a:spcBef>
                <a:spcPts val="0"/>
              </a:spcBef>
              <a:spcAft>
                <a:spcPts val="0"/>
              </a:spcAft>
              <a:buNone/>
              <a:defRPr sz="2400" b="0">
                <a:solidFill>
                  <a:srgbClr val="203430"/>
                </a:solidFill>
                <a:latin typeface="Arial"/>
                <a:ea typeface="Arial"/>
                <a:cs typeface="Arial"/>
              </a:defRPr>
            </a:pPr>
            <a:r>
              <a:t>Validation runs in Databricks. Snapshots, SQL controls, test logs and model</a:t>
            </a:r>
          </a:p>
          <a:p xmlns:a="http://schemas.openxmlformats.org/drawingml/2006/main">
            <a:pPr>
              <a:lnSpc>
                <a:spcPts val="2856"/>
              </a:lnSpc>
              <a:spcBef>
                <a:spcPts val="0"/>
              </a:spcBef>
              <a:spcAft>
                <a:spcPts val="0"/>
              </a:spcAft>
              <a:buNone/>
              <a:defRPr sz="2400" b="0">
                <a:solidFill>
                  <a:srgbClr val="203430"/>
                </a:solidFill>
                <a:latin typeface="Arial"/>
                <a:ea typeface="Arial"/>
                <a:cs typeface="Arial"/>
              </a:defRPr>
            </a:pPr>
            <a:r>
              <a:t>traces are retained in the workspace and MLflow.</a:t>
            </a:r>
          </a:p>
        </p:txBody>
      </p:sp>
      <p:sp>
        <p:nvSpPr>
          <p:cNvPr id="19" name="TextBox 18">
            <a:extLst xmlns:a="http://schemas.openxmlformats.org/drawingml/2006/main">
              <a:ext uri="{FF2B5EF4-FFF2-40B4-BE49-F238E27FC236}">
                <a16:creationId xmlns:a16="http://schemas.microsoft.com/office/drawing/2014/main" id="{C66251BA-E8A7-49D8-9EC0-2A47A1D4AE3B}"/>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20" name="TextBox 19">
            <a:extLst xmlns:a="http://schemas.openxmlformats.org/drawingml/2006/main">
              <a:ext uri="{FF2B5EF4-FFF2-40B4-BE49-F238E27FC236}">
                <a16:creationId xmlns:a16="http://schemas.microsoft.com/office/drawing/2014/main" id="{789BBE3F-AA77-4D20-84D6-3A6F99186A5C}"/>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04</a:t>
            </a:r>
          </a:p>
        </p:txBody>
      </p:sp>
    </p:spTree>
    <p:extLst>
      <p:ext uri="{BB962C8B-B14F-4D97-AF65-F5344CB8AC3E}">
        <p14:creationId xmlns:p14="http://schemas.microsoft.com/office/powerpoint/2010/main" val="55489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C81160-9D15-4244-9D2E-2D295D60786D}"/>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04 | DOMAIN DECISIONS</a:t>
            </a:r>
          </a:p>
        </p:txBody>
      </p:sp>
      <p:sp>
        <p:nvSpPr>
          <p:cNvPr id="3" name="TextBox 2">
            <a:extLst xmlns:a="http://schemas.openxmlformats.org/drawingml/2006/main">
              <a:ext uri="{FF2B5EF4-FFF2-40B4-BE49-F238E27FC236}">
                <a16:creationId xmlns:a16="http://schemas.microsoft.com/office/drawing/2014/main" id="{AF845EF1-7E73-4228-B8F6-090FFC662BFA}"/>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Context lives in the tool contract.</a:t>
            </a:r>
          </a:p>
        </p:txBody>
      </p:sp>
      <p:sp>
        <p:nvSpPr>
          <p:cNvPr id="4" name="Rectangle 3">
            <a:extLst xmlns:a="http://schemas.openxmlformats.org/drawingml/2006/main">
              <a:ext uri="{FF2B5EF4-FFF2-40B4-BE49-F238E27FC236}">
                <a16:creationId xmlns:a16="http://schemas.microsoft.com/office/drawing/2014/main" id="{51862673-3AEA-4533-AC12-DC31EB959B3A}"/>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AF1E5ECF-346F-4C89-83DA-6F4262BCBE02}"/>
              </a:ext>
            </a:extLst>
          </p:cNvPr>
          <p:cNvSpPr>
            <a:spLocks xmlns:a="http://schemas.openxmlformats.org/drawingml/2006/main" noGrp="1"/>
          </p:cNvSpPr>
          <p:nvPr/>
        </p:nvSpPr>
        <p:spPr>
          <a:xfrm xmlns:a="http://schemas.openxmlformats.org/drawingml/2006/main">
            <a:off x="723900" y="2133600"/>
            <a:ext cx="243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Decision</a:t>
            </a:r>
          </a:p>
        </p:txBody>
      </p:sp>
      <p:sp>
        <p:nvSpPr>
          <p:cNvPr id="6" name="TextBox 5">
            <a:extLst xmlns:a="http://schemas.openxmlformats.org/drawingml/2006/main">
              <a:ext uri="{FF2B5EF4-FFF2-40B4-BE49-F238E27FC236}">
                <a16:creationId xmlns:a16="http://schemas.microsoft.com/office/drawing/2014/main" id="{9FCB2CA4-B677-4885-AA96-94301E1A664B}"/>
              </a:ext>
            </a:extLst>
          </p:cNvPr>
          <p:cNvSpPr>
            <a:spLocks xmlns:a="http://schemas.openxmlformats.org/drawingml/2006/main" noGrp="1"/>
          </p:cNvSpPr>
          <p:nvPr/>
        </p:nvSpPr>
        <p:spPr>
          <a:xfrm xmlns:a="http://schemas.openxmlformats.org/drawingml/2006/main">
            <a:off x="3390900" y="2133600"/>
            <a:ext cx="3835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Implemented</a:t>
            </a:r>
          </a:p>
        </p:txBody>
      </p:sp>
      <p:sp>
        <p:nvSpPr>
          <p:cNvPr id="7" name="TextBox 6">
            <a:extLst xmlns:a="http://schemas.openxmlformats.org/drawingml/2006/main">
              <a:ext uri="{FF2B5EF4-FFF2-40B4-BE49-F238E27FC236}">
                <a16:creationId xmlns:a16="http://schemas.microsoft.com/office/drawing/2014/main" id="{8519630D-D4EB-4927-A908-725CC9E82240}"/>
              </a:ext>
            </a:extLst>
          </p:cNvPr>
          <p:cNvSpPr>
            <a:spLocks xmlns:a="http://schemas.openxmlformats.org/drawingml/2006/main" noGrp="1"/>
          </p:cNvSpPr>
          <p:nvPr/>
        </p:nvSpPr>
        <p:spPr>
          <a:xfrm xmlns:a="http://schemas.openxmlformats.org/drawingml/2006/main">
            <a:off x="7454900" y="2133600"/>
            <a:ext cx="4013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Boundary</a:t>
            </a:r>
          </a:p>
        </p:txBody>
      </p:sp>
      <p:sp>
        <p:nvSpPr>
          <p:cNvPr id="8" name="TextBox 7">
            <a:extLst xmlns:a="http://schemas.openxmlformats.org/drawingml/2006/main">
              <a:ext uri="{FF2B5EF4-FFF2-40B4-BE49-F238E27FC236}">
                <a16:creationId xmlns:a16="http://schemas.microsoft.com/office/drawing/2014/main" id="{69FAE501-969E-4E09-A59B-1D5671443049}"/>
              </a:ext>
            </a:extLst>
          </p:cNvPr>
          <p:cNvSpPr>
            <a:spLocks xmlns:a="http://schemas.openxmlformats.org/drawingml/2006/main" noGrp="1"/>
          </p:cNvSpPr>
          <p:nvPr/>
        </p:nvSpPr>
        <p:spPr>
          <a:xfrm xmlns:a="http://schemas.openxmlformats.org/drawingml/2006/main">
            <a:off x="723900" y="2794000"/>
            <a:ext cx="243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Project identity</a:t>
            </a:r>
          </a:p>
        </p:txBody>
      </p:sp>
      <p:sp>
        <p:nvSpPr>
          <p:cNvPr id="9" name="TextBox 8">
            <a:extLst xmlns:a="http://schemas.openxmlformats.org/drawingml/2006/main">
              <a:ext uri="{FF2B5EF4-FFF2-40B4-BE49-F238E27FC236}">
                <a16:creationId xmlns:a16="http://schemas.microsoft.com/office/drawing/2014/main" id="{E2431FA7-507D-4FA2-81DE-F337348E49A7}"/>
              </a:ext>
            </a:extLst>
          </p:cNvPr>
          <p:cNvSpPr>
            <a:spLocks xmlns:a="http://schemas.openxmlformats.org/drawingml/2006/main" noGrp="1"/>
          </p:cNvSpPr>
          <p:nvPr/>
        </p:nvSpPr>
        <p:spPr>
          <a:xfrm xmlns:a="http://schemas.openxmlformats.org/drawingml/2006/main">
            <a:off x="3390900" y="2794000"/>
            <a:ext cx="3835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Disaster + applicant + PW</a:t>
            </a:r>
          </a:p>
        </p:txBody>
      </p:sp>
      <p:sp>
        <p:nvSpPr>
          <p:cNvPr id="10" name="TextBox 9">
            <a:extLst xmlns:a="http://schemas.openxmlformats.org/drawingml/2006/main">
              <a:ext uri="{FF2B5EF4-FFF2-40B4-BE49-F238E27FC236}">
                <a16:creationId xmlns:a16="http://schemas.microsoft.com/office/drawing/2014/main" id="{558A9914-770B-427F-85AD-C8903D14C2C3}"/>
              </a:ext>
            </a:extLst>
          </p:cNvPr>
          <p:cNvSpPr>
            <a:spLocks xmlns:a="http://schemas.openxmlformats.org/drawingml/2006/main" noGrp="1"/>
          </p:cNvSpPr>
          <p:nvPr/>
        </p:nvSpPr>
        <p:spPr>
          <a:xfrm xmlns:a="http://schemas.openxmlformats.org/drawingml/2006/main">
            <a:off x="7454900" y="2794000"/>
            <a:ext cx="4013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Avoid unrelated records</a:t>
            </a:r>
          </a:p>
        </p:txBody>
      </p:sp>
      <p:sp>
        <p:nvSpPr>
          <p:cNvPr id="11" name="TextBox 10">
            <a:extLst xmlns:a="http://schemas.openxmlformats.org/drawingml/2006/main">
              <a:ext uri="{FF2B5EF4-FFF2-40B4-BE49-F238E27FC236}">
                <a16:creationId xmlns:a16="http://schemas.microsoft.com/office/drawing/2014/main" id="{41E6CDB0-4244-4F99-A330-57034F44ED14}"/>
              </a:ext>
            </a:extLst>
          </p:cNvPr>
          <p:cNvSpPr>
            <a:spLocks xmlns:a="http://schemas.openxmlformats.org/drawingml/2006/main" noGrp="1"/>
          </p:cNvSpPr>
          <p:nvPr/>
        </p:nvSpPr>
        <p:spPr>
          <a:xfrm xmlns:a="http://schemas.openxmlformats.org/drawingml/2006/main">
            <a:off x="723900" y="3454400"/>
            <a:ext cx="243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Repeated groups</a:t>
            </a:r>
          </a:p>
        </p:txBody>
      </p:sp>
      <p:sp>
        <p:nvSpPr>
          <p:cNvPr id="12" name="TextBox 11">
            <a:extLst xmlns:a="http://schemas.openxmlformats.org/drawingml/2006/main">
              <a:ext uri="{FF2B5EF4-FFF2-40B4-BE49-F238E27FC236}">
                <a16:creationId xmlns:a16="http://schemas.microsoft.com/office/drawing/2014/main" id="{FF91B8A6-BBE5-42FC-9E71-F42E12AB2F06}"/>
              </a:ext>
            </a:extLst>
          </p:cNvPr>
          <p:cNvSpPr>
            <a:spLocks xmlns:a="http://schemas.openxmlformats.org/drawingml/2006/main" noGrp="1"/>
          </p:cNvSpPr>
          <p:nvPr/>
        </p:nvSpPr>
        <p:spPr>
          <a:xfrm xmlns:a="http://schemas.openxmlformats.org/drawingml/2006/main">
            <a:off x="3390900" y="3454400"/>
            <a:ext cx="3835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Disaster + title + category</a:t>
            </a:r>
          </a:p>
        </p:txBody>
      </p:sp>
      <p:sp>
        <p:nvSpPr>
          <p:cNvPr id="13" name="TextBox 12">
            <a:extLst xmlns:a="http://schemas.openxmlformats.org/drawingml/2006/main">
              <a:ext uri="{FF2B5EF4-FFF2-40B4-BE49-F238E27FC236}">
                <a16:creationId xmlns:a16="http://schemas.microsoft.com/office/drawing/2014/main" id="{F2E2B76E-C5EC-4C61-856D-BD99895F8D20}"/>
              </a:ext>
            </a:extLst>
          </p:cNvPr>
          <p:cNvSpPr>
            <a:spLocks xmlns:a="http://schemas.openxmlformats.org/drawingml/2006/main" noGrp="1"/>
          </p:cNvSpPr>
          <p:nvPr/>
        </p:nvSpPr>
        <p:spPr>
          <a:xfrm xmlns:a="http://schemas.openxmlformats.org/drawingml/2006/main">
            <a:off x="7454900" y="3454400"/>
            <a:ext cx="4013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Exact matches only</a:t>
            </a:r>
          </a:p>
        </p:txBody>
      </p:sp>
      <p:sp>
        <p:nvSpPr>
          <p:cNvPr id="14" name="TextBox 13">
            <a:extLst xmlns:a="http://schemas.openxmlformats.org/drawingml/2006/main">
              <a:ext uri="{FF2B5EF4-FFF2-40B4-BE49-F238E27FC236}">
                <a16:creationId xmlns:a16="http://schemas.microsoft.com/office/drawing/2014/main" id="{7C11F596-AD22-4584-B149-640FFD1A6EA7}"/>
              </a:ext>
            </a:extLst>
          </p:cNvPr>
          <p:cNvSpPr>
            <a:spLocks xmlns:a="http://schemas.openxmlformats.org/drawingml/2006/main" noGrp="1"/>
          </p:cNvSpPr>
          <p:nvPr/>
        </p:nvSpPr>
        <p:spPr>
          <a:xfrm xmlns:a="http://schemas.openxmlformats.org/drawingml/2006/main">
            <a:off x="723900" y="4114800"/>
            <a:ext cx="243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Category baseline</a:t>
            </a:r>
          </a:p>
        </p:txBody>
      </p:sp>
      <p:sp>
        <p:nvSpPr>
          <p:cNvPr id="15" name="TextBox 14">
            <a:extLst xmlns:a="http://schemas.openxmlformats.org/drawingml/2006/main">
              <a:ext uri="{FF2B5EF4-FFF2-40B4-BE49-F238E27FC236}">
                <a16:creationId xmlns:a16="http://schemas.microsoft.com/office/drawing/2014/main" id="{812B2FA6-2455-4B12-B686-85F42F5B2BD8}"/>
              </a:ext>
            </a:extLst>
          </p:cNvPr>
          <p:cNvSpPr>
            <a:spLocks xmlns:a="http://schemas.openxmlformats.org/drawingml/2006/main" noGrp="1"/>
          </p:cNvSpPr>
          <p:nvPr/>
        </p:nvSpPr>
        <p:spPr>
          <a:xfrm xmlns:a="http://schemas.openxmlformats.org/drawingml/2006/main">
            <a:off x="3390900" y="4114800"/>
            <a:ext cx="3835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Selected category/filters</a:t>
            </a:r>
          </a:p>
        </p:txBody>
      </p:sp>
      <p:sp>
        <p:nvSpPr>
          <p:cNvPr id="16" name="TextBox 15">
            <a:extLst xmlns:a="http://schemas.openxmlformats.org/drawingml/2006/main">
              <a:ext uri="{FF2B5EF4-FFF2-40B4-BE49-F238E27FC236}">
                <a16:creationId xmlns:a16="http://schemas.microsoft.com/office/drawing/2014/main" id="{AF41251E-AAE4-47A2-A2E6-E5D2B9B54DBC}"/>
              </a:ext>
            </a:extLst>
          </p:cNvPr>
          <p:cNvSpPr>
            <a:spLocks xmlns:a="http://schemas.openxmlformats.org/drawingml/2006/main" noGrp="1"/>
          </p:cNvSpPr>
          <p:nvPr/>
        </p:nvSpPr>
        <p:spPr>
          <a:xfrm xmlns:a="http://schemas.openxmlformats.org/drawingml/2006/main">
            <a:off x="7454900" y="4114800"/>
            <a:ext cx="4013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Scale not normalized</a:t>
            </a:r>
          </a:p>
        </p:txBody>
      </p:sp>
      <p:sp>
        <p:nvSpPr>
          <p:cNvPr id="17" name="TextBox 16">
            <a:extLst xmlns:a="http://schemas.openxmlformats.org/drawingml/2006/main">
              <a:ext uri="{FF2B5EF4-FFF2-40B4-BE49-F238E27FC236}">
                <a16:creationId xmlns:a16="http://schemas.microsoft.com/office/drawing/2014/main" id="{A1BF5E43-0B8A-4FBA-A0D1-273329EE112D}"/>
              </a:ext>
            </a:extLst>
          </p:cNvPr>
          <p:cNvSpPr>
            <a:spLocks xmlns:a="http://schemas.openxmlformats.org/drawingml/2006/main" noGrp="1"/>
          </p:cNvSpPr>
          <p:nvPr/>
        </p:nvSpPr>
        <p:spPr>
          <a:xfrm xmlns:a="http://schemas.openxmlformats.org/drawingml/2006/main">
            <a:off x="723900" y="4775200"/>
            <a:ext cx="243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Cost-share screen</a:t>
            </a:r>
          </a:p>
        </p:txBody>
      </p:sp>
      <p:sp>
        <p:nvSpPr>
          <p:cNvPr id="18" name="TextBox 17">
            <a:extLst xmlns:a="http://schemas.openxmlformats.org/drawingml/2006/main">
              <a:ext uri="{FF2B5EF4-FFF2-40B4-BE49-F238E27FC236}">
                <a16:creationId xmlns:a16="http://schemas.microsoft.com/office/drawing/2014/main" id="{132EB573-9A45-4A3D-BA1D-FFA1D5B95051}"/>
              </a:ext>
            </a:extLst>
          </p:cNvPr>
          <p:cNvSpPr>
            <a:spLocks xmlns:a="http://schemas.openxmlformats.org/drawingml/2006/main" noGrp="1"/>
          </p:cNvSpPr>
          <p:nvPr/>
        </p:nvSpPr>
        <p:spPr>
          <a:xfrm xmlns:a="http://schemas.openxmlformats.org/drawingml/2006/main">
            <a:off x="3390900" y="4775200"/>
            <a:ext cx="3835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Configurable ratio band</a:t>
            </a:r>
          </a:p>
        </p:txBody>
      </p:sp>
      <p:sp>
        <p:nvSpPr>
          <p:cNvPr id="19" name="TextBox 18">
            <a:extLst xmlns:a="http://schemas.openxmlformats.org/drawingml/2006/main">
              <a:ext uri="{FF2B5EF4-FFF2-40B4-BE49-F238E27FC236}">
                <a16:creationId xmlns:a16="http://schemas.microsoft.com/office/drawing/2014/main" id="{BE99FE43-6732-49F8-8F87-42521BFE0C83}"/>
              </a:ext>
            </a:extLst>
          </p:cNvPr>
          <p:cNvSpPr>
            <a:spLocks xmlns:a="http://schemas.openxmlformats.org/drawingml/2006/main" noGrp="1"/>
          </p:cNvSpPr>
          <p:nvPr/>
        </p:nvSpPr>
        <p:spPr>
          <a:xfrm xmlns:a="http://schemas.openxmlformats.org/drawingml/2006/main">
            <a:off x="7454900" y="4775200"/>
            <a:ext cx="4013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Authority not checked</a:t>
            </a:r>
          </a:p>
        </p:txBody>
      </p:sp>
      <p:sp>
        <p:nvSpPr>
          <p:cNvPr id="20" name="TextBox 19">
            <a:extLst xmlns:a="http://schemas.openxmlformats.org/drawingml/2006/main">
              <a:ext uri="{FF2B5EF4-FFF2-40B4-BE49-F238E27FC236}">
                <a16:creationId xmlns:a16="http://schemas.microsoft.com/office/drawing/2014/main" id="{88476CEF-B792-4543-8057-A9C828570838}"/>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21" name="TextBox 20">
            <a:extLst xmlns:a="http://schemas.openxmlformats.org/drawingml/2006/main">
              <a:ext uri="{FF2B5EF4-FFF2-40B4-BE49-F238E27FC236}">
                <a16:creationId xmlns:a16="http://schemas.microsoft.com/office/drawing/2014/main" id="{19722570-1944-4573-AB06-5C14877DF557}"/>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05</a:t>
            </a:r>
          </a:p>
        </p:txBody>
      </p:sp>
    </p:spTree>
    <p:extLst>
      <p:ext uri="{BB962C8B-B14F-4D97-AF65-F5344CB8AC3E}">
        <p14:creationId xmlns:p14="http://schemas.microsoft.com/office/powerpoint/2010/main" val="12345677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DCAEC49-2F73-48EA-98B0-24F718C0065C}"/>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05 | REAL RESULT</a:t>
            </a:r>
          </a:p>
        </p:txBody>
      </p:sp>
      <p:sp>
        <p:nvSpPr>
          <p:cNvPr id="3" name="TextBox 2">
            <a:extLst xmlns:a="http://schemas.openxmlformats.org/drawingml/2006/main">
              <a:ext uri="{FF2B5EF4-FFF2-40B4-BE49-F238E27FC236}">
                <a16:creationId xmlns:a16="http://schemas.microsoft.com/office/drawing/2014/main" id="{3E0C0DAE-CFDF-4218-83B4-4806158019B0}"/>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Three Category C outliers. Same SQL identities.</a:t>
            </a:r>
          </a:p>
        </p:txBody>
      </p:sp>
      <p:sp>
        <p:nvSpPr>
          <p:cNvPr id="4" name="TextBox 3">
            <a:extLst xmlns:a="http://schemas.openxmlformats.org/drawingml/2006/main">
              <a:ext uri="{FF2B5EF4-FFF2-40B4-BE49-F238E27FC236}">
                <a16:creationId xmlns:a16="http://schemas.microsoft.com/office/drawing/2014/main" id="{ACF8453C-BD60-4DF3-9890-F33CBD2B2035}"/>
              </a:ext>
            </a:extLst>
          </p:cNvPr>
          <p:cNvSpPr>
            <a:spLocks xmlns:a="http://schemas.openxmlformats.org/drawingml/2006/main" noGrp="1"/>
          </p:cNvSpPr>
          <p:nvPr/>
        </p:nvSpPr>
        <p:spPr>
          <a:xfrm xmlns:a="http://schemas.openxmlformats.org/drawingml/2006/main">
            <a:off x="609600" y="2095500"/>
            <a:ext cx="2794000" cy="571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17473D"/>
                </a:solidFill>
                <a:latin typeface="Arial"/>
                <a:ea typeface="Arial"/>
                <a:cs typeface="Arial"/>
              </a:defRPr>
            </a:pPr>
            <a:r>
              <a:t>PW 4902 | 9.71 sigma</a:t>
            </a:r>
          </a:p>
        </p:txBody>
      </p:sp>
      <p:sp>
        <p:nvSpPr>
          <p:cNvPr id="5" name="Rectangle 4">
            <a:extLst xmlns:a="http://schemas.openxmlformats.org/drawingml/2006/main">
              <a:ext uri="{FF2B5EF4-FFF2-40B4-BE49-F238E27FC236}">
                <a16:creationId xmlns:a16="http://schemas.microsoft.com/office/drawing/2014/main" id="{0FD5BA2B-00C6-4B4B-8C43-3168F64F189B}"/>
              </a:ext>
            </a:extLst>
          </p:cNvPr>
          <p:cNvSpPr>
            <a:spLocks xmlns:a="http://schemas.openxmlformats.org/drawingml/2006/main" noGrp="1"/>
          </p:cNvSpPr>
          <p:nvPr/>
        </p:nvSpPr>
        <p:spPr>
          <a:xfrm xmlns:a="http://schemas.openxmlformats.org/drawingml/2006/main">
            <a:off x="3556000" y="2095500"/>
            <a:ext cx="5715000" cy="419100"/>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377E4C1-7E40-4415-AF04-CAF300FDC930}"/>
              </a:ext>
            </a:extLst>
          </p:cNvPr>
          <p:cNvSpPr>
            <a:spLocks xmlns:a="http://schemas.openxmlformats.org/drawingml/2006/main" noGrp="1"/>
          </p:cNvSpPr>
          <p:nvPr/>
        </p:nvSpPr>
        <p:spPr>
          <a:xfrm xmlns:a="http://schemas.openxmlformats.org/drawingml/2006/main">
            <a:off x="9525000" y="2095500"/>
            <a:ext cx="2032000" cy="508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203430"/>
                </a:solidFill>
                <a:latin typeface="Arial"/>
                <a:ea typeface="Arial"/>
                <a:cs typeface="Arial"/>
              </a:defRPr>
            </a:pPr>
            <a:r>
              <a:t>$2,993,778</a:t>
            </a:r>
          </a:p>
        </p:txBody>
      </p:sp>
      <p:sp>
        <p:nvSpPr>
          <p:cNvPr id="7" name="TextBox 6">
            <a:extLst xmlns:a="http://schemas.openxmlformats.org/drawingml/2006/main">
              <a:ext uri="{FF2B5EF4-FFF2-40B4-BE49-F238E27FC236}">
                <a16:creationId xmlns:a16="http://schemas.microsoft.com/office/drawing/2014/main" id="{83B13F61-58E7-4247-A1E2-51A60EDA8085}"/>
              </a:ext>
            </a:extLst>
          </p:cNvPr>
          <p:cNvSpPr>
            <a:spLocks xmlns:a="http://schemas.openxmlformats.org/drawingml/2006/main" noGrp="1"/>
          </p:cNvSpPr>
          <p:nvPr/>
        </p:nvSpPr>
        <p:spPr>
          <a:xfrm xmlns:a="http://schemas.openxmlformats.org/drawingml/2006/main">
            <a:off x="609600" y="3149600"/>
            <a:ext cx="2794000" cy="571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17473D"/>
                </a:solidFill>
                <a:latin typeface="Arial"/>
                <a:ea typeface="Arial"/>
                <a:cs typeface="Arial"/>
              </a:defRPr>
            </a:pPr>
            <a:r>
              <a:t>PW 1921 | 5.28 sigma</a:t>
            </a:r>
          </a:p>
        </p:txBody>
      </p:sp>
      <p:sp>
        <p:nvSpPr>
          <p:cNvPr id="8" name="Rectangle 7">
            <a:extLst xmlns:a="http://schemas.openxmlformats.org/drawingml/2006/main">
              <a:ext uri="{FF2B5EF4-FFF2-40B4-BE49-F238E27FC236}">
                <a16:creationId xmlns:a16="http://schemas.microsoft.com/office/drawing/2014/main" id="{B55135D4-DF3A-4D42-A3C6-3D1B7D4FEBA1}"/>
              </a:ext>
            </a:extLst>
          </p:cNvPr>
          <p:cNvSpPr>
            <a:spLocks xmlns:a="http://schemas.openxmlformats.org/drawingml/2006/main" noGrp="1"/>
          </p:cNvSpPr>
          <p:nvPr/>
        </p:nvSpPr>
        <p:spPr>
          <a:xfrm xmlns:a="http://schemas.openxmlformats.org/drawingml/2006/main">
            <a:off x="3556000" y="3149600"/>
            <a:ext cx="3211836" cy="419100"/>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4CA38A77-F51D-47F1-81FF-D4F27E176CD0}"/>
              </a:ext>
            </a:extLst>
          </p:cNvPr>
          <p:cNvSpPr>
            <a:spLocks xmlns:a="http://schemas.openxmlformats.org/drawingml/2006/main" noGrp="1"/>
          </p:cNvSpPr>
          <p:nvPr/>
        </p:nvSpPr>
        <p:spPr>
          <a:xfrm xmlns:a="http://schemas.openxmlformats.org/drawingml/2006/main">
            <a:off x="9525000" y="3149600"/>
            <a:ext cx="2032000" cy="508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203430"/>
                </a:solidFill>
                <a:latin typeface="Arial"/>
                <a:ea typeface="Arial"/>
                <a:cs typeface="Arial"/>
              </a:defRPr>
            </a:pPr>
            <a:r>
              <a:t>$1,682,507</a:t>
            </a:r>
          </a:p>
        </p:txBody>
      </p:sp>
      <p:sp>
        <p:nvSpPr>
          <p:cNvPr id="10" name="TextBox 9">
            <a:extLst xmlns:a="http://schemas.openxmlformats.org/drawingml/2006/main">
              <a:ext uri="{FF2B5EF4-FFF2-40B4-BE49-F238E27FC236}">
                <a16:creationId xmlns:a16="http://schemas.microsoft.com/office/drawing/2014/main" id="{AA547278-CA12-4DD7-AF43-5BC6FC7197A1}"/>
              </a:ext>
            </a:extLst>
          </p:cNvPr>
          <p:cNvSpPr>
            <a:spLocks xmlns:a="http://schemas.openxmlformats.org/drawingml/2006/main" noGrp="1"/>
          </p:cNvSpPr>
          <p:nvPr/>
        </p:nvSpPr>
        <p:spPr>
          <a:xfrm xmlns:a="http://schemas.openxmlformats.org/drawingml/2006/main">
            <a:off x="609600" y="4203700"/>
            <a:ext cx="2794000" cy="571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17473D"/>
                </a:solidFill>
                <a:latin typeface="Arial"/>
                <a:ea typeface="Arial"/>
                <a:cs typeface="Arial"/>
              </a:defRPr>
            </a:pPr>
            <a:r>
              <a:t>PW 5476 | 4.82 sigma</a:t>
            </a:r>
          </a:p>
        </p:txBody>
      </p:sp>
      <p:sp>
        <p:nvSpPr>
          <p:cNvPr id="11" name="Rectangle 10">
            <a:extLst xmlns:a="http://schemas.openxmlformats.org/drawingml/2006/main">
              <a:ext uri="{FF2B5EF4-FFF2-40B4-BE49-F238E27FC236}">
                <a16:creationId xmlns:a16="http://schemas.microsoft.com/office/drawing/2014/main" id="{BBF22B2E-A310-477F-8633-C667A36C7D3E}"/>
              </a:ext>
            </a:extLst>
          </p:cNvPr>
          <p:cNvSpPr>
            <a:spLocks xmlns:a="http://schemas.openxmlformats.org/drawingml/2006/main" noGrp="1"/>
          </p:cNvSpPr>
          <p:nvPr/>
        </p:nvSpPr>
        <p:spPr>
          <a:xfrm xmlns:a="http://schemas.openxmlformats.org/drawingml/2006/main">
            <a:off x="3556000" y="4203700"/>
            <a:ext cx="2955358" cy="419100"/>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FC2AE9B-054B-479C-AA77-CDEBD5BC4DDE}"/>
              </a:ext>
            </a:extLst>
          </p:cNvPr>
          <p:cNvSpPr>
            <a:spLocks xmlns:a="http://schemas.openxmlformats.org/drawingml/2006/main" noGrp="1"/>
          </p:cNvSpPr>
          <p:nvPr/>
        </p:nvSpPr>
        <p:spPr>
          <a:xfrm xmlns:a="http://schemas.openxmlformats.org/drawingml/2006/main">
            <a:off x="9525000" y="4203700"/>
            <a:ext cx="2032000" cy="508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261"/>
              </a:lnSpc>
              <a:spcBef>
                <a:spcPts val="0"/>
              </a:spcBef>
              <a:spcAft>
                <a:spcPts val="0"/>
              </a:spcAft>
              <a:buNone/>
              <a:defRPr sz="1900" b="1">
                <a:solidFill>
                  <a:srgbClr val="203430"/>
                </a:solidFill>
                <a:latin typeface="Arial"/>
                <a:ea typeface="Arial"/>
                <a:cs typeface="Arial"/>
              </a:defRPr>
            </a:pPr>
            <a:r>
              <a:t>$1,548,152</a:t>
            </a:r>
          </a:p>
        </p:txBody>
      </p:sp>
      <p:sp>
        <p:nvSpPr>
          <p:cNvPr id="13" name="TextBox 12">
            <a:extLst xmlns:a="http://schemas.openxmlformats.org/drawingml/2006/main">
              <a:ext uri="{FF2B5EF4-FFF2-40B4-BE49-F238E27FC236}">
                <a16:creationId xmlns:a16="http://schemas.microsoft.com/office/drawing/2014/main" id="{29CD2446-267B-4727-9128-30651B4FD91D}"/>
              </a:ext>
            </a:extLst>
          </p:cNvPr>
          <p:cNvSpPr>
            <a:spLocks xmlns:a="http://schemas.openxmlformats.org/drawingml/2006/main" noGrp="1"/>
          </p:cNvSpPr>
          <p:nvPr/>
        </p:nvSpPr>
        <p:spPr>
          <a:xfrm xmlns:a="http://schemas.openxmlformats.org/drawingml/2006/main">
            <a:off x="609600" y="5562600"/>
            <a:ext cx="10896600" cy="508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546963"/>
                </a:solidFill>
                <a:latin typeface="Arial"/>
                <a:ea typeface="Arial"/>
                <a:cs typeface="Arial"/>
              </a:defRPr>
            </a:pPr>
            <a:r>
              <a:t>179 records | FL disaster 4673 | Category C | 3-sigma screen | Not a finding</a:t>
            </a:r>
          </a:p>
        </p:txBody>
      </p:sp>
      <p:sp>
        <p:nvSpPr>
          <p:cNvPr id="14" name="TextBox 13">
            <a:extLst xmlns:a="http://schemas.openxmlformats.org/drawingml/2006/main">
              <a:ext uri="{FF2B5EF4-FFF2-40B4-BE49-F238E27FC236}">
                <a16:creationId xmlns:a16="http://schemas.microsoft.com/office/drawing/2014/main" id="{CB55D4DB-CA35-48E0-B9AD-00A36F57BE65}"/>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5" name="TextBox 14">
            <a:extLst xmlns:a="http://schemas.openxmlformats.org/drawingml/2006/main">
              <a:ext uri="{FF2B5EF4-FFF2-40B4-BE49-F238E27FC236}">
                <a16:creationId xmlns:a16="http://schemas.microsoft.com/office/drawing/2014/main" id="{B45B50E8-9EC4-4560-8D59-8704309A5738}"/>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06</a:t>
            </a:r>
          </a:p>
        </p:txBody>
      </p:sp>
    </p:spTree>
    <p:extLst>
      <p:ext uri="{BB962C8B-B14F-4D97-AF65-F5344CB8AC3E}">
        <p14:creationId xmlns:p14="http://schemas.microsoft.com/office/powerpoint/2010/main" val="12277941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6D9F03B-4728-4070-9816-901FE8BA3A38}"/>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06 | POLICY CONTEXT</a:t>
            </a:r>
          </a:p>
        </p:txBody>
      </p:sp>
      <p:sp>
        <p:nvSpPr>
          <p:cNvPr id="3" name="TextBox 2">
            <a:extLst xmlns:a="http://schemas.openxmlformats.org/drawingml/2006/main">
              <a:ext uri="{FF2B5EF4-FFF2-40B4-BE49-F238E27FC236}">
                <a16:creationId xmlns:a16="http://schemas.microsoft.com/office/drawing/2014/main" id="{5FEF2CC5-89D5-4E8E-8071-454F3F6B277F}"/>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238 flags are not 238 proven problems.</a:t>
            </a:r>
          </a:p>
        </p:txBody>
      </p:sp>
      <p:sp>
        <p:nvSpPr>
          <p:cNvPr id="4" name="TextBox 3">
            <a:extLst xmlns:a="http://schemas.openxmlformats.org/drawingml/2006/main">
              <a:ext uri="{FF2B5EF4-FFF2-40B4-BE49-F238E27FC236}">
                <a16:creationId xmlns:a16="http://schemas.microsoft.com/office/drawing/2014/main" id="{0A0B2BF0-C2A4-4FDC-AA15-B7CF7109B82B}"/>
              </a:ext>
            </a:extLst>
          </p:cNvPr>
          <p:cNvSpPr>
            <a:spLocks xmlns:a="http://schemas.openxmlformats.org/drawingml/2006/main" noGrp="1"/>
          </p:cNvSpPr>
          <p:nvPr/>
        </p:nvSpPr>
        <p:spPr>
          <a:xfrm xmlns:a="http://schemas.openxmlformats.org/drawingml/2006/main">
            <a:off x="609600" y="1981200"/>
            <a:ext cx="3937000" cy="1270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8568"/>
              </a:lnSpc>
              <a:spcBef>
                <a:spcPts val="0"/>
              </a:spcBef>
              <a:spcAft>
                <a:spcPts val="0"/>
              </a:spcAft>
              <a:buNone/>
              <a:defRPr sz="7200" b="1">
                <a:solidFill>
                  <a:srgbClr val="147D71"/>
                </a:solidFill>
                <a:latin typeface="Arial"/>
                <a:ea typeface="Arial"/>
                <a:cs typeface="Arial"/>
              </a:defRPr>
            </a:pPr>
            <a:r>
              <a:t>238</a:t>
            </a:r>
          </a:p>
        </p:txBody>
      </p:sp>
      <p:sp>
        <p:nvSpPr>
          <p:cNvPr id="5" name="TextBox 4">
            <a:extLst xmlns:a="http://schemas.openxmlformats.org/drawingml/2006/main">
              <a:ext uri="{FF2B5EF4-FFF2-40B4-BE49-F238E27FC236}">
                <a16:creationId xmlns:a16="http://schemas.microsoft.com/office/drawing/2014/main" id="{163078BD-11B1-4368-935C-6B6A04CCD8E5}"/>
              </a:ext>
            </a:extLst>
          </p:cNvPr>
          <p:cNvSpPr>
            <a:spLocks xmlns:a="http://schemas.openxmlformats.org/drawingml/2006/main" noGrp="1"/>
          </p:cNvSpPr>
          <p:nvPr/>
        </p:nvSpPr>
        <p:spPr>
          <a:xfrm xmlns:a="http://schemas.openxmlformats.org/drawingml/2006/main">
            <a:off x="609600" y="3429000"/>
            <a:ext cx="4318000" cy="1206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856"/>
              </a:lnSpc>
              <a:spcBef>
                <a:spcPts val="0"/>
              </a:spcBef>
              <a:spcAft>
                <a:spcPts val="0"/>
              </a:spcAft>
              <a:buNone/>
              <a:defRPr sz="2400" b="1">
                <a:solidFill>
                  <a:srgbClr val="17473D"/>
                </a:solidFill>
                <a:latin typeface="Arial"/>
                <a:ea typeface="Arial"/>
                <a:cs typeface="Arial"/>
              </a:defRPr>
            </a:pPr>
            <a:r>
              <a:t>Threshold exceptions</a:t>
            </a:r>
          </a:p>
          <a:p xmlns:a="http://schemas.openxmlformats.org/drawingml/2006/main">
            <a:pPr>
              <a:lnSpc>
                <a:spcPts val="2856"/>
              </a:lnSpc>
              <a:spcBef>
                <a:spcPts val="0"/>
              </a:spcBef>
              <a:spcAft>
                <a:spcPts val="0"/>
              </a:spcAft>
              <a:buNone/>
              <a:defRPr sz="2400" b="1">
                <a:solidFill>
                  <a:srgbClr val="17473D"/>
                </a:solidFill>
                <a:latin typeface="Arial"/>
                <a:ea typeface="Arial"/>
                <a:cs typeface="Arial"/>
              </a:defRPr>
            </a:pPr>
            <a:r>
              <a:t>in one tested subset</a:t>
            </a:r>
          </a:p>
        </p:txBody>
      </p:sp>
      <p:sp>
        <p:nvSpPr>
          <p:cNvPr id="6" name="TextBox 5">
            <a:extLst xmlns:a="http://schemas.openxmlformats.org/drawingml/2006/main">
              <a:ext uri="{FF2B5EF4-FFF2-40B4-BE49-F238E27FC236}">
                <a16:creationId xmlns:a16="http://schemas.microsoft.com/office/drawing/2014/main" id="{2999C5B5-0835-49CF-8C23-3A9D56B85D6F}"/>
              </a:ext>
            </a:extLst>
          </p:cNvPr>
          <p:cNvSpPr>
            <a:spLocks xmlns:a="http://schemas.openxmlformats.org/drawingml/2006/main" noGrp="1"/>
          </p:cNvSpPr>
          <p:nvPr/>
        </p:nvSpPr>
        <p:spPr>
          <a:xfrm xmlns:a="http://schemas.openxmlformats.org/drawingml/2006/main">
            <a:off x="5842000" y="2057400"/>
            <a:ext cx="5588000" cy="2921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Band: 0.70 to 0.95</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Minimum total: $100,000</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FL disaster: 4734</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Declaration-specific authority is not</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verified.</a:t>
            </a:r>
          </a:p>
        </p:txBody>
      </p:sp>
      <p:sp>
        <p:nvSpPr>
          <p:cNvPr id="7" name="Rectangle 6">
            <a:extLst xmlns:a="http://schemas.openxmlformats.org/drawingml/2006/main">
              <a:ext uri="{FF2B5EF4-FFF2-40B4-BE49-F238E27FC236}">
                <a16:creationId xmlns:a16="http://schemas.microsoft.com/office/drawing/2014/main" id="{30864257-136D-4184-8241-8393057DB516}"/>
              </a:ext>
            </a:extLst>
          </p:cNvPr>
          <p:cNvSpPr>
            <a:spLocks xmlns:a="http://schemas.openxmlformats.org/drawingml/2006/main" noGrp="1"/>
          </p:cNvSpPr>
          <p:nvPr/>
        </p:nvSpPr>
        <p:spPr>
          <a:xfrm xmlns:a="http://schemas.openxmlformats.org/drawingml/2006/main">
            <a:off x="609600" y="5435600"/>
            <a:ext cx="10972800" cy="609600"/>
          </a:xfrm>
          <a:prstGeom xmlns:a="http://schemas.openxmlformats.org/drawingml/2006/main" prst="rect">
            <a:avLst/>
          </a:prstGeom>
          <a:solidFill xmlns:a="http://schemas.openxmlformats.org/drawingml/2006/main">
            <a:srgbClr val="FFF1D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77DD1E6-5B4F-47B6-8475-8906E6FBE643}"/>
              </a:ext>
            </a:extLst>
          </p:cNvPr>
          <p:cNvSpPr>
            <a:spLocks xmlns:a="http://schemas.openxmlformats.org/drawingml/2006/main" noGrp="1"/>
          </p:cNvSpPr>
          <p:nvPr/>
        </p:nvSpPr>
        <p:spPr>
          <a:xfrm xmlns:a="http://schemas.openxmlformats.org/drawingml/2006/main">
            <a:off x="787400" y="5588000"/>
            <a:ext cx="10604500" cy="342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1">
                <a:solidFill>
                  <a:srgbClr val="A86614"/>
                </a:solidFill>
                <a:latin typeface="Arial"/>
                <a:ea typeface="Arial"/>
                <a:cs typeface="Arial"/>
              </a:defRPr>
            </a:pPr>
            <a:r>
              <a:t>A ratio is a screening input. Authorization needs separate evidence.</a:t>
            </a:r>
          </a:p>
        </p:txBody>
      </p:sp>
      <p:sp>
        <p:nvSpPr>
          <p:cNvPr id="9" name="TextBox 8">
            <a:extLst xmlns:a="http://schemas.openxmlformats.org/drawingml/2006/main">
              <a:ext uri="{FF2B5EF4-FFF2-40B4-BE49-F238E27FC236}">
                <a16:creationId xmlns:a16="http://schemas.microsoft.com/office/drawing/2014/main" id="{5B31BF99-8105-44EF-BD8C-9422F39B4D4C}"/>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0" name="TextBox 9">
            <a:extLst xmlns:a="http://schemas.openxmlformats.org/drawingml/2006/main">
              <a:ext uri="{FF2B5EF4-FFF2-40B4-BE49-F238E27FC236}">
                <a16:creationId xmlns:a16="http://schemas.microsoft.com/office/drawing/2014/main" id="{E117EB7C-5547-4080-A803-E90ECFCDFFFF}"/>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07</a:t>
            </a:r>
          </a:p>
        </p:txBody>
      </p:sp>
    </p:spTree>
    <p:extLst>
      <p:ext uri="{BB962C8B-B14F-4D97-AF65-F5344CB8AC3E}">
        <p14:creationId xmlns:p14="http://schemas.microsoft.com/office/powerpoint/2010/main" val="20404986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04FF0A1-DB16-49A3-8C42-E6AD6197D718}"/>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07 | EVIDENCE</a:t>
            </a:r>
          </a:p>
        </p:txBody>
      </p:sp>
      <p:sp>
        <p:nvSpPr>
          <p:cNvPr id="3" name="TextBox 2">
            <a:extLst xmlns:a="http://schemas.openxmlformats.org/drawingml/2006/main">
              <a:ext uri="{FF2B5EF4-FFF2-40B4-BE49-F238E27FC236}">
                <a16:creationId xmlns:a16="http://schemas.microsoft.com/office/drawing/2014/main" id="{EB1DE6FB-506F-4A6E-8AEC-4C7C640EFC12}"/>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Preserve the project identity and the limits.</a:t>
            </a:r>
          </a:p>
        </p:txBody>
      </p:sp>
      <p:sp>
        <p:nvSpPr>
          <p:cNvPr id="4" name="Rectangle 3">
            <a:extLst xmlns:a="http://schemas.openxmlformats.org/drawingml/2006/main">
              <a:ext uri="{FF2B5EF4-FFF2-40B4-BE49-F238E27FC236}">
                <a16:creationId xmlns:a16="http://schemas.microsoft.com/office/drawing/2014/main" id="{A1C4824C-DB22-4E89-9D6F-BA0D5666EC73}"/>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C7866AA-092D-4E96-B6A3-A742578FE025}"/>
              </a:ext>
            </a:extLst>
          </p:cNvPr>
          <p:cNvSpPr>
            <a:spLocks xmlns:a="http://schemas.openxmlformats.org/drawingml/2006/main" noGrp="1"/>
          </p:cNvSpPr>
          <p:nvPr/>
        </p:nvSpPr>
        <p:spPr>
          <a:xfrm xmlns:a="http://schemas.openxmlformats.org/drawingml/2006/main">
            <a:off x="723900" y="2133600"/>
            <a:ext cx="3390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Identity</a:t>
            </a:r>
          </a:p>
        </p:txBody>
      </p:sp>
      <p:sp>
        <p:nvSpPr>
          <p:cNvPr id="6" name="TextBox 5">
            <a:extLst xmlns:a="http://schemas.openxmlformats.org/drawingml/2006/main">
              <a:ext uri="{FF2B5EF4-FFF2-40B4-BE49-F238E27FC236}">
                <a16:creationId xmlns:a16="http://schemas.microsoft.com/office/drawing/2014/main" id="{3A36E9CB-AE8E-4F00-8DED-531BA39299D2}"/>
              </a:ext>
            </a:extLst>
          </p:cNvPr>
          <p:cNvSpPr>
            <a:spLocks xmlns:a="http://schemas.openxmlformats.org/drawingml/2006/main" noGrp="1"/>
          </p:cNvSpPr>
          <p:nvPr/>
        </p:nvSpPr>
        <p:spPr>
          <a:xfrm xmlns:a="http://schemas.openxmlformats.org/drawingml/2006/main">
            <a:off x="4343400" y="2133600"/>
            <a:ext cx="7124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Reference record</a:t>
            </a:r>
          </a:p>
        </p:txBody>
      </p:sp>
      <p:sp>
        <p:nvSpPr>
          <p:cNvPr id="7" name="TextBox 6">
            <a:extLst xmlns:a="http://schemas.openxmlformats.org/drawingml/2006/main">
              <a:ext uri="{FF2B5EF4-FFF2-40B4-BE49-F238E27FC236}">
                <a16:creationId xmlns:a16="http://schemas.microsoft.com/office/drawing/2014/main" id="{17ACE021-D691-487F-8D07-F2DF4C8E3BB8}"/>
              </a:ext>
            </a:extLst>
          </p:cNvPr>
          <p:cNvSpPr>
            <a:spLocks xmlns:a="http://schemas.openxmlformats.org/drawingml/2006/main" noGrp="1"/>
          </p:cNvSpPr>
          <p:nvPr/>
        </p:nvSpPr>
        <p:spPr>
          <a:xfrm xmlns:a="http://schemas.openxmlformats.org/drawingml/2006/main">
            <a:off x="723900" y="2794000"/>
            <a:ext cx="3390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Disaster / worksheet</a:t>
            </a:r>
          </a:p>
        </p:txBody>
      </p:sp>
      <p:sp>
        <p:nvSpPr>
          <p:cNvPr id="8" name="TextBox 7">
            <a:extLst xmlns:a="http://schemas.openxmlformats.org/drawingml/2006/main">
              <a:ext uri="{FF2B5EF4-FFF2-40B4-BE49-F238E27FC236}">
                <a16:creationId xmlns:a16="http://schemas.microsoft.com/office/drawing/2014/main" id="{9690E061-BFF3-4089-9349-AB9D2395C867}"/>
              </a:ext>
            </a:extLst>
          </p:cNvPr>
          <p:cNvSpPr>
            <a:spLocks xmlns:a="http://schemas.openxmlformats.org/drawingml/2006/main" noGrp="1"/>
          </p:cNvSpPr>
          <p:nvPr/>
        </p:nvSpPr>
        <p:spPr>
          <a:xfrm xmlns:a="http://schemas.openxmlformats.org/drawingml/2006/main">
            <a:off x="4343400" y="2794000"/>
            <a:ext cx="7124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4734 / 169</a:t>
            </a:r>
          </a:p>
        </p:txBody>
      </p:sp>
      <p:sp>
        <p:nvSpPr>
          <p:cNvPr id="9" name="TextBox 8">
            <a:extLst xmlns:a="http://schemas.openxmlformats.org/drawingml/2006/main">
              <a:ext uri="{FF2B5EF4-FFF2-40B4-BE49-F238E27FC236}">
                <a16:creationId xmlns:a16="http://schemas.microsoft.com/office/drawing/2014/main" id="{D3E43641-4E53-46B7-A6D5-456F645DC91A}"/>
              </a:ext>
            </a:extLst>
          </p:cNvPr>
          <p:cNvSpPr>
            <a:spLocks xmlns:a="http://schemas.openxmlformats.org/drawingml/2006/main" noGrp="1"/>
          </p:cNvSpPr>
          <p:nvPr/>
        </p:nvSpPr>
        <p:spPr>
          <a:xfrm xmlns:a="http://schemas.openxmlformats.org/drawingml/2006/main">
            <a:off x="723900" y="3454400"/>
            <a:ext cx="3390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Applicant</a:t>
            </a:r>
          </a:p>
        </p:txBody>
      </p:sp>
      <p:sp>
        <p:nvSpPr>
          <p:cNvPr id="10" name="TextBox 9">
            <a:extLst xmlns:a="http://schemas.openxmlformats.org/drawingml/2006/main">
              <a:ext uri="{FF2B5EF4-FFF2-40B4-BE49-F238E27FC236}">
                <a16:creationId xmlns:a16="http://schemas.microsoft.com/office/drawing/2014/main" id="{A8107F57-D933-446E-A709-0A05E79E98F4}"/>
              </a:ext>
            </a:extLst>
          </p:cNvPr>
          <p:cNvSpPr>
            <a:spLocks xmlns:a="http://schemas.openxmlformats.org/drawingml/2006/main" noGrp="1"/>
          </p:cNvSpPr>
          <p:nvPr/>
        </p:nvSpPr>
        <p:spPr>
          <a:xfrm xmlns:a="http://schemas.openxmlformats.org/drawingml/2006/main">
            <a:off x="4343400" y="3454400"/>
            <a:ext cx="7124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123-0BE2A-00</a:t>
            </a:r>
          </a:p>
        </p:txBody>
      </p:sp>
      <p:sp>
        <p:nvSpPr>
          <p:cNvPr id="11" name="TextBox 10">
            <a:extLst xmlns:a="http://schemas.openxmlformats.org/drawingml/2006/main">
              <a:ext uri="{FF2B5EF4-FFF2-40B4-BE49-F238E27FC236}">
                <a16:creationId xmlns:a16="http://schemas.microsoft.com/office/drawing/2014/main" id="{6E38BCC2-1AB5-4B62-AE9B-718CD3CA43D7}"/>
              </a:ext>
            </a:extLst>
          </p:cNvPr>
          <p:cNvSpPr>
            <a:spLocks xmlns:a="http://schemas.openxmlformats.org/drawingml/2006/main" noGrp="1"/>
          </p:cNvSpPr>
          <p:nvPr/>
        </p:nvSpPr>
        <p:spPr>
          <a:xfrm xmlns:a="http://schemas.openxmlformats.org/drawingml/2006/main">
            <a:off x="723900" y="4114800"/>
            <a:ext cx="3390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Project</a:t>
            </a:r>
          </a:p>
        </p:txBody>
      </p:sp>
      <p:sp>
        <p:nvSpPr>
          <p:cNvPr id="12" name="TextBox 11">
            <a:extLst xmlns:a="http://schemas.openxmlformats.org/drawingml/2006/main">
              <a:ext uri="{FF2B5EF4-FFF2-40B4-BE49-F238E27FC236}">
                <a16:creationId xmlns:a16="http://schemas.microsoft.com/office/drawing/2014/main" id="{2F61F746-4F98-46E6-8AF9-E1DA8493FA47}"/>
              </a:ext>
            </a:extLst>
          </p:cNvPr>
          <p:cNvSpPr>
            <a:spLocks xmlns:a="http://schemas.openxmlformats.org/drawingml/2006/main" noGrp="1"/>
          </p:cNvSpPr>
          <p:nvPr/>
        </p:nvSpPr>
        <p:spPr>
          <a:xfrm xmlns:a="http://schemas.openxmlformats.org/drawingml/2006/main">
            <a:off x="4343400" y="4114800"/>
            <a:ext cx="7124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Taylor County Middle School Campus</a:t>
            </a:r>
          </a:p>
        </p:txBody>
      </p:sp>
      <p:sp>
        <p:nvSpPr>
          <p:cNvPr id="13" name="TextBox 12">
            <a:extLst xmlns:a="http://schemas.openxmlformats.org/drawingml/2006/main">
              <a:ext uri="{FF2B5EF4-FFF2-40B4-BE49-F238E27FC236}">
                <a16:creationId xmlns:a16="http://schemas.microsoft.com/office/drawing/2014/main" id="{3DD78C24-01C2-4B3D-B65F-F6BB3F1EEBBF}"/>
              </a:ext>
            </a:extLst>
          </p:cNvPr>
          <p:cNvSpPr>
            <a:spLocks xmlns:a="http://schemas.openxmlformats.org/drawingml/2006/main" noGrp="1"/>
          </p:cNvSpPr>
          <p:nvPr/>
        </p:nvSpPr>
        <p:spPr>
          <a:xfrm xmlns:a="http://schemas.openxmlformats.org/drawingml/2006/main">
            <a:off x="723900" y="4775200"/>
            <a:ext cx="3390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Federal / total obligated</a:t>
            </a:r>
          </a:p>
        </p:txBody>
      </p:sp>
      <p:sp>
        <p:nvSpPr>
          <p:cNvPr id="14" name="TextBox 13">
            <a:extLst xmlns:a="http://schemas.openxmlformats.org/drawingml/2006/main">
              <a:ext uri="{FF2B5EF4-FFF2-40B4-BE49-F238E27FC236}">
                <a16:creationId xmlns:a16="http://schemas.microsoft.com/office/drawing/2014/main" id="{409936F5-06D9-4940-B3A5-10181950DB26}"/>
              </a:ext>
            </a:extLst>
          </p:cNvPr>
          <p:cNvSpPr>
            <a:spLocks xmlns:a="http://schemas.openxmlformats.org/drawingml/2006/main" noGrp="1"/>
          </p:cNvSpPr>
          <p:nvPr/>
        </p:nvSpPr>
        <p:spPr>
          <a:xfrm xmlns:a="http://schemas.openxmlformats.org/drawingml/2006/main">
            <a:off x="4343400" y="4775200"/>
            <a:ext cx="7124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$975,499.80 / $975,499.80</a:t>
            </a:r>
          </a:p>
        </p:txBody>
      </p:sp>
      <p:sp>
        <p:nvSpPr>
          <p:cNvPr id="15" name="TextBox 14">
            <a:extLst xmlns:a="http://schemas.openxmlformats.org/drawingml/2006/main">
              <a:ext uri="{FF2B5EF4-FFF2-40B4-BE49-F238E27FC236}">
                <a16:creationId xmlns:a16="http://schemas.microsoft.com/office/drawing/2014/main" id="{49822053-89D6-4967-9227-F7E02FCA1FE8}"/>
              </a:ext>
            </a:extLst>
          </p:cNvPr>
          <p:cNvSpPr>
            <a:spLocks xmlns:a="http://schemas.openxmlformats.org/drawingml/2006/main" noGrp="1"/>
          </p:cNvSpPr>
          <p:nvPr/>
        </p:nvSpPr>
        <p:spPr>
          <a:xfrm xmlns:a="http://schemas.openxmlformats.org/drawingml/2006/main">
            <a:off x="609600" y="5740400"/>
            <a:ext cx="10972800" cy="431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784"/>
              </a:lnSpc>
              <a:spcBef>
                <a:spcPts val="0"/>
              </a:spcBef>
              <a:spcAft>
                <a:spcPts val="0"/>
              </a:spcAft>
              <a:buNone/>
              <a:defRPr sz="1500" b="0">
                <a:solidFill>
                  <a:srgbClr val="546963"/>
                </a:solidFill>
                <a:latin typeface="Arial"/>
                <a:ea typeface="Arial"/>
                <a:cs typeface="Arial"/>
              </a:defRPr>
            </a:pPr>
            <a:r>
              <a:t>The brief packages evidence; it does not adjudicate eligibility or revalidate the trigger.</a:t>
            </a:r>
          </a:p>
        </p:txBody>
      </p:sp>
      <p:sp>
        <p:nvSpPr>
          <p:cNvPr id="16" name="TextBox 15">
            <a:extLst xmlns:a="http://schemas.openxmlformats.org/drawingml/2006/main">
              <a:ext uri="{FF2B5EF4-FFF2-40B4-BE49-F238E27FC236}">
                <a16:creationId xmlns:a16="http://schemas.microsoft.com/office/drawing/2014/main" id="{DB9FBC26-D8F1-4A9F-9FA8-10D3EF521C82}"/>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7" name="TextBox 16">
            <a:extLst xmlns:a="http://schemas.openxmlformats.org/drawingml/2006/main">
              <a:ext uri="{FF2B5EF4-FFF2-40B4-BE49-F238E27FC236}">
                <a16:creationId xmlns:a16="http://schemas.microsoft.com/office/drawing/2014/main" id="{8082AA38-9D99-406F-AEBD-F20BFE80A8FF}"/>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08</a:t>
            </a:r>
          </a:p>
        </p:txBody>
      </p:sp>
    </p:spTree>
    <p:extLst>
      <p:ext uri="{BB962C8B-B14F-4D97-AF65-F5344CB8AC3E}">
        <p14:creationId xmlns:p14="http://schemas.microsoft.com/office/powerpoint/2010/main" val="7651523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639F77-AABC-4097-813C-068707E6A190}"/>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08 | EVALUATION DESIGN</a:t>
            </a:r>
          </a:p>
        </p:txBody>
      </p:sp>
      <p:sp>
        <p:nvSpPr>
          <p:cNvPr id="3" name="TextBox 2">
            <a:extLst xmlns:a="http://schemas.openxmlformats.org/drawingml/2006/main">
              <a:ext uri="{FF2B5EF4-FFF2-40B4-BE49-F238E27FC236}">
                <a16:creationId xmlns:a16="http://schemas.microsoft.com/office/drawing/2014/main" id="{8F8FB25C-5F6E-4D48-8E7E-51592CAA30DC}"/>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The same inputs. Two independent calculations.</a:t>
            </a:r>
          </a:p>
        </p:txBody>
      </p:sp>
      <p:sp>
        <p:nvSpPr>
          <p:cNvPr id="4" name="TextBox 3">
            <a:extLst xmlns:a="http://schemas.openxmlformats.org/drawingml/2006/main">
              <a:ext uri="{FF2B5EF4-FFF2-40B4-BE49-F238E27FC236}">
                <a16:creationId xmlns:a16="http://schemas.microsoft.com/office/drawing/2014/main" id="{4C69CA0A-494E-4C9C-8380-FA4E43A9CAC9}"/>
              </a:ext>
            </a:extLst>
          </p:cNvPr>
          <p:cNvSpPr>
            <a:spLocks xmlns:a="http://schemas.openxmlformats.org/drawingml/2006/main" noGrp="1"/>
          </p:cNvSpPr>
          <p:nvPr/>
        </p:nvSpPr>
        <p:spPr>
          <a:xfrm xmlns:a="http://schemas.openxmlformats.org/drawingml/2006/main">
            <a:off x="609600" y="1905000"/>
            <a:ext cx="5207000" cy="3556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Actual registered MCP tools</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 archived source snapshots</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 independent SQLite controls</a:t>
            </a:r>
          </a:p>
        </p:txBody>
      </p:sp>
      <p:sp>
        <p:nvSpPr>
          <p:cNvPr id="5" name="TextBox 4">
            <a:extLst xmlns:a="http://schemas.openxmlformats.org/drawingml/2006/main">
              <a:ext uri="{FF2B5EF4-FFF2-40B4-BE49-F238E27FC236}">
                <a16:creationId xmlns:a16="http://schemas.microsoft.com/office/drawing/2014/main" id="{41149664-5B6A-46A1-ADEF-9249047AADAF}"/>
              </a:ext>
            </a:extLst>
          </p:cNvPr>
          <p:cNvSpPr>
            <a:spLocks xmlns:a="http://schemas.openxmlformats.org/drawingml/2006/main" noGrp="1"/>
          </p:cNvSpPr>
          <p:nvPr/>
        </p:nvSpPr>
        <p:spPr>
          <a:xfrm xmlns:a="http://schemas.openxmlformats.org/drawingml/2006/main">
            <a:off x="6477000" y="1930400"/>
            <a:ext cx="3781425" cy="1812798"/>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64 automated cases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Three live calls per detection tool</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15 first-tool questions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Three model workflows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Raw outputs and hashes retained</a:t>
            </a:r>
          </a:p>
        </p:txBody>
      </p:sp>
      <p:sp>
        <p:nvSpPr>
          <p:cNvPr id="6" name="TextBox 5">
            <a:extLst xmlns:a="http://schemas.openxmlformats.org/drawingml/2006/main">
              <a:ext uri="{FF2B5EF4-FFF2-40B4-BE49-F238E27FC236}">
                <a16:creationId xmlns:a16="http://schemas.microsoft.com/office/drawing/2014/main" id="{FF238528-3658-4E4B-ADB6-681E22F91250}"/>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7" name="TextBox 6">
            <a:extLst xmlns:a="http://schemas.openxmlformats.org/drawingml/2006/main">
              <a:ext uri="{FF2B5EF4-FFF2-40B4-BE49-F238E27FC236}">
                <a16:creationId xmlns:a16="http://schemas.microsoft.com/office/drawing/2014/main" id="{FAE6F7BD-D94D-4813-82E6-3D204D74AD45}"/>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09</a:t>
            </a:r>
          </a:p>
        </p:txBody>
      </p:sp>
    </p:spTree>
    <p:extLst>
      <p:ext uri="{BB962C8B-B14F-4D97-AF65-F5344CB8AC3E}">
        <p14:creationId xmlns:p14="http://schemas.microsoft.com/office/powerpoint/2010/main" val="20021658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957BB60-FED0-4FCA-91DB-C1D9B8BEF36E}"/>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09 | MEASURED RESULTS</a:t>
            </a:r>
          </a:p>
        </p:txBody>
      </p:sp>
      <p:sp>
        <p:nvSpPr>
          <p:cNvPr id="3" name="TextBox 2">
            <a:extLst xmlns:a="http://schemas.openxmlformats.org/drawingml/2006/main">
              <a:ext uri="{FF2B5EF4-FFF2-40B4-BE49-F238E27FC236}">
                <a16:creationId xmlns:a16="http://schemas.microsoft.com/office/drawing/2014/main" id="{E2DF0103-B1FA-4FA4-B081-B4763C039E60}"/>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Evidence, not target percentages.</a:t>
            </a:r>
          </a:p>
        </p:txBody>
      </p:sp>
      <p:sp>
        <p:nvSpPr>
          <p:cNvPr id="4" name="TextBox 3">
            <a:extLst xmlns:a="http://schemas.openxmlformats.org/drawingml/2006/main">
              <a:ext uri="{FF2B5EF4-FFF2-40B4-BE49-F238E27FC236}">
                <a16:creationId xmlns:a16="http://schemas.microsoft.com/office/drawing/2014/main" id="{D9C33D57-6BCA-46F4-9DB8-B6D9B1791D82}"/>
              </a:ext>
            </a:extLst>
          </p:cNvPr>
          <p:cNvSpPr>
            <a:spLocks xmlns:a="http://schemas.openxmlformats.org/drawingml/2006/main" noGrp="1"/>
          </p:cNvSpPr>
          <p:nvPr/>
        </p:nvSpPr>
        <p:spPr>
          <a:xfrm xmlns:a="http://schemas.openxmlformats.org/drawingml/2006/main">
            <a:off x="609600" y="2082800"/>
            <a:ext cx="1651000" cy="78587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6188"/>
              </a:lnSpc>
              <a:spcBef>
                <a:spcPts val="0"/>
              </a:spcBef>
              <a:spcAft>
                <a:spcPts val="0"/>
              </a:spcAft>
              <a:buNone/>
              <a:defRPr sz="5200" b="1">
                <a:solidFill>
                  <a:srgbClr val="147D71"/>
                </a:solidFill>
                <a:latin typeface="Arial"/>
                <a:ea typeface="Arial"/>
                <a:cs typeface="Arial"/>
              </a:defRPr>
            </a:pPr>
            <a:r>
              <a:t>64/64</a:t>
            </a:r>
          </a:p>
        </p:txBody>
      </p:sp>
      <p:sp>
        <p:nvSpPr>
          <p:cNvPr id="5" name="TextBox 4">
            <a:extLst xmlns:a="http://schemas.openxmlformats.org/drawingml/2006/main">
              <a:ext uri="{FF2B5EF4-FFF2-40B4-BE49-F238E27FC236}">
                <a16:creationId xmlns:a16="http://schemas.microsoft.com/office/drawing/2014/main" id="{1960924B-E37B-4D56-849F-37DF131F8EF6}"/>
              </a:ext>
            </a:extLst>
          </p:cNvPr>
          <p:cNvSpPr>
            <a:spLocks xmlns:a="http://schemas.openxmlformats.org/drawingml/2006/main" noGrp="1"/>
          </p:cNvSpPr>
          <p:nvPr/>
        </p:nvSpPr>
        <p:spPr>
          <a:xfrm xmlns:a="http://schemas.openxmlformats.org/drawingml/2006/main">
            <a:off x="609600" y="3429000"/>
            <a:ext cx="3365500" cy="889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1">
                <a:solidFill>
                  <a:srgbClr val="17473D"/>
                </a:solidFill>
                <a:latin typeface="Arial"/>
                <a:ea typeface="Arial"/>
                <a:cs typeface="Arial"/>
              </a:defRPr>
            </a:pPr>
            <a:r>
              <a:t>Automated tests</a:t>
            </a:r>
          </a:p>
        </p:txBody>
      </p:sp>
      <p:sp>
        <p:nvSpPr>
          <p:cNvPr id="6" name="TextBox 5">
            <a:extLst xmlns:a="http://schemas.openxmlformats.org/drawingml/2006/main">
              <a:ext uri="{FF2B5EF4-FFF2-40B4-BE49-F238E27FC236}">
                <a16:creationId xmlns:a16="http://schemas.microsoft.com/office/drawing/2014/main" id="{04E3DBCE-DBBD-449C-AC14-37AAE5625290}"/>
              </a:ext>
            </a:extLst>
          </p:cNvPr>
          <p:cNvSpPr>
            <a:spLocks xmlns:a="http://schemas.openxmlformats.org/drawingml/2006/main" noGrp="1"/>
          </p:cNvSpPr>
          <p:nvPr/>
        </p:nvSpPr>
        <p:spPr>
          <a:xfrm xmlns:a="http://schemas.openxmlformats.org/drawingml/2006/main">
            <a:off x="4381500" y="2082800"/>
            <a:ext cx="3403600" cy="1143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6188"/>
              </a:lnSpc>
              <a:spcBef>
                <a:spcPts val="0"/>
              </a:spcBef>
              <a:spcAft>
                <a:spcPts val="0"/>
              </a:spcAft>
              <a:buNone/>
              <a:defRPr sz="5200" b="1">
                <a:solidFill>
                  <a:srgbClr val="147D71"/>
                </a:solidFill>
                <a:latin typeface="Arial"/>
                <a:ea typeface="Arial"/>
                <a:cs typeface="Arial"/>
              </a:defRPr>
            </a:pPr>
            <a:r>
              <a:t>3/3</a:t>
            </a:r>
          </a:p>
        </p:txBody>
      </p:sp>
      <p:sp>
        <p:nvSpPr>
          <p:cNvPr id="7" name="TextBox 6">
            <a:extLst xmlns:a="http://schemas.openxmlformats.org/drawingml/2006/main">
              <a:ext uri="{FF2B5EF4-FFF2-40B4-BE49-F238E27FC236}">
                <a16:creationId xmlns:a16="http://schemas.microsoft.com/office/drawing/2014/main" id="{2E4600FB-32C3-431C-9FC8-DAD292833CDA}"/>
              </a:ext>
            </a:extLst>
          </p:cNvPr>
          <p:cNvSpPr>
            <a:spLocks xmlns:a="http://schemas.openxmlformats.org/drawingml/2006/main" noGrp="1"/>
          </p:cNvSpPr>
          <p:nvPr/>
        </p:nvSpPr>
        <p:spPr>
          <a:xfrm xmlns:a="http://schemas.openxmlformats.org/drawingml/2006/main">
            <a:off x="4381500" y="3429000"/>
            <a:ext cx="3365500" cy="889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1">
                <a:solidFill>
                  <a:srgbClr val="17473D"/>
                </a:solidFill>
                <a:latin typeface="Arial"/>
                <a:ea typeface="Arial"/>
                <a:cs typeface="Arial"/>
              </a:defRPr>
            </a:pPr>
            <a:r>
              <a:t>SQL control sets</a:t>
            </a:r>
          </a:p>
        </p:txBody>
      </p:sp>
      <p:sp>
        <p:nvSpPr>
          <p:cNvPr id="8" name="TextBox 7">
            <a:extLst xmlns:a="http://schemas.openxmlformats.org/drawingml/2006/main">
              <a:ext uri="{FF2B5EF4-FFF2-40B4-BE49-F238E27FC236}">
                <a16:creationId xmlns:a16="http://schemas.microsoft.com/office/drawing/2014/main" id="{91BD40FF-01C4-426B-B3F9-4C5A57E37B34}"/>
              </a:ext>
            </a:extLst>
          </p:cNvPr>
          <p:cNvSpPr>
            <a:spLocks xmlns:a="http://schemas.openxmlformats.org/drawingml/2006/main" noGrp="1"/>
          </p:cNvSpPr>
          <p:nvPr/>
        </p:nvSpPr>
        <p:spPr>
          <a:xfrm xmlns:a="http://schemas.openxmlformats.org/drawingml/2006/main">
            <a:off x="8153400" y="2082800"/>
            <a:ext cx="3403600" cy="1143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6188"/>
              </a:lnSpc>
              <a:spcBef>
                <a:spcPts val="0"/>
              </a:spcBef>
              <a:spcAft>
                <a:spcPts val="0"/>
              </a:spcAft>
              <a:buNone/>
              <a:defRPr sz="5200" b="1">
                <a:solidFill>
                  <a:srgbClr val="147D71"/>
                </a:solidFill>
                <a:latin typeface="Arial"/>
                <a:ea typeface="Arial"/>
                <a:cs typeface="Arial"/>
              </a:defRPr>
            </a:pPr>
            <a:r>
              <a:t>15/15</a:t>
            </a:r>
          </a:p>
        </p:txBody>
      </p:sp>
      <p:sp>
        <p:nvSpPr>
          <p:cNvPr id="9" name="TextBox 8">
            <a:extLst xmlns:a="http://schemas.openxmlformats.org/drawingml/2006/main">
              <a:ext uri="{FF2B5EF4-FFF2-40B4-BE49-F238E27FC236}">
                <a16:creationId xmlns:a16="http://schemas.microsoft.com/office/drawing/2014/main" id="{3E77F398-08DC-40F1-9962-03BFDECCA673}"/>
              </a:ext>
            </a:extLst>
          </p:cNvPr>
          <p:cNvSpPr>
            <a:spLocks xmlns:a="http://schemas.openxmlformats.org/drawingml/2006/main" noGrp="1"/>
          </p:cNvSpPr>
          <p:nvPr/>
        </p:nvSpPr>
        <p:spPr>
          <a:xfrm xmlns:a="http://schemas.openxmlformats.org/drawingml/2006/main">
            <a:off x="8153400" y="3429000"/>
            <a:ext cx="3365500" cy="889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1">
                <a:solidFill>
                  <a:srgbClr val="17473D"/>
                </a:solidFill>
                <a:latin typeface="Arial"/>
                <a:ea typeface="Arial"/>
                <a:cs typeface="Arial"/>
              </a:defRPr>
            </a:pPr>
            <a:r>
              <a:t>Expected first tools</a:t>
            </a:r>
          </a:p>
        </p:txBody>
      </p:sp>
      <p:sp>
        <p:nvSpPr>
          <p:cNvPr id="10" name="TextBox 9">
            <a:extLst xmlns:a="http://schemas.openxmlformats.org/drawingml/2006/main">
              <a:ext uri="{FF2B5EF4-FFF2-40B4-BE49-F238E27FC236}">
                <a16:creationId xmlns:a16="http://schemas.microsoft.com/office/drawing/2014/main" id="{6E516A9D-6CFE-4D1A-A0E7-DCAB32377B26}"/>
              </a:ext>
            </a:extLst>
          </p:cNvPr>
          <p:cNvSpPr>
            <a:spLocks xmlns:a="http://schemas.openxmlformats.org/drawingml/2006/main" noGrp="1"/>
          </p:cNvSpPr>
          <p:nvPr/>
        </p:nvSpPr>
        <p:spPr>
          <a:xfrm xmlns:a="http://schemas.openxmlformats.org/drawingml/2006/main">
            <a:off x="609600" y="4851368"/>
            <a:ext cx="6626225" cy="10424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3/3 evidence-summary workflows passed.</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Exact-count check: tools 15/15; no-tool model 0/15.</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rPr sz="2300" b="0">
                <a:solidFill>
                  <a:srgbClr val="203430"/>
                </a:solidFill>
                <a:latin typeface="Arial"/>
                <a:ea typeface="Arial"/>
                <a:cs typeface="Arial"/>
              </a:rPr>
              <a:t>No-tool model abstained; 3 questions, 5 repeats.</a:t>
            </a:r>
          </a:p>
        </p:txBody>
      </p:sp>
      <p:sp>
        <p:nvSpPr>
          <p:cNvPr id="11" name="TextBox 10">
            <a:extLst xmlns:a="http://schemas.openxmlformats.org/drawingml/2006/main">
              <a:ext uri="{FF2B5EF4-FFF2-40B4-BE49-F238E27FC236}">
                <a16:creationId xmlns:a16="http://schemas.microsoft.com/office/drawing/2014/main" id="{37D7E30F-4651-423A-9878-1A7D8F572C5B}"/>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2" name="TextBox 11">
            <a:extLst xmlns:a="http://schemas.openxmlformats.org/drawingml/2006/main">
              <a:ext uri="{FF2B5EF4-FFF2-40B4-BE49-F238E27FC236}">
                <a16:creationId xmlns:a16="http://schemas.microsoft.com/office/drawing/2014/main" id="{01F06FD9-28B5-498D-8DEF-70E9A273B98E}"/>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10</a:t>
            </a:r>
          </a:p>
        </p:txBody>
      </p:sp>
    </p:spTree>
    <p:extLst>
      <p:ext uri="{BB962C8B-B14F-4D97-AF65-F5344CB8AC3E}">
        <p14:creationId xmlns:p14="http://schemas.microsoft.com/office/powerpoint/2010/main" val="5645030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B94972-8EC8-4C59-8C5A-A8172AF5D645}"/>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10 | PERFORMANCE</a:t>
            </a:r>
          </a:p>
        </p:txBody>
      </p:sp>
      <p:sp>
        <p:nvSpPr>
          <p:cNvPr id="3" name="TextBox 2">
            <a:extLst xmlns:a="http://schemas.openxmlformats.org/drawingml/2006/main">
              <a:ext uri="{FF2B5EF4-FFF2-40B4-BE49-F238E27FC236}">
                <a16:creationId xmlns:a16="http://schemas.microsoft.com/office/drawing/2014/main" id="{D84E02FD-541B-4167-8289-15556C277236}"/>
              </a:ext>
            </a:extLst>
          </p:cNvPr>
          <p:cNvSpPr>
            <a:spLocks xmlns:a="http://schemas.openxmlformats.org/drawingml/2006/main" noGrp="1"/>
          </p:cNvSpPr>
          <p:nvPr/>
        </p:nvSpPr>
        <p:spPr>
          <a:xfrm xmlns:a="http://schemas.openxmlformats.org/drawingml/2006/main">
            <a:off x="609600" y="838200"/>
            <a:ext cx="9625012" cy="4836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Live retrieval and calculation: </a:t>
            </a:r>
            <a:r>
              <a:t>0.34-0.38s</a:t>
            </a:r>
            <a:r>
              <a:t> medians.</a:t>
            </a:r>
          </a:p>
        </p:txBody>
      </p:sp>
      <p:sp>
        <p:nvSpPr>
          <p:cNvPr id="4" name="TextBox 3">
            <a:extLst xmlns:a="http://schemas.openxmlformats.org/drawingml/2006/main">
              <a:ext uri="{FF2B5EF4-FFF2-40B4-BE49-F238E27FC236}">
                <a16:creationId xmlns:a16="http://schemas.microsoft.com/office/drawing/2014/main" id="{15FDE9D9-B575-47E0-9C78-4DDD93AAD991}"/>
              </a:ext>
            </a:extLst>
          </p:cNvPr>
          <p:cNvSpPr>
            <a:spLocks xmlns:a="http://schemas.openxmlformats.org/drawingml/2006/main" noGrp="1"/>
          </p:cNvSpPr>
          <p:nvPr/>
        </p:nvSpPr>
        <p:spPr>
          <a:xfrm xmlns:a="http://schemas.openxmlformats.org/drawingml/2006/main">
            <a:off x="609600" y="2133600"/>
            <a:ext cx="3238500" cy="635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Cost-share screen</a:t>
            </a:r>
          </a:p>
        </p:txBody>
      </p:sp>
      <p:sp>
        <p:nvSpPr>
          <p:cNvPr id="5" name="Rectangle 4">
            <a:extLst xmlns:a="http://schemas.openxmlformats.org/drawingml/2006/main">
              <a:ext uri="{FF2B5EF4-FFF2-40B4-BE49-F238E27FC236}">
                <a16:creationId xmlns:a16="http://schemas.microsoft.com/office/drawing/2014/main" id="{62A48F8F-CEFE-4ECE-BDA9-2F0043EFFD30}"/>
              </a:ext>
            </a:extLst>
          </p:cNvPr>
          <p:cNvSpPr>
            <a:spLocks xmlns:a="http://schemas.openxmlformats.org/drawingml/2006/main" noGrp="1"/>
          </p:cNvSpPr>
          <p:nvPr/>
        </p:nvSpPr>
        <p:spPr>
          <a:xfrm xmlns:a="http://schemas.openxmlformats.org/drawingml/2006/main">
            <a:off x="4064032" y="2133600"/>
            <a:ext cx="4298558" cy="444532"/>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1B24718-AAB0-4168-B1BA-E6022ACD409A}"/>
              </a:ext>
            </a:extLst>
          </p:cNvPr>
          <p:cNvSpPr>
            <a:spLocks xmlns:a="http://schemas.openxmlformats.org/drawingml/2006/main" noGrp="1"/>
          </p:cNvSpPr>
          <p:nvPr/>
        </p:nvSpPr>
        <p:spPr>
          <a:xfrm xmlns:a="http://schemas.openxmlformats.org/drawingml/2006/main">
            <a:off x="9855200" y="2133600"/>
            <a:ext cx="855663" cy="33248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203430"/>
                </a:solidFill>
                <a:latin typeface="Arial"/>
                <a:ea typeface="Arial"/>
                <a:cs typeface="Arial"/>
              </a:defRPr>
            </a:pPr>
            <a:r>
              <a:t>0.339s</a:t>
            </a:r>
          </a:p>
        </p:txBody>
      </p:sp>
      <p:sp>
        <p:nvSpPr>
          <p:cNvPr id="7" name="TextBox 6">
            <a:extLst xmlns:a="http://schemas.openxmlformats.org/drawingml/2006/main">
              <a:ext uri="{FF2B5EF4-FFF2-40B4-BE49-F238E27FC236}">
                <a16:creationId xmlns:a16="http://schemas.microsoft.com/office/drawing/2014/main" id="{02B78066-2445-42BF-A8F7-0A51B09398F0}"/>
              </a:ext>
            </a:extLst>
          </p:cNvPr>
          <p:cNvSpPr>
            <a:spLocks xmlns:a="http://schemas.openxmlformats.org/drawingml/2006/main" noGrp="1"/>
          </p:cNvSpPr>
          <p:nvPr/>
        </p:nvSpPr>
        <p:spPr>
          <a:xfrm xmlns:a="http://schemas.openxmlformats.org/drawingml/2006/main">
            <a:off x="609600" y="3213100"/>
            <a:ext cx="3238500" cy="635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Repeated worksheets</a:t>
            </a:r>
          </a:p>
        </p:txBody>
      </p:sp>
      <p:sp>
        <p:nvSpPr>
          <p:cNvPr id="8" name="Rectangle 7">
            <a:extLst xmlns:a="http://schemas.openxmlformats.org/drawingml/2006/main">
              <a:ext uri="{FF2B5EF4-FFF2-40B4-BE49-F238E27FC236}">
                <a16:creationId xmlns:a16="http://schemas.microsoft.com/office/drawing/2014/main" id="{AFE90896-F481-495D-9BE0-6AD34FA32274}"/>
              </a:ext>
            </a:extLst>
          </p:cNvPr>
          <p:cNvSpPr>
            <a:spLocks xmlns:a="http://schemas.openxmlformats.org/drawingml/2006/main" noGrp="1"/>
          </p:cNvSpPr>
          <p:nvPr/>
        </p:nvSpPr>
        <p:spPr>
          <a:xfrm xmlns:a="http://schemas.openxmlformats.org/drawingml/2006/main">
            <a:off x="4064032" y="3213068"/>
            <a:ext cx="4811078" cy="444532"/>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8F4B3B4-76ED-45A2-A862-F8CB10AA80B1}"/>
              </a:ext>
            </a:extLst>
          </p:cNvPr>
          <p:cNvSpPr>
            <a:spLocks xmlns:a="http://schemas.openxmlformats.org/drawingml/2006/main" noGrp="1"/>
          </p:cNvSpPr>
          <p:nvPr/>
        </p:nvSpPr>
        <p:spPr>
          <a:xfrm xmlns:a="http://schemas.openxmlformats.org/drawingml/2006/main">
            <a:off x="9855200" y="3213100"/>
            <a:ext cx="855663" cy="33248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203430"/>
                </a:solidFill>
                <a:latin typeface="Arial"/>
                <a:ea typeface="Arial"/>
                <a:cs typeface="Arial"/>
              </a:defRPr>
            </a:pPr>
            <a:r>
              <a:t>0.380s</a:t>
            </a:r>
          </a:p>
        </p:txBody>
      </p:sp>
      <p:sp>
        <p:nvSpPr>
          <p:cNvPr id="10" name="TextBox 9">
            <a:extLst xmlns:a="http://schemas.openxmlformats.org/drawingml/2006/main">
              <a:ext uri="{FF2B5EF4-FFF2-40B4-BE49-F238E27FC236}">
                <a16:creationId xmlns:a16="http://schemas.microsoft.com/office/drawing/2014/main" id="{0F3FB573-7B52-40E8-8D17-BDB561878CB8}"/>
              </a:ext>
            </a:extLst>
          </p:cNvPr>
          <p:cNvSpPr>
            <a:spLocks xmlns:a="http://schemas.openxmlformats.org/drawingml/2006/main" noGrp="1"/>
          </p:cNvSpPr>
          <p:nvPr/>
        </p:nvSpPr>
        <p:spPr>
          <a:xfrm xmlns:a="http://schemas.openxmlformats.org/drawingml/2006/main">
            <a:off x="609600" y="4292600"/>
            <a:ext cx="3238500" cy="635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499"/>
              </a:lnSpc>
              <a:spcBef>
                <a:spcPts val="0"/>
              </a:spcBef>
              <a:spcAft>
                <a:spcPts val="0"/>
              </a:spcAft>
              <a:buNone/>
              <a:defRPr sz="2100" b="1">
                <a:solidFill>
                  <a:srgbClr val="17473D"/>
                </a:solidFill>
                <a:latin typeface="Arial"/>
                <a:ea typeface="Arial"/>
                <a:cs typeface="Arial"/>
              </a:defRPr>
            </a:pPr>
            <a:r>
              <a:t>Category outliers</a:t>
            </a:r>
          </a:p>
        </p:txBody>
      </p:sp>
      <p:sp>
        <p:nvSpPr>
          <p:cNvPr id="11" name="Rectangle 10">
            <a:extLst xmlns:a="http://schemas.openxmlformats.org/drawingml/2006/main">
              <a:ext uri="{FF2B5EF4-FFF2-40B4-BE49-F238E27FC236}">
                <a16:creationId xmlns:a16="http://schemas.microsoft.com/office/drawing/2014/main" id="{AE12DD16-35E6-4E0D-AC40-CEC96EE948D9}"/>
              </a:ext>
            </a:extLst>
          </p:cNvPr>
          <p:cNvSpPr>
            <a:spLocks xmlns:a="http://schemas.openxmlformats.org/drawingml/2006/main" noGrp="1"/>
          </p:cNvSpPr>
          <p:nvPr/>
        </p:nvSpPr>
        <p:spPr>
          <a:xfrm xmlns:a="http://schemas.openxmlformats.org/drawingml/2006/main">
            <a:off x="4064032" y="4292632"/>
            <a:ext cx="4313616" cy="444532"/>
          </a:xfrm>
          <a:prstGeom xmlns:a="http://schemas.openxmlformats.org/drawingml/2006/main" prst="rect">
            <a:avLst/>
          </a:prstGeom>
          <a:solidFill xmlns:a="http://schemas.openxmlformats.org/drawingml/2006/main">
            <a:srgbClr val="147D7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7238CD5-4EAA-4BF7-AF26-2127DBB2C1B3}"/>
              </a:ext>
            </a:extLst>
          </p:cNvPr>
          <p:cNvSpPr>
            <a:spLocks xmlns:a="http://schemas.openxmlformats.org/drawingml/2006/main" noGrp="1"/>
          </p:cNvSpPr>
          <p:nvPr/>
        </p:nvSpPr>
        <p:spPr>
          <a:xfrm xmlns:a="http://schemas.openxmlformats.org/drawingml/2006/main">
            <a:off x="9855200" y="4292600"/>
            <a:ext cx="855663" cy="33248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1">
                <a:solidFill>
                  <a:srgbClr val="203430"/>
                </a:solidFill>
                <a:latin typeface="Arial"/>
                <a:ea typeface="Arial"/>
                <a:cs typeface="Arial"/>
              </a:defRPr>
            </a:pPr>
            <a:r>
              <a:t>0.340s</a:t>
            </a:r>
          </a:p>
        </p:txBody>
      </p:sp>
      <p:sp>
        <p:nvSpPr>
          <p:cNvPr id="13" name="TextBox 12">
            <a:extLst xmlns:a="http://schemas.openxmlformats.org/drawingml/2006/main">
              <a:ext uri="{FF2B5EF4-FFF2-40B4-BE49-F238E27FC236}">
                <a16:creationId xmlns:a16="http://schemas.microsoft.com/office/drawing/2014/main" id="{2BDBEFFF-B8ED-425A-9647-1E6BEBC4A907}"/>
              </a:ext>
            </a:extLst>
          </p:cNvPr>
          <p:cNvSpPr>
            <a:spLocks xmlns:a="http://schemas.openxmlformats.org/drawingml/2006/main" noGrp="1"/>
          </p:cNvSpPr>
          <p:nvPr/>
        </p:nvSpPr>
        <p:spPr>
          <a:xfrm xmlns:a="http://schemas.openxmlformats.org/drawingml/2006/main">
            <a:off x="609600" y="5715000"/>
            <a:ext cx="10972800" cy="381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784"/>
              </a:lnSpc>
              <a:spcBef>
                <a:spcPts val="0"/>
              </a:spcBef>
              <a:spcAft>
                <a:spcPts val="0"/>
              </a:spcAft>
              <a:buNone/>
              <a:defRPr sz="1500" b="0">
                <a:solidFill>
                  <a:srgbClr val="546963"/>
                </a:solidFill>
                <a:latin typeface="Arial"/>
                <a:ea typeface="Arial"/>
                <a:cs typeface="Arial"/>
              </a:defRPr>
            </a:pPr>
            <a:r>
              <a:t>Three samples per tool | In-process MCP | No load, p95 or end-to-end agent claim</a:t>
            </a:r>
          </a:p>
        </p:txBody>
      </p:sp>
      <p:sp>
        <p:nvSpPr>
          <p:cNvPr id="14" name="TextBox 13">
            <a:extLst xmlns:a="http://schemas.openxmlformats.org/drawingml/2006/main">
              <a:ext uri="{FF2B5EF4-FFF2-40B4-BE49-F238E27FC236}">
                <a16:creationId xmlns:a16="http://schemas.microsoft.com/office/drawing/2014/main" id="{5303F7B0-03C6-4A4F-B127-7CBB681201DC}"/>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5" name="TextBox 14">
            <a:extLst xmlns:a="http://schemas.openxmlformats.org/drawingml/2006/main">
              <a:ext uri="{FF2B5EF4-FFF2-40B4-BE49-F238E27FC236}">
                <a16:creationId xmlns:a16="http://schemas.microsoft.com/office/drawing/2014/main" id="{FCB8B957-19E1-4962-8397-336DC7493895}"/>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11</a:t>
            </a:r>
          </a:p>
        </p:txBody>
      </p:sp>
    </p:spTree>
    <p:extLst>
      <p:ext uri="{BB962C8B-B14F-4D97-AF65-F5344CB8AC3E}">
        <p14:creationId xmlns:p14="http://schemas.microsoft.com/office/powerpoint/2010/main" val="5880877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BA1EA3D-7C8D-48E0-9F6B-04F7E9463F04}"/>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11 | SECURITY</a:t>
            </a:r>
          </a:p>
        </p:txBody>
      </p:sp>
      <p:sp>
        <p:nvSpPr>
          <p:cNvPr id="3" name="TextBox 2">
            <a:extLst xmlns:a="http://schemas.openxmlformats.org/drawingml/2006/main">
              <a:ext uri="{FF2B5EF4-FFF2-40B4-BE49-F238E27FC236}">
                <a16:creationId xmlns:a16="http://schemas.microsoft.com/office/drawing/2014/main" id="{5685F121-390A-4FB8-9BCC-637966F57300}"/>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Constrain access. Preserve reviewability.</a:t>
            </a:r>
          </a:p>
        </p:txBody>
      </p:sp>
      <p:sp>
        <p:nvSpPr>
          <p:cNvPr id="4" name="Rectangle 3">
            <a:extLst xmlns:a="http://schemas.openxmlformats.org/drawingml/2006/main">
              <a:ext uri="{FF2B5EF4-FFF2-40B4-BE49-F238E27FC236}">
                <a16:creationId xmlns:a16="http://schemas.microsoft.com/office/drawing/2014/main" id="{ABD3CFB8-AA0A-4425-B0DD-67FB4ACC2E73}"/>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9DBF4F6-8011-4305-A6DF-23D54F43597A}"/>
              </a:ext>
            </a:extLst>
          </p:cNvPr>
          <p:cNvSpPr>
            <a:spLocks xmlns:a="http://schemas.openxmlformats.org/drawingml/2006/main" noGrp="1"/>
          </p:cNvSpPr>
          <p:nvPr/>
        </p:nvSpPr>
        <p:spPr>
          <a:xfrm xmlns:a="http://schemas.openxmlformats.org/drawingml/2006/main">
            <a:off x="723900" y="2133600"/>
            <a:ext cx="2692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Boundary</a:t>
            </a:r>
          </a:p>
        </p:txBody>
      </p:sp>
      <p:sp>
        <p:nvSpPr>
          <p:cNvPr id="6" name="TextBox 5">
            <a:extLst xmlns:a="http://schemas.openxmlformats.org/drawingml/2006/main">
              <a:ext uri="{FF2B5EF4-FFF2-40B4-BE49-F238E27FC236}">
                <a16:creationId xmlns:a16="http://schemas.microsoft.com/office/drawing/2014/main" id="{E1D8C2B7-F4A9-4403-AE0D-F2F206C48F52}"/>
              </a:ext>
            </a:extLst>
          </p:cNvPr>
          <p:cNvSpPr>
            <a:spLocks xmlns:a="http://schemas.openxmlformats.org/drawingml/2006/main" noGrp="1"/>
          </p:cNvSpPr>
          <p:nvPr/>
        </p:nvSpPr>
        <p:spPr>
          <a:xfrm xmlns:a="http://schemas.openxmlformats.org/drawingml/2006/main">
            <a:off x="3644900" y="2133600"/>
            <a:ext cx="4152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Control</a:t>
            </a:r>
          </a:p>
        </p:txBody>
      </p:sp>
      <p:sp>
        <p:nvSpPr>
          <p:cNvPr id="7" name="TextBox 6">
            <a:extLst xmlns:a="http://schemas.openxmlformats.org/drawingml/2006/main">
              <a:ext uri="{FF2B5EF4-FFF2-40B4-BE49-F238E27FC236}">
                <a16:creationId xmlns:a16="http://schemas.microsoft.com/office/drawing/2014/main" id="{590B246D-0B3B-445A-A6B8-CB8B8302E132}"/>
              </a:ext>
            </a:extLst>
          </p:cNvPr>
          <p:cNvSpPr>
            <a:spLocks xmlns:a="http://schemas.openxmlformats.org/drawingml/2006/main" noGrp="1"/>
          </p:cNvSpPr>
          <p:nvPr/>
        </p:nvSpPr>
        <p:spPr>
          <a:xfrm xmlns:a="http://schemas.openxmlformats.org/drawingml/2006/main">
            <a:off x="8026400" y="2133600"/>
            <a:ext cx="3441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Evidence</a:t>
            </a:r>
          </a:p>
        </p:txBody>
      </p:sp>
      <p:sp>
        <p:nvSpPr>
          <p:cNvPr id="8" name="TextBox 7">
            <a:extLst xmlns:a="http://schemas.openxmlformats.org/drawingml/2006/main">
              <a:ext uri="{FF2B5EF4-FFF2-40B4-BE49-F238E27FC236}">
                <a16:creationId xmlns:a16="http://schemas.microsoft.com/office/drawing/2014/main" id="{72F096E5-8507-4DE8-A2EF-6E4FD43CF72B}"/>
              </a:ext>
            </a:extLst>
          </p:cNvPr>
          <p:cNvSpPr>
            <a:spLocks xmlns:a="http://schemas.openxmlformats.org/drawingml/2006/main" noGrp="1"/>
          </p:cNvSpPr>
          <p:nvPr/>
        </p:nvSpPr>
        <p:spPr>
          <a:xfrm xmlns:a="http://schemas.openxmlformats.org/drawingml/2006/main">
            <a:off x="723900" y="2794000"/>
            <a:ext cx="2692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Outbound requests</a:t>
            </a:r>
          </a:p>
        </p:txBody>
      </p:sp>
      <p:sp>
        <p:nvSpPr>
          <p:cNvPr id="9" name="TextBox 8">
            <a:extLst xmlns:a="http://schemas.openxmlformats.org/drawingml/2006/main">
              <a:ext uri="{FF2B5EF4-FFF2-40B4-BE49-F238E27FC236}">
                <a16:creationId xmlns:a16="http://schemas.microsoft.com/office/drawing/2014/main" id="{B14BEFC7-84E0-42E4-A75B-55F172A0CC72}"/>
              </a:ext>
            </a:extLst>
          </p:cNvPr>
          <p:cNvSpPr>
            <a:spLocks xmlns:a="http://schemas.openxmlformats.org/drawingml/2006/main" noGrp="1"/>
          </p:cNvSpPr>
          <p:nvPr/>
        </p:nvSpPr>
        <p:spPr>
          <a:xfrm xmlns:a="http://schemas.openxmlformats.org/drawingml/2006/main">
            <a:off x="3644900" y="2794000"/>
            <a:ext cx="4152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Fixed origin + path checks</a:t>
            </a:r>
          </a:p>
        </p:txBody>
      </p:sp>
      <p:sp>
        <p:nvSpPr>
          <p:cNvPr id="10" name="TextBox 9">
            <a:extLst xmlns:a="http://schemas.openxmlformats.org/drawingml/2006/main">
              <a:ext uri="{FF2B5EF4-FFF2-40B4-BE49-F238E27FC236}">
                <a16:creationId xmlns:a16="http://schemas.microsoft.com/office/drawing/2014/main" id="{ABC19705-617E-4FAB-9251-13DBDC88658C}"/>
              </a:ext>
            </a:extLst>
          </p:cNvPr>
          <p:cNvSpPr>
            <a:spLocks xmlns:a="http://schemas.openxmlformats.org/drawingml/2006/main" noGrp="1"/>
          </p:cNvSpPr>
          <p:nvPr/>
        </p:nvSpPr>
        <p:spPr>
          <a:xfrm xmlns:a="http://schemas.openxmlformats.org/drawingml/2006/main">
            <a:off x="8026400" y="2794000"/>
            <a:ext cx="3441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Security tests</a:t>
            </a:r>
          </a:p>
        </p:txBody>
      </p:sp>
      <p:sp>
        <p:nvSpPr>
          <p:cNvPr id="11" name="TextBox 10">
            <a:extLst xmlns:a="http://schemas.openxmlformats.org/drawingml/2006/main">
              <a:ext uri="{FF2B5EF4-FFF2-40B4-BE49-F238E27FC236}">
                <a16:creationId xmlns:a16="http://schemas.microsoft.com/office/drawing/2014/main" id="{C7BDDEC9-3751-4E53-9E55-124DBBBE0964}"/>
              </a:ext>
            </a:extLst>
          </p:cNvPr>
          <p:cNvSpPr>
            <a:spLocks xmlns:a="http://schemas.openxmlformats.org/drawingml/2006/main" noGrp="1"/>
          </p:cNvSpPr>
          <p:nvPr/>
        </p:nvSpPr>
        <p:spPr>
          <a:xfrm xmlns:a="http://schemas.openxmlformats.org/drawingml/2006/main">
            <a:off x="723900" y="3454400"/>
            <a:ext cx="2692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Tool authority</a:t>
            </a:r>
          </a:p>
        </p:txBody>
      </p:sp>
      <p:sp>
        <p:nvSpPr>
          <p:cNvPr id="12" name="TextBox 11">
            <a:extLst xmlns:a="http://schemas.openxmlformats.org/drawingml/2006/main">
              <a:ext uri="{FF2B5EF4-FFF2-40B4-BE49-F238E27FC236}">
                <a16:creationId xmlns:a16="http://schemas.microsoft.com/office/drawing/2014/main" id="{BE623E76-4828-4F33-88E9-A0F41B1B0C7C}"/>
              </a:ext>
            </a:extLst>
          </p:cNvPr>
          <p:cNvSpPr>
            <a:spLocks xmlns:a="http://schemas.openxmlformats.org/drawingml/2006/main" noGrp="1"/>
          </p:cNvSpPr>
          <p:nvPr/>
        </p:nvSpPr>
        <p:spPr>
          <a:xfrm xmlns:a="http://schemas.openxmlformats.org/drawingml/2006/main">
            <a:off x="3644900" y="3454400"/>
            <a:ext cx="4152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Approved read-only inventory</a:t>
            </a:r>
          </a:p>
        </p:txBody>
      </p:sp>
      <p:sp>
        <p:nvSpPr>
          <p:cNvPr id="13" name="TextBox 12">
            <a:extLst xmlns:a="http://schemas.openxmlformats.org/drawingml/2006/main">
              <a:ext uri="{FF2B5EF4-FFF2-40B4-BE49-F238E27FC236}">
                <a16:creationId xmlns:a16="http://schemas.microsoft.com/office/drawing/2014/main" id="{86307A6B-EC4D-4973-BABE-6453366AA8EE}"/>
              </a:ext>
            </a:extLst>
          </p:cNvPr>
          <p:cNvSpPr>
            <a:spLocks xmlns:a="http://schemas.openxmlformats.org/drawingml/2006/main" noGrp="1"/>
          </p:cNvSpPr>
          <p:nvPr/>
        </p:nvSpPr>
        <p:spPr>
          <a:xfrm xmlns:a="http://schemas.openxmlformats.org/drawingml/2006/main">
            <a:off x="8026400" y="3454400"/>
            <a:ext cx="3441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Schemas and source</a:t>
            </a:r>
          </a:p>
        </p:txBody>
      </p:sp>
      <p:sp>
        <p:nvSpPr>
          <p:cNvPr id="14" name="TextBox 13">
            <a:extLst xmlns:a="http://schemas.openxmlformats.org/drawingml/2006/main">
              <a:ext uri="{FF2B5EF4-FFF2-40B4-BE49-F238E27FC236}">
                <a16:creationId xmlns:a16="http://schemas.microsoft.com/office/drawing/2014/main" id="{65FE6133-A6B9-496C-AFC0-FF56C3AAA496}"/>
              </a:ext>
            </a:extLst>
          </p:cNvPr>
          <p:cNvSpPr>
            <a:spLocks xmlns:a="http://schemas.openxmlformats.org/drawingml/2006/main" noGrp="1"/>
          </p:cNvSpPr>
          <p:nvPr/>
        </p:nvSpPr>
        <p:spPr>
          <a:xfrm xmlns:a="http://schemas.openxmlformats.org/drawingml/2006/main">
            <a:off x="723900" y="4114800"/>
            <a:ext cx="2692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Sensitive errors</a:t>
            </a:r>
          </a:p>
        </p:txBody>
      </p:sp>
      <p:sp>
        <p:nvSpPr>
          <p:cNvPr id="15" name="TextBox 14">
            <a:extLst xmlns:a="http://schemas.openxmlformats.org/drawingml/2006/main">
              <a:ext uri="{FF2B5EF4-FFF2-40B4-BE49-F238E27FC236}">
                <a16:creationId xmlns:a16="http://schemas.microsoft.com/office/drawing/2014/main" id="{58CD70FC-F52B-4E58-9385-9964274C2E08}"/>
              </a:ext>
            </a:extLst>
          </p:cNvPr>
          <p:cNvSpPr>
            <a:spLocks xmlns:a="http://schemas.openxmlformats.org/drawingml/2006/main" noGrp="1"/>
          </p:cNvSpPr>
          <p:nvPr/>
        </p:nvSpPr>
        <p:spPr>
          <a:xfrm xmlns:a="http://schemas.openxmlformats.org/drawingml/2006/main">
            <a:off x="3644900" y="4114800"/>
            <a:ext cx="4152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Sanitized responses</a:t>
            </a:r>
          </a:p>
        </p:txBody>
      </p:sp>
      <p:sp>
        <p:nvSpPr>
          <p:cNvPr id="16" name="TextBox 15">
            <a:extLst xmlns:a="http://schemas.openxmlformats.org/drawingml/2006/main">
              <a:ext uri="{FF2B5EF4-FFF2-40B4-BE49-F238E27FC236}">
                <a16:creationId xmlns:a16="http://schemas.microsoft.com/office/drawing/2014/main" id="{31AE85BF-7E43-46EA-9F62-237D2BDDDBFA}"/>
              </a:ext>
            </a:extLst>
          </p:cNvPr>
          <p:cNvSpPr>
            <a:spLocks xmlns:a="http://schemas.openxmlformats.org/drawingml/2006/main" noGrp="1"/>
          </p:cNvSpPr>
          <p:nvPr/>
        </p:nvSpPr>
        <p:spPr>
          <a:xfrm xmlns:a="http://schemas.openxmlformats.org/drawingml/2006/main">
            <a:off x="8026400" y="4114800"/>
            <a:ext cx="3441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Injected-string tests</a:t>
            </a:r>
          </a:p>
        </p:txBody>
      </p:sp>
      <p:sp>
        <p:nvSpPr>
          <p:cNvPr id="17" name="TextBox 16">
            <a:extLst xmlns:a="http://schemas.openxmlformats.org/drawingml/2006/main">
              <a:ext uri="{FF2B5EF4-FFF2-40B4-BE49-F238E27FC236}">
                <a16:creationId xmlns:a16="http://schemas.microsoft.com/office/drawing/2014/main" id="{5377D355-673A-4BDF-9544-4B52BFF647A4}"/>
              </a:ext>
            </a:extLst>
          </p:cNvPr>
          <p:cNvSpPr>
            <a:spLocks xmlns:a="http://schemas.openxmlformats.org/drawingml/2006/main" noGrp="1"/>
          </p:cNvSpPr>
          <p:nvPr/>
        </p:nvSpPr>
        <p:spPr>
          <a:xfrm xmlns:a="http://schemas.openxmlformats.org/drawingml/2006/main">
            <a:off x="723900" y="4775200"/>
            <a:ext cx="2692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Evidence integrity</a:t>
            </a:r>
          </a:p>
        </p:txBody>
      </p:sp>
      <p:sp>
        <p:nvSpPr>
          <p:cNvPr id="18" name="TextBox 17">
            <a:extLst xmlns:a="http://schemas.openxmlformats.org/drawingml/2006/main">
              <a:ext uri="{FF2B5EF4-FFF2-40B4-BE49-F238E27FC236}">
                <a16:creationId xmlns:a16="http://schemas.microsoft.com/office/drawing/2014/main" id="{B8B3CCE0-3C8D-4776-A3C2-8CF6A10563A5}"/>
              </a:ext>
            </a:extLst>
          </p:cNvPr>
          <p:cNvSpPr>
            <a:spLocks xmlns:a="http://schemas.openxmlformats.org/drawingml/2006/main" noGrp="1"/>
          </p:cNvSpPr>
          <p:nvPr/>
        </p:nvSpPr>
        <p:spPr>
          <a:xfrm xmlns:a="http://schemas.openxmlformats.org/drawingml/2006/main">
            <a:off x="3644900" y="4775200"/>
            <a:ext cx="4152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Snapshots + hashes + MLflow</a:t>
            </a:r>
          </a:p>
        </p:txBody>
      </p:sp>
      <p:sp>
        <p:nvSpPr>
          <p:cNvPr id="19" name="TextBox 18">
            <a:extLst xmlns:a="http://schemas.openxmlformats.org/drawingml/2006/main">
              <a:ext uri="{FF2B5EF4-FFF2-40B4-BE49-F238E27FC236}">
                <a16:creationId xmlns:a16="http://schemas.microsoft.com/office/drawing/2014/main" id="{91D23DFD-4EA9-4EFB-BB62-9F61629D1F27}"/>
              </a:ext>
            </a:extLst>
          </p:cNvPr>
          <p:cNvSpPr>
            <a:spLocks xmlns:a="http://schemas.openxmlformats.org/drawingml/2006/main" noGrp="1"/>
          </p:cNvSpPr>
          <p:nvPr/>
        </p:nvSpPr>
        <p:spPr>
          <a:xfrm xmlns:a="http://schemas.openxmlformats.org/drawingml/2006/main">
            <a:off x="8026400" y="4775200"/>
            <a:ext cx="3441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Retained artifacts</a:t>
            </a:r>
          </a:p>
        </p:txBody>
      </p:sp>
      <p:sp>
        <p:nvSpPr>
          <p:cNvPr id="20" name="TextBox 19">
            <a:extLst xmlns:a="http://schemas.openxmlformats.org/drawingml/2006/main">
              <a:ext uri="{FF2B5EF4-FFF2-40B4-BE49-F238E27FC236}">
                <a16:creationId xmlns:a16="http://schemas.microsoft.com/office/drawing/2014/main" id="{E2503299-A331-48A3-81C6-FF639D2DAAEA}"/>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21" name="TextBox 20">
            <a:extLst xmlns:a="http://schemas.openxmlformats.org/drawingml/2006/main">
              <a:ext uri="{FF2B5EF4-FFF2-40B4-BE49-F238E27FC236}">
                <a16:creationId xmlns:a16="http://schemas.microsoft.com/office/drawing/2014/main" id="{37A9800A-B6FB-4E05-908C-8194A676617C}"/>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12</a:t>
            </a:r>
          </a:p>
        </p:txBody>
      </p:sp>
    </p:spTree>
    <p:extLst>
      <p:ext uri="{BB962C8B-B14F-4D97-AF65-F5344CB8AC3E}">
        <p14:creationId xmlns:p14="http://schemas.microsoft.com/office/powerpoint/2010/main" val="18550893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FB7AFF-7F7C-4845-BA56-78816E929E24}"/>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12 | LESSON LEARNED</a:t>
            </a:r>
          </a:p>
        </p:txBody>
      </p:sp>
      <p:sp>
        <p:nvSpPr>
          <p:cNvPr id="3" name="TextBox 2">
            <a:extLst xmlns:a="http://schemas.openxmlformats.org/drawingml/2006/main">
              <a:ext uri="{FF2B5EF4-FFF2-40B4-BE49-F238E27FC236}">
                <a16:creationId xmlns:a16="http://schemas.microsoft.com/office/drawing/2014/main" id="{3969999C-F484-4B90-BFEC-DD618740588C}"/>
              </a:ext>
            </a:extLst>
          </p:cNvPr>
          <p:cNvSpPr>
            <a:spLocks xmlns:a="http://schemas.openxmlformats.org/drawingml/2006/main" noGrp="1"/>
          </p:cNvSpPr>
          <p:nvPr/>
        </p:nvSpPr>
        <p:spPr>
          <a:xfrm xmlns:a="http://schemas.openxmlformats.org/drawingml/2006/main">
            <a:off x="609600" y="838200"/>
            <a:ext cx="9009062" cy="4836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Tool evidence controls the displayed summary</a:t>
            </a:r>
          </a:p>
        </p:txBody>
      </p:sp>
      <p:sp>
        <p:nvSpPr>
          <p:cNvPr id="4" name="TextBox 3">
            <a:extLst xmlns:a="http://schemas.openxmlformats.org/drawingml/2006/main">
              <a:ext uri="{FF2B5EF4-FFF2-40B4-BE49-F238E27FC236}">
                <a16:creationId xmlns:a16="http://schemas.microsoft.com/office/drawing/2014/main" id="{E25B74DA-AAF5-4CE8-9EF5-F93D8122008F}"/>
              </a:ext>
            </a:extLst>
          </p:cNvPr>
          <p:cNvSpPr>
            <a:spLocks xmlns:a="http://schemas.openxmlformats.org/drawingml/2006/main" noGrp="1"/>
          </p:cNvSpPr>
          <p:nvPr/>
        </p:nvSpPr>
        <p:spPr>
          <a:xfrm xmlns:a="http://schemas.openxmlformats.org/drawingml/2006/main">
            <a:off x="609600" y="1905000"/>
            <a:ext cx="3600450" cy="12237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Observed failure:</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rPr sz="2700" b="1">
                <a:solidFill>
                  <a:srgbClr val="17473D"/>
                </a:solidFill>
                <a:latin typeface="Arial"/>
                <a:ea typeface="Arial"/>
                <a:cs typeface="Arial"/>
              </a:rPr>
              <a:t>unsupported citations</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rPr sz="2700" b="1">
                <a:solidFill>
                  <a:srgbClr val="17473D"/>
                </a:solidFill>
                <a:latin typeface="Arial"/>
                <a:ea typeface="Arial"/>
                <a:cs typeface="Arial"/>
              </a:rPr>
              <a:t>and a ratio-band error</a:t>
            </a:r>
          </a:p>
        </p:txBody>
      </p:sp>
      <p:sp>
        <p:nvSpPr>
          <p:cNvPr id="5" name="TextBox 4">
            <a:extLst xmlns:a="http://schemas.openxmlformats.org/drawingml/2006/main">
              <a:ext uri="{FF2B5EF4-FFF2-40B4-BE49-F238E27FC236}">
                <a16:creationId xmlns:a16="http://schemas.microsoft.com/office/drawing/2014/main" id="{14A9AD31-5144-46E4-8EF0-5456C1254859}"/>
              </a:ext>
            </a:extLst>
          </p:cNvPr>
          <p:cNvSpPr>
            <a:spLocks xmlns:a="http://schemas.openxmlformats.org/drawingml/2006/main" noGrp="1"/>
          </p:cNvSpPr>
          <p:nvPr/>
        </p:nvSpPr>
        <p:spPr>
          <a:xfrm xmlns:a="http://schemas.openxmlformats.org/drawingml/2006/main">
            <a:off x="6477000" y="1930400"/>
            <a:ext cx="4062413" cy="2114931"/>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Implemented October 29:</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rPr sz="2000" b="0">
                <a:solidFill>
                  <a:srgbClr val="203430"/>
                </a:solidFill>
                <a:latin typeface="Arial"/>
                <a:ea typeface="Arial"/>
                <a:cs typeface="Arial"/>
              </a:rPr>
              <a:t>- Render summaries from tool data</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rPr sz="2000" b="0">
                <a:solidFill>
                  <a:srgbClr val="203430"/>
                </a:solidFill>
                <a:latin typeface="Arial"/>
                <a:ea typeface="Arial"/>
                <a:cs typeface="Arial"/>
              </a:rPr>
              <a:t>- Keep exact ratio boundaries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rPr sz="2000" b="0">
                <a:solidFill>
                  <a:srgbClr val="203430"/>
                </a:solidFill>
                <a:latin typeface="Arial"/>
                <a:ea typeface="Arial"/>
                <a:cs typeface="Arial"/>
              </a:rPr>
              <a:t>- Reject malformed source payloads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rPr sz="2000" b="0">
                <a:solidFill>
                  <a:srgbClr val="203430"/>
                </a:solidFill>
                <a:latin typeface="Arial"/>
                <a:ea typeface="Arial"/>
                <a:cs typeface="Arial"/>
              </a:rPr>
              <a:t>- Preserve parameters and records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rPr sz="2000" b="0">
                <a:solidFill>
                  <a:srgbClr val="203430"/>
                </a:solidFill>
                <a:latin typeface="Arial"/>
                <a:ea typeface="Arial"/>
                <a:cs typeface="Arial"/>
              </a:rPr>
              <a:t>- Test the browser review workflow</a:t>
            </a:r>
          </a:p>
        </p:txBody>
      </p:sp>
      <p:sp>
        <p:nvSpPr>
          <p:cNvPr id="6" name="TextBox 5">
            <a:extLst xmlns:a="http://schemas.openxmlformats.org/drawingml/2006/main">
              <a:ext uri="{FF2B5EF4-FFF2-40B4-BE49-F238E27FC236}">
                <a16:creationId xmlns:a16="http://schemas.microsoft.com/office/drawing/2014/main" id="{46C0A8F8-1D64-4C83-AA68-574F6DC5AFE9}"/>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7" name="TextBox 6">
            <a:extLst xmlns:a="http://schemas.openxmlformats.org/drawingml/2006/main">
              <a:ext uri="{FF2B5EF4-FFF2-40B4-BE49-F238E27FC236}">
                <a16:creationId xmlns:a16="http://schemas.microsoft.com/office/drawing/2014/main" id="{9B8260DF-B399-4BA3-B58E-E4962ADE59BD}"/>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13</a:t>
            </a:r>
          </a:p>
        </p:txBody>
      </p:sp>
    </p:spTree>
    <p:extLst>
      <p:ext uri="{BB962C8B-B14F-4D97-AF65-F5344CB8AC3E}">
        <p14:creationId xmlns:p14="http://schemas.microsoft.com/office/powerpoint/2010/main" val="8634844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36EA31A-94FB-4BE7-8851-859F49A31994}"/>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13 | MISSION VALUE</a:t>
            </a:r>
          </a:p>
        </p:txBody>
      </p:sp>
      <p:sp>
        <p:nvSpPr>
          <p:cNvPr id="3" name="TextBox 2">
            <a:extLst xmlns:a="http://schemas.openxmlformats.org/drawingml/2006/main">
              <a:ext uri="{FF2B5EF4-FFF2-40B4-BE49-F238E27FC236}">
                <a16:creationId xmlns:a16="http://schemas.microsoft.com/office/drawing/2014/main" id="{63F1729D-EFE4-4896-888F-4AA01B13EAB7}"/>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Make the analyst question reviewable.</a:t>
            </a:r>
          </a:p>
        </p:txBody>
      </p:sp>
      <p:sp>
        <p:nvSpPr>
          <p:cNvPr id="4" name="TextBox 3">
            <a:extLst xmlns:a="http://schemas.openxmlformats.org/drawingml/2006/main">
              <a:ext uri="{FF2B5EF4-FFF2-40B4-BE49-F238E27FC236}">
                <a16:creationId xmlns:a16="http://schemas.microsoft.com/office/drawing/2014/main" id="{D5E65F9A-1DE0-4540-8CAC-779E2657ABEF}"/>
              </a:ext>
            </a:extLst>
          </p:cNvPr>
          <p:cNvSpPr>
            <a:spLocks xmlns:a="http://schemas.openxmlformats.org/drawingml/2006/main" noGrp="1"/>
          </p:cNvSpPr>
          <p:nvPr/>
        </p:nvSpPr>
        <p:spPr>
          <a:xfrm xmlns:a="http://schemas.openxmlformats.org/drawingml/2006/main">
            <a:off x="609600" y="1905000"/>
            <a:ext cx="5207000" cy="3556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Question -&gt; calculation -&gt;</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source record -&gt; limits -&gt;</a:t>
            </a:r>
          </a:p>
          <a:p xmlns:a="http://schemas.openxmlformats.org/drawingml/2006/main">
            <a:pPr>
              <a:lnSpc>
                <a:spcPts val="3212"/>
              </a:lnSpc>
              <a:spcBef>
                <a:spcPts val="0"/>
              </a:spcBef>
              <a:spcAft>
                <a:spcPts val="0"/>
              </a:spcAft>
              <a:buNone/>
              <a:defRPr sz="2700" b="1">
                <a:solidFill>
                  <a:srgbClr val="17473D"/>
                </a:solidFill>
                <a:latin typeface="Arial"/>
                <a:ea typeface="Arial"/>
                <a:cs typeface="Arial"/>
              </a:defRPr>
            </a:pPr>
            <a:r>
              <a:t>human judgment</a:t>
            </a:r>
          </a:p>
        </p:txBody>
      </p:sp>
      <p:sp>
        <p:nvSpPr>
          <p:cNvPr id="5" name="TextBox 4">
            <a:extLst xmlns:a="http://schemas.openxmlformats.org/drawingml/2006/main">
              <a:ext uri="{FF2B5EF4-FFF2-40B4-BE49-F238E27FC236}">
                <a16:creationId xmlns:a16="http://schemas.microsoft.com/office/drawing/2014/main" id="{0BE0A534-FCEE-467C-A444-AEA270C7B9D8}"/>
              </a:ext>
            </a:extLst>
          </p:cNvPr>
          <p:cNvSpPr>
            <a:spLocks xmlns:a="http://schemas.openxmlformats.org/drawingml/2006/main" noGrp="1"/>
          </p:cNvSpPr>
          <p:nvPr/>
        </p:nvSpPr>
        <p:spPr>
          <a:xfrm xmlns:a="http://schemas.openxmlformats.org/drawingml/2006/main">
            <a:off x="6477000" y="1930400"/>
            <a:ext cx="5016500" cy="3810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Potential users: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Public Assistance analysts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Oversight and audit teams</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 Budget and policy staff</a:t>
            </a: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p>
          <a:p xmlns:a="http://schemas.openxmlformats.org/drawingml/2006/main">
            <a:pPr>
              <a:lnSpc>
                <a:spcPts val="2379"/>
              </a:lnSpc>
              <a:spcBef>
                <a:spcPts val="0"/>
              </a:spcBef>
              <a:spcAft>
                <a:spcPts val="0"/>
              </a:spcAft>
              <a:buNone/>
              <a:defRPr sz="2000" b="0">
                <a:solidFill>
                  <a:srgbClr val="203430"/>
                </a:solidFill>
                <a:latin typeface="Arial"/>
                <a:ea typeface="Arial"/>
                <a:cs typeface="Arial"/>
              </a:defRPr>
            </a:pPr>
            <a:r>
              <a:t>Adoption and benefits are not yet measured.</a:t>
            </a:r>
          </a:p>
        </p:txBody>
      </p:sp>
      <p:sp>
        <p:nvSpPr>
          <p:cNvPr id="6" name="TextBox 5">
            <a:extLst xmlns:a="http://schemas.openxmlformats.org/drawingml/2006/main">
              <a:ext uri="{FF2B5EF4-FFF2-40B4-BE49-F238E27FC236}">
                <a16:creationId xmlns:a16="http://schemas.microsoft.com/office/drawing/2014/main" id="{26E5F91D-047E-4984-83F2-E8EC20C8D1D5}"/>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7" name="TextBox 6">
            <a:extLst xmlns:a="http://schemas.openxmlformats.org/drawingml/2006/main">
              <a:ext uri="{FF2B5EF4-FFF2-40B4-BE49-F238E27FC236}">
                <a16:creationId xmlns:a16="http://schemas.microsoft.com/office/drawing/2014/main" id="{1AEE1F1C-55B3-482F-8DAE-862E6176E60A}"/>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14</a:t>
            </a:r>
          </a:p>
        </p:txBody>
      </p:sp>
    </p:spTree>
    <p:extLst>
      <p:ext uri="{BB962C8B-B14F-4D97-AF65-F5344CB8AC3E}">
        <p14:creationId xmlns:p14="http://schemas.microsoft.com/office/powerpoint/2010/main" val="5177353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B557430-82BD-45A2-B8F6-476ADA755711}"/>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14 | NEXT DEVELOPMENT GATES</a:t>
            </a:r>
          </a:p>
        </p:txBody>
      </p:sp>
      <p:sp>
        <p:nvSpPr>
          <p:cNvPr id="3" name="TextBox 2">
            <a:extLst xmlns:a="http://schemas.openxmlformats.org/drawingml/2006/main">
              <a:ext uri="{FF2B5EF4-FFF2-40B4-BE49-F238E27FC236}">
                <a16:creationId xmlns:a16="http://schemas.microsoft.com/office/drawing/2014/main" id="{2050389A-6880-417D-91D7-9738D1FADC80}"/>
              </a:ext>
            </a:extLst>
          </p:cNvPr>
          <p:cNvSpPr>
            <a:spLocks xmlns:a="http://schemas.openxmlformats.org/drawingml/2006/main" noGrp="1"/>
          </p:cNvSpPr>
          <p:nvPr/>
        </p:nvSpPr>
        <p:spPr>
          <a:xfrm xmlns:a="http://schemas.openxmlformats.org/drawingml/2006/main">
            <a:off x="609600" y="838200"/>
            <a:ext cx="5815013" cy="4836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Next gates for operational use</a:t>
            </a:r>
          </a:p>
        </p:txBody>
      </p:sp>
      <p:sp>
        <p:nvSpPr>
          <p:cNvPr id="4" name="Rectangle 3">
            <a:extLst xmlns:a="http://schemas.openxmlformats.org/drawingml/2006/main">
              <a:ext uri="{FF2B5EF4-FFF2-40B4-BE49-F238E27FC236}">
                <a16:creationId xmlns:a16="http://schemas.microsoft.com/office/drawing/2014/main" id="{88BB8135-2795-4058-B6E9-39BDD734FE34}"/>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9A1BBF4-689F-4F54-9497-34F3F6D078FD}"/>
              </a:ext>
            </a:extLst>
          </p:cNvPr>
          <p:cNvSpPr>
            <a:spLocks xmlns:a="http://schemas.openxmlformats.org/drawingml/2006/main" noGrp="1"/>
          </p:cNvSpPr>
          <p:nvPr/>
        </p:nvSpPr>
        <p:spPr>
          <a:xfrm xmlns:a="http://schemas.openxmlformats.org/drawingml/2006/main">
            <a:off x="723900" y="2133600"/>
            <a:ext cx="116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Priority</a:t>
            </a:r>
          </a:p>
        </p:txBody>
      </p:sp>
      <p:sp>
        <p:nvSpPr>
          <p:cNvPr id="6" name="TextBox 5">
            <a:extLst xmlns:a="http://schemas.openxmlformats.org/drawingml/2006/main">
              <a:ext uri="{FF2B5EF4-FFF2-40B4-BE49-F238E27FC236}">
                <a16:creationId xmlns:a16="http://schemas.microsoft.com/office/drawing/2014/main" id="{119EB57F-2299-4C83-A4EE-7399AE1B7326}"/>
              </a:ext>
            </a:extLst>
          </p:cNvPr>
          <p:cNvSpPr>
            <a:spLocks xmlns:a="http://schemas.openxmlformats.org/drawingml/2006/main" noGrp="1"/>
          </p:cNvSpPr>
          <p:nvPr/>
        </p:nvSpPr>
        <p:spPr>
          <a:xfrm xmlns:a="http://schemas.openxmlformats.org/drawingml/2006/main">
            <a:off x="2120900" y="2133600"/>
            <a:ext cx="4914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Gate</a:t>
            </a:r>
          </a:p>
        </p:txBody>
      </p:sp>
      <p:sp>
        <p:nvSpPr>
          <p:cNvPr id="7" name="TextBox 6">
            <a:extLst xmlns:a="http://schemas.openxmlformats.org/drawingml/2006/main">
              <a:ext uri="{FF2B5EF4-FFF2-40B4-BE49-F238E27FC236}">
                <a16:creationId xmlns:a16="http://schemas.microsoft.com/office/drawing/2014/main" id="{5FF1ABF4-6EF6-4081-8DAE-E924B1F43755}"/>
              </a:ext>
            </a:extLst>
          </p:cNvPr>
          <p:cNvSpPr>
            <a:spLocks xmlns:a="http://schemas.openxmlformats.org/drawingml/2006/main" noGrp="1"/>
          </p:cNvSpPr>
          <p:nvPr/>
        </p:nvSpPr>
        <p:spPr>
          <a:xfrm xmlns:a="http://schemas.openxmlformats.org/drawingml/2006/main">
            <a:off x="7264400" y="2133600"/>
            <a:ext cx="4203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1">
                <a:solidFill>
                  <a:srgbClr val="17473D"/>
                </a:solidFill>
                <a:latin typeface="Arial"/>
                <a:ea typeface="Arial"/>
                <a:cs typeface="Arial"/>
              </a:defRPr>
            </a:pPr>
            <a:r>
              <a:t>Acceptance evidence</a:t>
            </a:r>
          </a:p>
        </p:txBody>
      </p:sp>
      <p:sp>
        <p:nvSpPr>
          <p:cNvPr id="8" name="TextBox 7">
            <a:extLst xmlns:a="http://schemas.openxmlformats.org/drawingml/2006/main">
              <a:ext uri="{FF2B5EF4-FFF2-40B4-BE49-F238E27FC236}">
                <a16:creationId xmlns:a16="http://schemas.microsoft.com/office/drawing/2014/main" id="{741FF109-5F2C-4063-B545-C293ED25F63A}"/>
              </a:ext>
            </a:extLst>
          </p:cNvPr>
          <p:cNvSpPr>
            <a:spLocks xmlns:a="http://schemas.openxmlformats.org/drawingml/2006/main" noGrp="1"/>
          </p:cNvSpPr>
          <p:nvPr/>
        </p:nvSpPr>
        <p:spPr>
          <a:xfrm xmlns:a="http://schemas.openxmlformats.org/drawingml/2006/main">
            <a:off x="723900" y="2794000"/>
            <a:ext cx="116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1</a:t>
            </a:r>
          </a:p>
        </p:txBody>
      </p:sp>
      <p:sp>
        <p:nvSpPr>
          <p:cNvPr id="9" name="TextBox 8">
            <a:extLst xmlns:a="http://schemas.openxmlformats.org/drawingml/2006/main">
              <a:ext uri="{FF2B5EF4-FFF2-40B4-BE49-F238E27FC236}">
                <a16:creationId xmlns:a16="http://schemas.microsoft.com/office/drawing/2014/main" id="{C63E07B8-8032-4F26-ADD0-E89FC96770DF}"/>
              </a:ext>
            </a:extLst>
          </p:cNvPr>
          <p:cNvSpPr>
            <a:spLocks xmlns:a="http://schemas.openxmlformats.org/drawingml/2006/main" noGrp="1"/>
          </p:cNvSpPr>
          <p:nvPr/>
        </p:nvSpPr>
        <p:spPr>
          <a:xfrm xmlns:a="http://schemas.openxmlformats.org/drawingml/2006/main">
            <a:off x="2120900" y="2794000"/>
            <a:ext cx="2865438" cy="241808"/>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Share authority + filter accuracy</a:t>
            </a:r>
          </a:p>
        </p:txBody>
      </p:sp>
      <p:sp>
        <p:nvSpPr>
          <p:cNvPr id="10" name="TextBox 9">
            <a:extLst xmlns:a="http://schemas.openxmlformats.org/drawingml/2006/main">
              <a:ext uri="{FF2B5EF4-FFF2-40B4-BE49-F238E27FC236}">
                <a16:creationId xmlns:a16="http://schemas.microsoft.com/office/drawing/2014/main" id="{01FF69A5-B886-4EDD-8202-6FB9D8532866}"/>
              </a:ext>
            </a:extLst>
          </p:cNvPr>
          <p:cNvSpPr>
            <a:spLocks xmlns:a="http://schemas.openxmlformats.org/drawingml/2006/main" noGrp="1"/>
          </p:cNvSpPr>
          <p:nvPr/>
        </p:nvSpPr>
        <p:spPr>
          <a:xfrm xmlns:a="http://schemas.openxmlformats.org/drawingml/2006/main">
            <a:off x="7264400" y="2794000"/>
            <a:ext cx="2493963" cy="241808"/>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Independent domain review</a:t>
            </a:r>
          </a:p>
        </p:txBody>
      </p:sp>
      <p:sp>
        <p:nvSpPr>
          <p:cNvPr id="11" name="TextBox 10">
            <a:extLst xmlns:a="http://schemas.openxmlformats.org/drawingml/2006/main">
              <a:ext uri="{FF2B5EF4-FFF2-40B4-BE49-F238E27FC236}">
                <a16:creationId xmlns:a16="http://schemas.microsoft.com/office/drawing/2014/main" id="{55FD9C4A-5B18-4EF3-A5D6-42D859648C05}"/>
              </a:ext>
            </a:extLst>
          </p:cNvPr>
          <p:cNvSpPr>
            <a:spLocks xmlns:a="http://schemas.openxmlformats.org/drawingml/2006/main" noGrp="1"/>
          </p:cNvSpPr>
          <p:nvPr/>
        </p:nvSpPr>
        <p:spPr>
          <a:xfrm xmlns:a="http://schemas.openxmlformats.org/drawingml/2006/main">
            <a:off x="723900" y="3454400"/>
            <a:ext cx="116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2</a:t>
            </a:r>
          </a:p>
        </p:txBody>
      </p:sp>
      <p:sp>
        <p:nvSpPr>
          <p:cNvPr id="12" name="TextBox 11">
            <a:extLst xmlns:a="http://schemas.openxmlformats.org/drawingml/2006/main">
              <a:ext uri="{FF2B5EF4-FFF2-40B4-BE49-F238E27FC236}">
                <a16:creationId xmlns:a16="http://schemas.microsoft.com/office/drawing/2014/main" id="{5037EA94-70D8-459C-BEF3-E69C87A12E7E}"/>
              </a:ext>
            </a:extLst>
          </p:cNvPr>
          <p:cNvSpPr>
            <a:spLocks xmlns:a="http://schemas.openxmlformats.org/drawingml/2006/main" noGrp="1"/>
          </p:cNvSpPr>
          <p:nvPr/>
        </p:nvSpPr>
        <p:spPr>
          <a:xfrm xmlns:a="http://schemas.openxmlformats.org/drawingml/2006/main">
            <a:off x="2120900" y="3454400"/>
            <a:ext cx="4914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Complete retrieval + peer cohorts</a:t>
            </a:r>
          </a:p>
        </p:txBody>
      </p:sp>
      <p:sp>
        <p:nvSpPr>
          <p:cNvPr id="13" name="TextBox 12">
            <a:extLst xmlns:a="http://schemas.openxmlformats.org/drawingml/2006/main">
              <a:ext uri="{FF2B5EF4-FFF2-40B4-BE49-F238E27FC236}">
                <a16:creationId xmlns:a16="http://schemas.microsoft.com/office/drawing/2014/main" id="{E592DBC4-573E-47BB-AF0E-E369A276FFAC}"/>
              </a:ext>
            </a:extLst>
          </p:cNvPr>
          <p:cNvSpPr>
            <a:spLocks xmlns:a="http://schemas.openxmlformats.org/drawingml/2006/main" noGrp="1"/>
          </p:cNvSpPr>
          <p:nvPr/>
        </p:nvSpPr>
        <p:spPr>
          <a:xfrm xmlns:a="http://schemas.openxmlformats.org/drawingml/2006/main">
            <a:off x="7264400" y="3454400"/>
            <a:ext cx="4203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Count/identity and baseline tests</a:t>
            </a:r>
          </a:p>
        </p:txBody>
      </p:sp>
      <p:sp>
        <p:nvSpPr>
          <p:cNvPr id="14" name="TextBox 13">
            <a:extLst xmlns:a="http://schemas.openxmlformats.org/drawingml/2006/main">
              <a:ext uri="{FF2B5EF4-FFF2-40B4-BE49-F238E27FC236}">
                <a16:creationId xmlns:a16="http://schemas.microsoft.com/office/drawing/2014/main" id="{B30E0F40-482F-49A2-807C-1AAAFE8B3897}"/>
              </a:ext>
            </a:extLst>
          </p:cNvPr>
          <p:cNvSpPr>
            <a:spLocks xmlns:a="http://schemas.openxmlformats.org/drawingml/2006/main" noGrp="1"/>
          </p:cNvSpPr>
          <p:nvPr/>
        </p:nvSpPr>
        <p:spPr>
          <a:xfrm xmlns:a="http://schemas.openxmlformats.org/drawingml/2006/main">
            <a:off x="723900" y="4114800"/>
            <a:ext cx="116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3</a:t>
            </a:r>
          </a:p>
        </p:txBody>
      </p:sp>
      <p:sp>
        <p:nvSpPr>
          <p:cNvPr id="15" name="TextBox 14">
            <a:extLst xmlns:a="http://schemas.openxmlformats.org/drawingml/2006/main">
              <a:ext uri="{FF2B5EF4-FFF2-40B4-BE49-F238E27FC236}">
                <a16:creationId xmlns:a16="http://schemas.microsoft.com/office/drawing/2014/main" id="{A2074C5A-F50A-4D15-8F46-F038F3F42D31}"/>
              </a:ext>
            </a:extLst>
          </p:cNvPr>
          <p:cNvSpPr>
            <a:spLocks xmlns:a="http://schemas.openxmlformats.org/drawingml/2006/main" noGrp="1"/>
          </p:cNvSpPr>
          <p:nvPr/>
        </p:nvSpPr>
        <p:spPr>
          <a:xfrm xmlns:a="http://schemas.openxmlformats.org/drawingml/2006/main">
            <a:off x="2120900" y="4114800"/>
            <a:ext cx="4914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Broader evaluation</a:t>
            </a:r>
          </a:p>
        </p:txBody>
      </p:sp>
      <p:sp>
        <p:nvSpPr>
          <p:cNvPr id="16" name="TextBox 15">
            <a:extLst xmlns:a="http://schemas.openxmlformats.org/drawingml/2006/main">
              <a:ext uri="{FF2B5EF4-FFF2-40B4-BE49-F238E27FC236}">
                <a16:creationId xmlns:a16="http://schemas.microsoft.com/office/drawing/2014/main" id="{34F5700D-B092-4922-B48B-3DA2F9FD65F8}"/>
              </a:ext>
            </a:extLst>
          </p:cNvPr>
          <p:cNvSpPr>
            <a:spLocks xmlns:a="http://schemas.openxmlformats.org/drawingml/2006/main" noGrp="1"/>
          </p:cNvSpPr>
          <p:nvPr/>
        </p:nvSpPr>
        <p:spPr>
          <a:xfrm xmlns:a="http://schemas.openxmlformats.org/drawingml/2006/main">
            <a:off x="7264400" y="4114800"/>
            <a:ext cx="4203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Held-out and adversarial cases</a:t>
            </a:r>
          </a:p>
        </p:txBody>
      </p:sp>
      <p:sp>
        <p:nvSpPr>
          <p:cNvPr id="17" name="TextBox 16">
            <a:extLst xmlns:a="http://schemas.openxmlformats.org/drawingml/2006/main">
              <a:ext uri="{FF2B5EF4-FFF2-40B4-BE49-F238E27FC236}">
                <a16:creationId xmlns:a16="http://schemas.microsoft.com/office/drawing/2014/main" id="{EF192E89-6A4D-42CF-AC73-4A90195F09A2}"/>
              </a:ext>
            </a:extLst>
          </p:cNvPr>
          <p:cNvSpPr>
            <a:spLocks xmlns:a="http://schemas.openxmlformats.org/drawingml/2006/main" noGrp="1"/>
          </p:cNvSpPr>
          <p:nvPr/>
        </p:nvSpPr>
        <p:spPr>
          <a:xfrm xmlns:a="http://schemas.openxmlformats.org/drawingml/2006/main">
            <a:off x="723900" y="4775200"/>
            <a:ext cx="1168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4</a:t>
            </a:r>
          </a:p>
        </p:txBody>
      </p:sp>
      <p:sp>
        <p:nvSpPr>
          <p:cNvPr id="18" name="TextBox 17">
            <a:extLst xmlns:a="http://schemas.openxmlformats.org/drawingml/2006/main">
              <a:ext uri="{FF2B5EF4-FFF2-40B4-BE49-F238E27FC236}">
                <a16:creationId xmlns:a16="http://schemas.microsoft.com/office/drawing/2014/main" id="{5BDFC2DC-41C2-4501-86FD-397F1FE08632}"/>
              </a:ext>
            </a:extLst>
          </p:cNvPr>
          <p:cNvSpPr>
            <a:spLocks xmlns:a="http://schemas.openxmlformats.org/drawingml/2006/main" noGrp="1"/>
          </p:cNvSpPr>
          <p:nvPr/>
        </p:nvSpPr>
        <p:spPr>
          <a:xfrm xmlns:a="http://schemas.openxmlformats.org/drawingml/2006/main">
            <a:off x="2120900" y="4775200"/>
            <a:ext cx="49149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Operational hardening</a:t>
            </a:r>
          </a:p>
        </p:txBody>
      </p:sp>
      <p:sp>
        <p:nvSpPr>
          <p:cNvPr id="19" name="TextBox 18">
            <a:extLst xmlns:a="http://schemas.openxmlformats.org/drawingml/2006/main">
              <a:ext uri="{FF2B5EF4-FFF2-40B4-BE49-F238E27FC236}">
                <a16:creationId xmlns:a16="http://schemas.microsoft.com/office/drawing/2014/main" id="{5E3A897C-A0B8-425B-AFFB-B0D7B9A4FE73}"/>
              </a:ext>
            </a:extLst>
          </p:cNvPr>
          <p:cNvSpPr>
            <a:spLocks xmlns:a="http://schemas.openxmlformats.org/drawingml/2006/main" noGrp="1"/>
          </p:cNvSpPr>
          <p:nvPr/>
        </p:nvSpPr>
        <p:spPr>
          <a:xfrm xmlns:a="http://schemas.openxmlformats.org/drawingml/2006/main">
            <a:off x="7264400" y="4775200"/>
            <a:ext cx="42037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904"/>
              </a:lnSpc>
              <a:spcBef>
                <a:spcPts val="0"/>
              </a:spcBef>
              <a:spcAft>
                <a:spcPts val="0"/>
              </a:spcAft>
              <a:buNone/>
              <a:defRPr sz="1600" b="0">
                <a:solidFill>
                  <a:srgbClr val="203430"/>
                </a:solidFill>
                <a:latin typeface="Arial"/>
                <a:ea typeface="Arial"/>
                <a:cs typeface="Arial"/>
              </a:defRPr>
            </a:pPr>
            <a:r>
              <a:t>Remote/load/security checks</a:t>
            </a:r>
          </a:p>
        </p:txBody>
      </p:sp>
      <p:sp>
        <p:nvSpPr>
          <p:cNvPr id="20" name="TextBox 19">
            <a:extLst xmlns:a="http://schemas.openxmlformats.org/drawingml/2006/main">
              <a:ext uri="{FF2B5EF4-FFF2-40B4-BE49-F238E27FC236}">
                <a16:creationId xmlns:a16="http://schemas.microsoft.com/office/drawing/2014/main" id="{E5D9D93F-98D0-48B5-85EF-4E8B2404408E}"/>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21" name="TextBox 20">
            <a:extLst xmlns:a="http://schemas.openxmlformats.org/drawingml/2006/main">
              <a:ext uri="{FF2B5EF4-FFF2-40B4-BE49-F238E27FC236}">
                <a16:creationId xmlns:a16="http://schemas.microsoft.com/office/drawing/2014/main" id="{C3294F9B-DBFC-49B1-A2BA-75F3BB8F3829}"/>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15</a:t>
            </a:r>
          </a:p>
        </p:txBody>
      </p:sp>
    </p:spTree>
    <p:extLst>
      <p:ext uri="{BB962C8B-B14F-4D97-AF65-F5344CB8AC3E}">
        <p14:creationId xmlns:p14="http://schemas.microsoft.com/office/powerpoint/2010/main" val="15195373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BF0B94-1E43-4D89-8C19-0284CD29CF93}"/>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APPENDIX A | LIVE REVIEW</a:t>
            </a:r>
          </a:p>
        </p:txBody>
      </p:sp>
      <p:sp>
        <p:nvSpPr>
          <p:cNvPr id="3" name="TextBox 2">
            <a:extLst xmlns:a="http://schemas.openxmlformats.org/drawingml/2006/main">
              <a:ext uri="{FF2B5EF4-FFF2-40B4-BE49-F238E27FC236}">
                <a16:creationId xmlns:a16="http://schemas.microsoft.com/office/drawing/2014/main" id="{43FFB296-BC08-4BB6-8BE3-1C7A26120D78}"/>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Three questions a judge can reproduce.</a:t>
            </a:r>
          </a:p>
        </p:txBody>
      </p:sp>
      <p:sp>
        <p:nvSpPr>
          <p:cNvPr id="4" name="TextBox 3">
            <a:extLst xmlns:a="http://schemas.openxmlformats.org/drawingml/2006/main">
              <a:ext uri="{FF2B5EF4-FFF2-40B4-BE49-F238E27FC236}">
                <a16:creationId xmlns:a16="http://schemas.microsoft.com/office/drawing/2014/main" id="{3857557D-04AD-45B6-BC4E-26BDADFE63AC}"/>
              </a:ext>
            </a:extLst>
          </p:cNvPr>
          <p:cNvSpPr>
            <a:spLocks xmlns:a="http://schemas.openxmlformats.org/drawingml/2006/main" noGrp="1"/>
          </p:cNvSpPr>
          <p:nvPr/>
        </p:nvSpPr>
        <p:spPr>
          <a:xfrm xmlns:a="http://schemas.openxmlformats.org/drawingml/2006/main">
            <a:off x="609600" y="1955800"/>
            <a:ext cx="10972800" cy="3810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1. Screen Florida disaster 4734 cost-share ratios; prepare one evidence brief and</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state the limits.</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2. Check Florida disaster 4673 Category C costs; explain the baseline and</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three-sigma rule.</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3. Find repeated worksheets for Florida disaster 4673; preserve and explain any</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zero result.</a:t>
            </a:r>
          </a:p>
        </p:txBody>
      </p:sp>
      <p:sp>
        <p:nvSpPr>
          <p:cNvPr id="5" name="TextBox 4">
            <a:extLst xmlns:a="http://schemas.openxmlformats.org/drawingml/2006/main">
              <a:ext uri="{FF2B5EF4-FFF2-40B4-BE49-F238E27FC236}">
                <a16:creationId xmlns:a16="http://schemas.microsoft.com/office/drawing/2014/main" id="{12181EA3-DCEF-4894-A66B-09637761E362}"/>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6" name="TextBox 5">
            <a:extLst xmlns:a="http://schemas.openxmlformats.org/drawingml/2006/main">
              <a:ext uri="{FF2B5EF4-FFF2-40B4-BE49-F238E27FC236}">
                <a16:creationId xmlns:a16="http://schemas.microsoft.com/office/drawing/2014/main" id="{D42D8FEE-8E3C-4B61-8383-5CE67467B07C}"/>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16</a:t>
            </a:r>
          </a:p>
        </p:txBody>
      </p:sp>
    </p:spTree>
    <p:extLst>
      <p:ext uri="{BB962C8B-B14F-4D97-AF65-F5344CB8AC3E}">
        <p14:creationId xmlns:p14="http://schemas.microsoft.com/office/powerpoint/2010/main" val="4196056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049BD5A-E4CA-4275-9CC9-3321193AA214}"/>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APPENDIX B | REPRODUCIBILITY</a:t>
            </a:r>
          </a:p>
        </p:txBody>
      </p:sp>
      <p:sp>
        <p:nvSpPr>
          <p:cNvPr id="3" name="TextBox 2">
            <a:extLst xmlns:a="http://schemas.openxmlformats.org/drawingml/2006/main">
              <a:ext uri="{FF2B5EF4-FFF2-40B4-BE49-F238E27FC236}">
                <a16:creationId xmlns:a16="http://schemas.microsoft.com/office/drawing/2014/main" id="{E32C11F0-6C38-43F3-A19D-54F09AC4D124}"/>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A test run should leave enough evidence to challenge it.</a:t>
            </a:r>
          </a:p>
        </p:txBody>
      </p:sp>
      <p:sp>
        <p:nvSpPr>
          <p:cNvPr id="4" name="Rectangle 3">
            <a:extLst xmlns:a="http://schemas.openxmlformats.org/drawingml/2006/main">
              <a:ext uri="{FF2B5EF4-FFF2-40B4-BE49-F238E27FC236}">
                <a16:creationId xmlns:a16="http://schemas.microsoft.com/office/drawing/2014/main" id="{5E7E650F-FFD5-4877-8A78-C6D3FB0AA817}"/>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139D770-8275-4718-B3B2-DE5620B2DCB3}"/>
              </a:ext>
            </a:extLst>
          </p:cNvPr>
          <p:cNvSpPr>
            <a:spLocks xmlns:a="http://schemas.openxmlformats.org/drawingml/2006/main" noGrp="1"/>
          </p:cNvSpPr>
          <p:nvPr/>
        </p:nvSpPr>
        <p:spPr>
          <a:xfrm xmlns:a="http://schemas.openxmlformats.org/drawingml/2006/main">
            <a:off x="723900" y="21336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Artifact</a:t>
            </a:r>
          </a:p>
        </p:txBody>
      </p:sp>
      <p:sp>
        <p:nvSpPr>
          <p:cNvPr id="6" name="TextBox 5">
            <a:extLst xmlns:a="http://schemas.openxmlformats.org/drawingml/2006/main">
              <a:ext uri="{FF2B5EF4-FFF2-40B4-BE49-F238E27FC236}">
                <a16:creationId xmlns:a16="http://schemas.microsoft.com/office/drawing/2014/main" id="{8920B75C-65D8-498C-9F92-0F695011DC4B}"/>
              </a:ext>
            </a:extLst>
          </p:cNvPr>
          <p:cNvSpPr>
            <a:spLocks xmlns:a="http://schemas.openxmlformats.org/drawingml/2006/main" noGrp="1"/>
          </p:cNvSpPr>
          <p:nvPr/>
        </p:nvSpPr>
        <p:spPr>
          <a:xfrm xmlns:a="http://schemas.openxmlformats.org/drawingml/2006/main">
            <a:off x="5295900" y="21336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Why it matters</a:t>
            </a:r>
          </a:p>
        </p:txBody>
      </p:sp>
      <p:sp>
        <p:nvSpPr>
          <p:cNvPr id="7" name="TextBox 6">
            <a:extLst xmlns:a="http://schemas.openxmlformats.org/drawingml/2006/main">
              <a:ext uri="{FF2B5EF4-FFF2-40B4-BE49-F238E27FC236}">
                <a16:creationId xmlns:a16="http://schemas.microsoft.com/office/drawing/2014/main" id="{0C0608CF-11A7-485A-BAB6-58FD4F7702CB}"/>
              </a:ext>
            </a:extLst>
          </p:cNvPr>
          <p:cNvSpPr>
            <a:spLocks xmlns:a="http://schemas.openxmlformats.org/drawingml/2006/main" noGrp="1"/>
          </p:cNvSpPr>
          <p:nvPr/>
        </p:nvSpPr>
        <p:spPr>
          <a:xfrm xmlns:a="http://schemas.openxmlformats.org/drawingml/2006/main">
            <a:off x="723900" y="27940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Snapshots + SQL comparisons</a:t>
            </a:r>
          </a:p>
        </p:txBody>
      </p:sp>
      <p:sp>
        <p:nvSpPr>
          <p:cNvPr id="8" name="TextBox 7">
            <a:extLst xmlns:a="http://schemas.openxmlformats.org/drawingml/2006/main">
              <a:ext uri="{FF2B5EF4-FFF2-40B4-BE49-F238E27FC236}">
                <a16:creationId xmlns:a16="http://schemas.microsoft.com/office/drawing/2014/main" id="{23F768A1-4711-494F-8888-403C4AA5B50A}"/>
              </a:ext>
            </a:extLst>
          </p:cNvPr>
          <p:cNvSpPr>
            <a:spLocks xmlns:a="http://schemas.openxmlformats.org/drawingml/2006/main" noGrp="1"/>
          </p:cNvSpPr>
          <p:nvPr/>
        </p:nvSpPr>
        <p:spPr>
          <a:xfrm xmlns:a="http://schemas.openxmlformats.org/drawingml/2006/main">
            <a:off x="5295900" y="27940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Challenge input and membership</a:t>
            </a:r>
          </a:p>
        </p:txBody>
      </p:sp>
      <p:sp>
        <p:nvSpPr>
          <p:cNvPr id="9" name="TextBox 8">
            <a:extLst xmlns:a="http://schemas.openxmlformats.org/drawingml/2006/main">
              <a:ext uri="{FF2B5EF4-FFF2-40B4-BE49-F238E27FC236}">
                <a16:creationId xmlns:a16="http://schemas.microsoft.com/office/drawing/2014/main" id="{612CDF7C-24BB-41A9-9A01-C1132F8AF875}"/>
              </a:ext>
            </a:extLst>
          </p:cNvPr>
          <p:cNvSpPr>
            <a:spLocks xmlns:a="http://schemas.openxmlformats.org/drawingml/2006/main" noGrp="1"/>
          </p:cNvSpPr>
          <p:nvPr/>
        </p:nvSpPr>
        <p:spPr>
          <a:xfrm xmlns:a="http://schemas.openxmlformats.org/drawingml/2006/main">
            <a:off x="723900" y="34544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JUnit + lint logs</a:t>
            </a:r>
          </a:p>
        </p:txBody>
      </p:sp>
      <p:sp>
        <p:nvSpPr>
          <p:cNvPr id="10" name="TextBox 9">
            <a:extLst xmlns:a="http://schemas.openxmlformats.org/drawingml/2006/main">
              <a:ext uri="{FF2B5EF4-FFF2-40B4-BE49-F238E27FC236}">
                <a16:creationId xmlns:a16="http://schemas.microsoft.com/office/drawing/2014/main" id="{DB2DB953-AE87-45A3-8BC5-1A57629ED227}"/>
              </a:ext>
            </a:extLst>
          </p:cNvPr>
          <p:cNvSpPr>
            <a:spLocks xmlns:a="http://schemas.openxmlformats.org/drawingml/2006/main" noGrp="1"/>
          </p:cNvSpPr>
          <p:nvPr/>
        </p:nvSpPr>
        <p:spPr>
          <a:xfrm xmlns:a="http://schemas.openxmlformats.org/drawingml/2006/main">
            <a:off x="5295900" y="34544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Inspect each recorded outcome</a:t>
            </a:r>
          </a:p>
        </p:txBody>
      </p:sp>
      <p:sp>
        <p:nvSpPr>
          <p:cNvPr id="11" name="TextBox 10">
            <a:extLst xmlns:a="http://schemas.openxmlformats.org/drawingml/2006/main">
              <a:ext uri="{FF2B5EF4-FFF2-40B4-BE49-F238E27FC236}">
                <a16:creationId xmlns:a16="http://schemas.microsoft.com/office/drawing/2014/main" id="{0898C488-88C5-4BED-BFAC-B407691B1340}"/>
              </a:ext>
            </a:extLst>
          </p:cNvPr>
          <p:cNvSpPr>
            <a:spLocks xmlns:a="http://schemas.openxmlformats.org/drawingml/2006/main" noGrp="1"/>
          </p:cNvSpPr>
          <p:nvPr/>
        </p:nvSpPr>
        <p:spPr>
          <a:xfrm xmlns:a="http://schemas.openxmlformats.org/drawingml/2006/main">
            <a:off x="723900" y="41148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Model/tool traces</a:t>
            </a:r>
          </a:p>
        </p:txBody>
      </p:sp>
      <p:sp>
        <p:nvSpPr>
          <p:cNvPr id="12" name="TextBox 11">
            <a:extLst xmlns:a="http://schemas.openxmlformats.org/drawingml/2006/main">
              <a:ext uri="{FF2B5EF4-FFF2-40B4-BE49-F238E27FC236}">
                <a16:creationId xmlns:a16="http://schemas.microsoft.com/office/drawing/2014/main" id="{9BE8BA49-E936-4B0A-A67F-9F3CE3FBCAA8}"/>
              </a:ext>
            </a:extLst>
          </p:cNvPr>
          <p:cNvSpPr>
            <a:spLocks xmlns:a="http://schemas.openxmlformats.org/drawingml/2006/main" noGrp="1"/>
          </p:cNvSpPr>
          <p:nvPr/>
        </p:nvSpPr>
        <p:spPr>
          <a:xfrm xmlns:a="http://schemas.openxmlformats.org/drawingml/2006/main">
            <a:off x="5295900" y="41148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Separate tool output from prose</a:t>
            </a:r>
          </a:p>
        </p:txBody>
      </p:sp>
      <p:sp>
        <p:nvSpPr>
          <p:cNvPr id="13" name="TextBox 12">
            <a:extLst xmlns:a="http://schemas.openxmlformats.org/drawingml/2006/main">
              <a:ext uri="{FF2B5EF4-FFF2-40B4-BE49-F238E27FC236}">
                <a16:creationId xmlns:a16="http://schemas.microsoft.com/office/drawing/2014/main" id="{C3779A38-A8CF-45A6-9449-0D34FD59D1A6}"/>
              </a:ext>
            </a:extLst>
          </p:cNvPr>
          <p:cNvSpPr>
            <a:spLocks xmlns:a="http://schemas.openxmlformats.org/drawingml/2006/main" noGrp="1"/>
          </p:cNvSpPr>
          <p:nvPr/>
        </p:nvSpPr>
        <p:spPr>
          <a:xfrm xmlns:a="http://schemas.openxmlformats.org/drawingml/2006/main">
            <a:off x="723900" y="47752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Hashes + MLflow run</a:t>
            </a:r>
          </a:p>
        </p:txBody>
      </p:sp>
      <p:sp>
        <p:nvSpPr>
          <p:cNvPr id="14" name="TextBox 13">
            <a:extLst xmlns:a="http://schemas.openxmlformats.org/drawingml/2006/main">
              <a:ext uri="{FF2B5EF4-FFF2-40B4-BE49-F238E27FC236}">
                <a16:creationId xmlns:a16="http://schemas.microsoft.com/office/drawing/2014/main" id="{CCE30006-F7BF-41F4-BD58-35444D92FA60}"/>
              </a:ext>
            </a:extLst>
          </p:cNvPr>
          <p:cNvSpPr>
            <a:spLocks xmlns:a="http://schemas.openxmlformats.org/drawingml/2006/main" noGrp="1"/>
          </p:cNvSpPr>
          <p:nvPr/>
        </p:nvSpPr>
        <p:spPr>
          <a:xfrm xmlns:a="http://schemas.openxmlformats.org/drawingml/2006/main">
            <a:off x="5295900" y="47752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Identify the evidence version</a:t>
            </a:r>
          </a:p>
        </p:txBody>
      </p:sp>
      <p:sp>
        <p:nvSpPr>
          <p:cNvPr id="15" name="TextBox 14">
            <a:extLst xmlns:a="http://schemas.openxmlformats.org/drawingml/2006/main">
              <a:ext uri="{FF2B5EF4-FFF2-40B4-BE49-F238E27FC236}">
                <a16:creationId xmlns:a16="http://schemas.microsoft.com/office/drawing/2014/main" id="{D6AD6ECC-E424-48BE-B6FD-AD4B1E4F7796}"/>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6" name="TextBox 15">
            <a:extLst xmlns:a="http://schemas.openxmlformats.org/drawingml/2006/main">
              <a:ext uri="{FF2B5EF4-FFF2-40B4-BE49-F238E27FC236}">
                <a16:creationId xmlns:a16="http://schemas.microsoft.com/office/drawing/2014/main" id="{95439103-AF95-48EF-9F49-33E6D2909E12}"/>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17</a:t>
            </a:r>
          </a:p>
        </p:txBody>
      </p:sp>
    </p:spTree>
    <p:extLst>
      <p:ext uri="{BB962C8B-B14F-4D97-AF65-F5344CB8AC3E}">
        <p14:creationId xmlns:p14="http://schemas.microsoft.com/office/powerpoint/2010/main" val="13132070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D62CD3-DE39-4A41-8D4A-EBDDE2CADA26}"/>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APPENDIX C | SCOPE</a:t>
            </a:r>
          </a:p>
        </p:txBody>
      </p:sp>
      <p:sp>
        <p:nvSpPr>
          <p:cNvPr id="3" name="TextBox 2">
            <a:extLst xmlns:a="http://schemas.openxmlformats.org/drawingml/2006/main">
              <a:ext uri="{FF2B5EF4-FFF2-40B4-BE49-F238E27FC236}">
                <a16:creationId xmlns:a16="http://schemas.microsoft.com/office/drawing/2014/main" id="{3DCC92C3-27E3-44EC-BD50-1AB39AD14B65}"/>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What this prototype does not claim.</a:t>
            </a:r>
          </a:p>
        </p:txBody>
      </p:sp>
      <p:sp>
        <p:nvSpPr>
          <p:cNvPr id="4" name="TextBox 3">
            <a:extLst xmlns:a="http://schemas.openxmlformats.org/drawingml/2006/main">
              <a:ext uri="{FF2B5EF4-FFF2-40B4-BE49-F238E27FC236}">
                <a16:creationId xmlns:a16="http://schemas.microsoft.com/office/drawing/2014/main" id="{F72E7779-97A0-4C25-BA8B-D7A899B97EAB}"/>
              </a:ext>
            </a:extLst>
          </p:cNvPr>
          <p:cNvSpPr>
            <a:spLocks xmlns:a="http://schemas.openxmlformats.org/drawingml/2006/main" noGrp="1"/>
          </p:cNvSpPr>
          <p:nvPr/>
        </p:nvSpPr>
        <p:spPr>
          <a:xfrm xmlns:a="http://schemas.openxmlformats.org/drawingml/2006/main">
            <a:off x="609600" y="1968500"/>
            <a:ext cx="10972800" cy="39370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fraud or policy-violation determination</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Section 406 or CEF eligibility validation</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financial action or payment key</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current Unity Catalog calculation backend</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zero-hallucination or retrieval-accuracy claim</a:t>
            </a:r>
          </a:p>
          <a:p xmlns:a="http://schemas.openxmlformats.org/drawingml/2006/main">
            <a:pPr>
              <a:lnSpc>
                <a:spcPts val="2736"/>
              </a:lnSpc>
              <a:spcBef>
                <a:spcPts val="0"/>
              </a:spcBef>
              <a:spcAft>
                <a:spcPts val="0"/>
              </a:spcAft>
              <a:buNone/>
              <a:defRPr sz="2300" b="0">
                <a:solidFill>
                  <a:srgbClr val="203430"/>
                </a:solidFill>
                <a:latin typeface="Arial"/>
                <a:ea typeface="Arial"/>
                <a:cs typeface="Arial"/>
              </a:defRPr>
            </a:pPr>
            <a:r>
              <a:t>- No measured audit-savings or production-readiness claim</a:t>
            </a:r>
          </a:p>
        </p:txBody>
      </p:sp>
      <p:sp>
        <p:nvSpPr>
          <p:cNvPr id="5" name="TextBox 4">
            <a:extLst xmlns:a="http://schemas.openxmlformats.org/drawingml/2006/main">
              <a:ext uri="{FF2B5EF4-FFF2-40B4-BE49-F238E27FC236}">
                <a16:creationId xmlns:a16="http://schemas.microsoft.com/office/drawing/2014/main" id="{36941BED-350A-454F-8203-945AB0AEEC5B}"/>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6" name="TextBox 5">
            <a:extLst xmlns:a="http://schemas.openxmlformats.org/drawingml/2006/main">
              <a:ext uri="{FF2B5EF4-FFF2-40B4-BE49-F238E27FC236}">
                <a16:creationId xmlns:a16="http://schemas.microsoft.com/office/drawing/2014/main" id="{D0DF8A59-A74A-4DA1-AB29-CFF3D8EFBC36}"/>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18</a:t>
            </a:r>
          </a:p>
        </p:txBody>
      </p:sp>
    </p:spTree>
    <p:extLst>
      <p:ext uri="{BB962C8B-B14F-4D97-AF65-F5344CB8AC3E}">
        <p14:creationId xmlns:p14="http://schemas.microsoft.com/office/powerpoint/2010/main" val="20860265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C7F6C77-FB6C-4EFB-BDD8-9639BE78FBA4}"/>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APPENDIX D | REVIEWER ACCESS</a:t>
            </a:r>
          </a:p>
        </p:txBody>
      </p:sp>
      <p:sp>
        <p:nvSpPr>
          <p:cNvPr id="3" name="TextBox 2">
            <a:extLst xmlns:a="http://schemas.openxmlformats.org/drawingml/2006/main">
              <a:ext uri="{FF2B5EF4-FFF2-40B4-BE49-F238E27FC236}">
                <a16:creationId xmlns:a16="http://schemas.microsoft.com/office/drawing/2014/main" id="{9621FF10-353E-47B6-B5EE-9A2B7C389988}"/>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Run the saved Databricks validation job.</a:t>
            </a:r>
          </a:p>
        </p:txBody>
      </p:sp>
      <p:sp>
        <p:nvSpPr>
          <p:cNvPr id="4" name="TextBox 3">
            <a:extLst xmlns:a="http://schemas.openxmlformats.org/drawingml/2006/main">
              <a:ext uri="{FF2B5EF4-FFF2-40B4-BE49-F238E27FC236}">
                <a16:creationId xmlns:a16="http://schemas.microsoft.com/office/drawing/2014/main" id="{5A8ECF3B-A72E-4EF0-9475-83CD6BD8F30D}"/>
              </a:ext>
            </a:extLst>
          </p:cNvPr>
          <p:cNvSpPr>
            <a:spLocks xmlns:a="http://schemas.openxmlformats.org/drawingml/2006/main" noGrp="1"/>
          </p:cNvSpPr>
          <p:nvPr/>
        </p:nvSpPr>
        <p:spPr>
          <a:xfrm xmlns:a="http://schemas.openxmlformats.org/drawingml/2006/main">
            <a:off x="609600" y="1993900"/>
            <a:ext cx="6708775" cy="199491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r>
              <a:t>Job: 67919837469456</a:t>
            </a:r>
          </a:p>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r>
              <a:t>Experiment: 1305734463288268</a:t>
            </a:r>
          </a:p>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r>
              <a:t>Reference: eval/results/</a:t>
            </a:r>
            <a:r>
              <a:t>20261029T111811Z</a:t>
            </a:r>
            <a:r>
              <a:t>/</a:t>
            </a:r>
          </a:p>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p>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r>
              <a:t>Start at SUBMISSION.md.</a:t>
            </a:r>
          </a:p>
          <a:p xmlns:a="http://schemas.openxmlformats.org/drawingml/2006/main">
            <a:pPr>
              <a:lnSpc>
                <a:spcPts val="2618"/>
              </a:lnSpc>
              <a:spcBef>
                <a:spcPts val="0"/>
              </a:spcBef>
              <a:spcAft>
                <a:spcPts val="0"/>
              </a:spcAft>
              <a:buNone/>
              <a:defRPr sz="2200" b="0">
                <a:solidFill>
                  <a:srgbClr val="203430"/>
                </a:solidFill>
                <a:latin typeface="Arial"/>
                <a:ea typeface="Arial"/>
                <a:cs typeface="Arial"/>
              </a:defRPr>
            </a:pPr>
            <a:r>
              <a:t>Repository: github.com/phebeong/2026-HACKATHON</a:t>
            </a:r>
          </a:p>
        </p:txBody>
      </p:sp>
      <p:sp>
        <p:nvSpPr>
          <p:cNvPr id="5" name="TextBox 4">
            <a:extLst xmlns:a="http://schemas.openxmlformats.org/drawingml/2006/main">
              <a:ext uri="{FF2B5EF4-FFF2-40B4-BE49-F238E27FC236}">
                <a16:creationId xmlns:a16="http://schemas.microsoft.com/office/drawing/2014/main" id="{ADC61F7D-35D5-449E-8CCA-5D73AFFEA1ED}"/>
              </a:ext>
            </a:extLst>
          </p:cNvPr>
          <p:cNvSpPr>
            <a:spLocks xmlns:a="http://schemas.openxmlformats.org/drawingml/2006/main" noGrp="1"/>
          </p:cNvSpPr>
          <p:nvPr/>
        </p:nvSpPr>
        <p:spPr>
          <a:xfrm xmlns:a="http://schemas.openxmlformats.org/drawingml/2006/main">
            <a:off x="609600" y="5473700"/>
            <a:ext cx="10972800" cy="5715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023"/>
              </a:lnSpc>
              <a:spcBef>
                <a:spcPts val="0"/>
              </a:spcBef>
              <a:spcAft>
                <a:spcPts val="0"/>
              </a:spcAft>
              <a:buNone/>
              <a:defRPr sz="1700" b="0">
                <a:solidFill>
                  <a:srgbClr val="546963"/>
                </a:solidFill>
                <a:latin typeface="Arial"/>
                <a:ea typeface="Arial"/>
                <a:cs typeface="Arial"/>
              </a:defRPr>
            </a:pPr>
            <a:r>
              <a:t>Authenticated sandbox. Arrange reviewer access through the approved process.</a:t>
            </a:r>
          </a:p>
        </p:txBody>
      </p:sp>
      <p:sp>
        <p:nvSpPr>
          <p:cNvPr id="6" name="TextBox 5">
            <a:extLst xmlns:a="http://schemas.openxmlformats.org/drawingml/2006/main">
              <a:ext uri="{FF2B5EF4-FFF2-40B4-BE49-F238E27FC236}">
                <a16:creationId xmlns:a16="http://schemas.microsoft.com/office/drawing/2014/main" id="{00E5BD46-973E-421F-BEB0-C5EEE92EF507}"/>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7" name="TextBox 6">
            <a:extLst xmlns:a="http://schemas.openxmlformats.org/drawingml/2006/main">
              <a:ext uri="{FF2B5EF4-FFF2-40B4-BE49-F238E27FC236}">
                <a16:creationId xmlns:a16="http://schemas.microsoft.com/office/drawing/2014/main" id="{92F872C8-6EE6-4B9F-A368-7E524B6C13AD}"/>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19</a:t>
            </a:r>
          </a:p>
        </p:txBody>
      </p:sp>
    </p:spTree>
    <p:extLst>
      <p:ext uri="{BB962C8B-B14F-4D97-AF65-F5344CB8AC3E}">
        <p14:creationId xmlns:p14="http://schemas.microsoft.com/office/powerpoint/2010/main" val="11951876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82275CA-5F77-4C58-8F03-0A7FFBFC9CC1}"/>
              </a:ext>
            </a:extLst>
          </p:cNvPr>
          <p:cNvSpPr>
            <a:spLocks xmlns:a="http://schemas.openxmlformats.org/drawingml/2006/main" noGrp="1"/>
          </p:cNvSpPr>
          <p:nvPr/>
        </p:nvSpPr>
        <p:spPr>
          <a:xfrm xmlns:a="http://schemas.openxmlformats.org/drawingml/2006/main">
            <a:off x="609600" y="342900"/>
            <a:ext cx="10972800" cy="3302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428"/>
              </a:lnSpc>
              <a:spcBef>
                <a:spcPts val="0"/>
              </a:spcBef>
              <a:spcAft>
                <a:spcPts val="0"/>
              </a:spcAft>
              <a:buNone/>
              <a:defRPr sz="1200" b="1">
                <a:solidFill>
                  <a:srgbClr val="147D71"/>
                </a:solidFill>
                <a:latin typeface="Arial"/>
                <a:ea typeface="Arial"/>
                <a:cs typeface="Arial"/>
              </a:defRPr>
            </a:pPr>
            <a:r>
              <a:t>APPENDIX E | SOURCES</a:t>
            </a:r>
          </a:p>
        </p:txBody>
      </p:sp>
      <p:sp>
        <p:nvSpPr>
          <p:cNvPr id="3" name="TextBox 2">
            <a:extLst xmlns:a="http://schemas.openxmlformats.org/drawingml/2006/main">
              <a:ext uri="{FF2B5EF4-FFF2-40B4-BE49-F238E27FC236}">
                <a16:creationId xmlns:a16="http://schemas.microsoft.com/office/drawing/2014/main" id="{F450E2C3-3395-424C-A1DE-5AFFFD4782DC}"/>
              </a:ext>
            </a:extLst>
          </p:cNvPr>
          <p:cNvSpPr>
            <a:spLocks xmlns:a="http://schemas.openxmlformats.org/drawingml/2006/main" noGrp="1"/>
          </p:cNvSpPr>
          <p:nvPr/>
        </p:nvSpPr>
        <p:spPr>
          <a:xfrm xmlns:a="http://schemas.openxmlformats.org/drawingml/2006/main">
            <a:off x="609600" y="838200"/>
            <a:ext cx="10972800" cy="10668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3808"/>
              </a:lnSpc>
              <a:spcBef>
                <a:spcPts val="0"/>
              </a:spcBef>
              <a:spcAft>
                <a:spcPts val="0"/>
              </a:spcAft>
              <a:buNone/>
              <a:defRPr sz="3200" b="1">
                <a:solidFill>
                  <a:srgbClr val="17473D"/>
                </a:solidFill>
                <a:latin typeface="Arial"/>
                <a:ea typeface="Arial"/>
                <a:cs typeface="Arial"/>
              </a:defRPr>
            </a:pPr>
            <a:r>
              <a:t>Primary sources and inspectable project evidence.</a:t>
            </a:r>
          </a:p>
        </p:txBody>
      </p:sp>
      <p:sp>
        <p:nvSpPr>
          <p:cNvPr id="4" name="Rectangle 3">
            <a:extLst xmlns:a="http://schemas.openxmlformats.org/drawingml/2006/main">
              <a:ext uri="{FF2B5EF4-FFF2-40B4-BE49-F238E27FC236}">
                <a16:creationId xmlns:a16="http://schemas.microsoft.com/office/drawing/2014/main" id="{53EC87C9-7BCB-4135-A4FB-E79B3B9C41CE}"/>
              </a:ext>
            </a:extLst>
          </p:cNvPr>
          <p:cNvSpPr>
            <a:spLocks xmlns:a="http://schemas.openxmlformats.org/drawingml/2006/main" noGrp="1"/>
          </p:cNvSpPr>
          <p:nvPr/>
        </p:nvSpPr>
        <p:spPr>
          <a:xfrm xmlns:a="http://schemas.openxmlformats.org/drawingml/2006/main">
            <a:off x="609600" y="2006600"/>
            <a:ext cx="10972800" cy="660400"/>
          </a:xfrm>
          <a:prstGeom xmlns:a="http://schemas.openxmlformats.org/drawingml/2006/main" prst="rect">
            <a:avLst/>
          </a:prstGeom>
          <a:solidFill xmlns:a="http://schemas.openxmlformats.org/drawingml/2006/main">
            <a:srgbClr val="E7F0E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E5962CA-15A7-45DF-B6C0-148AE09F1BDE}"/>
              </a:ext>
            </a:extLst>
          </p:cNvPr>
          <p:cNvSpPr>
            <a:spLocks xmlns:a="http://schemas.openxmlformats.org/drawingml/2006/main" noGrp="1"/>
          </p:cNvSpPr>
          <p:nvPr/>
        </p:nvSpPr>
        <p:spPr>
          <a:xfrm xmlns:a="http://schemas.openxmlformats.org/drawingml/2006/main">
            <a:off x="723900" y="21336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Source</a:t>
            </a:r>
          </a:p>
        </p:txBody>
      </p:sp>
      <p:sp>
        <p:nvSpPr>
          <p:cNvPr id="6" name="TextBox 5">
            <a:extLst xmlns:a="http://schemas.openxmlformats.org/drawingml/2006/main">
              <a:ext uri="{FF2B5EF4-FFF2-40B4-BE49-F238E27FC236}">
                <a16:creationId xmlns:a16="http://schemas.microsoft.com/office/drawing/2014/main" id="{78AB19FE-6882-4289-876F-619D8B7B202B}"/>
              </a:ext>
            </a:extLst>
          </p:cNvPr>
          <p:cNvSpPr>
            <a:spLocks xmlns:a="http://schemas.openxmlformats.org/drawingml/2006/main" noGrp="1"/>
          </p:cNvSpPr>
          <p:nvPr/>
        </p:nvSpPr>
        <p:spPr>
          <a:xfrm xmlns:a="http://schemas.openxmlformats.org/drawingml/2006/main">
            <a:off x="5295900" y="21336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1">
                <a:solidFill>
                  <a:srgbClr val="17473D"/>
                </a:solidFill>
                <a:latin typeface="Arial"/>
                <a:ea typeface="Arial"/>
                <a:cs typeface="Arial"/>
              </a:defRPr>
            </a:pPr>
            <a:r>
              <a:t>Use</a:t>
            </a:r>
          </a:p>
        </p:txBody>
      </p:sp>
      <p:sp>
        <p:nvSpPr>
          <p:cNvPr id="7" name="TextBox 6">
            <a:hlinkClick xmlns:r="http://schemas.openxmlformats.org/officeDocument/2006/relationships" xmlns:a="http://schemas.openxmlformats.org/drawingml/2006/main" r:id="Rfbefbf84b62a45e1"/>
            <a:extLst xmlns:a="http://schemas.openxmlformats.org/drawingml/2006/main">
              <a:ext uri="{FF2B5EF4-FFF2-40B4-BE49-F238E27FC236}">
                <a16:creationId xmlns:a16="http://schemas.microsoft.com/office/drawing/2014/main" id="{AF3C37C9-1777-4862-A1A3-76F0CE4F3C51}"/>
              </a:ext>
            </a:extLst>
          </p:cNvPr>
          <p:cNvSpPr>
            <a:spLocks xmlns:a="http://schemas.openxmlformats.org/drawingml/2006/main" noGrp="1"/>
          </p:cNvSpPr>
          <p:nvPr/>
        </p:nvSpPr>
        <p:spPr>
          <a:xfrm xmlns:a="http://schemas.openxmlformats.org/drawingml/2006/main">
            <a:off x="723900" y="27940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Official GSA hackathon page</a:t>
            </a:r>
          </a:p>
        </p:txBody>
      </p:sp>
      <p:sp>
        <p:nvSpPr>
          <p:cNvPr id="8" name="TextBox 7">
            <a:extLst xmlns:a="http://schemas.openxmlformats.org/drawingml/2006/main">
              <a:ext uri="{FF2B5EF4-FFF2-40B4-BE49-F238E27FC236}">
                <a16:creationId xmlns:a16="http://schemas.microsoft.com/office/drawing/2014/main" id="{CBF97F16-6B5C-4280-8610-C5F658FE3178}"/>
              </a:ext>
            </a:extLst>
          </p:cNvPr>
          <p:cNvSpPr>
            <a:spLocks xmlns:a="http://schemas.openxmlformats.org/drawingml/2006/main" noGrp="1"/>
          </p:cNvSpPr>
          <p:nvPr/>
        </p:nvSpPr>
        <p:spPr>
          <a:xfrm xmlns:a="http://schemas.openxmlformats.org/drawingml/2006/main">
            <a:off x="5295900" y="27940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Track, deliverables and criteria</a:t>
            </a:r>
          </a:p>
        </p:txBody>
      </p:sp>
      <p:sp>
        <p:nvSpPr>
          <p:cNvPr id="9" name="TextBox 8">
            <a:hlinkClick xmlns:r="http://schemas.openxmlformats.org/officeDocument/2006/relationships" xmlns:a="http://schemas.openxmlformats.org/drawingml/2006/main" r:id="R05da01ca68e24595"/>
            <a:extLst xmlns:a="http://schemas.openxmlformats.org/drawingml/2006/main">
              <a:ext uri="{FF2B5EF4-FFF2-40B4-BE49-F238E27FC236}">
                <a16:creationId xmlns:a16="http://schemas.microsoft.com/office/drawing/2014/main" id="{81FE419F-D17C-4D56-82B3-5014D0592098}"/>
              </a:ext>
            </a:extLst>
          </p:cNvPr>
          <p:cNvSpPr>
            <a:spLocks xmlns:a="http://schemas.openxmlformats.org/drawingml/2006/main" noGrp="1"/>
          </p:cNvSpPr>
          <p:nvPr/>
        </p:nvSpPr>
        <p:spPr>
          <a:xfrm xmlns:a="http://schemas.openxmlformats.org/drawingml/2006/main">
            <a:off x="723900" y="34544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OpenFEMA v2 API</a:t>
            </a:r>
          </a:p>
        </p:txBody>
      </p:sp>
      <p:sp>
        <p:nvSpPr>
          <p:cNvPr id="10" name="TextBox 9">
            <a:extLst xmlns:a="http://schemas.openxmlformats.org/drawingml/2006/main">
              <a:ext uri="{FF2B5EF4-FFF2-40B4-BE49-F238E27FC236}">
                <a16:creationId xmlns:a16="http://schemas.microsoft.com/office/drawing/2014/main" id="{09F924D3-E16B-4AAB-8CD8-592810E08053}"/>
              </a:ext>
            </a:extLst>
          </p:cNvPr>
          <p:cNvSpPr>
            <a:spLocks xmlns:a="http://schemas.openxmlformats.org/drawingml/2006/main" noGrp="1"/>
          </p:cNvSpPr>
          <p:nvPr/>
        </p:nvSpPr>
        <p:spPr>
          <a:xfrm xmlns:a="http://schemas.openxmlformats.org/drawingml/2006/main">
            <a:off x="5295900" y="34544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Archived source records</a:t>
            </a:r>
          </a:p>
        </p:txBody>
      </p:sp>
      <p:sp>
        <p:nvSpPr>
          <p:cNvPr id="11" name="TextBox 10">
            <a:hlinkClick xmlns:r="http://schemas.openxmlformats.org/officeDocument/2006/relationships" xmlns:a="http://schemas.openxmlformats.org/drawingml/2006/main" r:id="Rb12e289fc12b49f4"/>
            <a:extLst xmlns:a="http://schemas.openxmlformats.org/drawingml/2006/main">
              <a:ext uri="{FF2B5EF4-FFF2-40B4-BE49-F238E27FC236}">
                <a16:creationId xmlns:a16="http://schemas.microsoft.com/office/drawing/2014/main" id="{AC0CB735-8558-46CE-87CC-F7854EFA31C6}"/>
              </a:ext>
            </a:extLst>
          </p:cNvPr>
          <p:cNvSpPr>
            <a:spLocks xmlns:a="http://schemas.openxmlformats.org/drawingml/2006/main" noGrp="1"/>
          </p:cNvSpPr>
          <p:nvPr/>
        </p:nvSpPr>
        <p:spPr>
          <a:xfrm xmlns:a="http://schemas.openxmlformats.org/drawingml/2006/main">
            <a:off x="723900" y="41148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Databricks documentation</a:t>
            </a:r>
          </a:p>
        </p:txBody>
      </p:sp>
      <p:sp>
        <p:nvSpPr>
          <p:cNvPr id="12" name="TextBox 11">
            <a:extLst xmlns:a="http://schemas.openxmlformats.org/drawingml/2006/main">
              <a:ext uri="{FF2B5EF4-FFF2-40B4-BE49-F238E27FC236}">
                <a16:creationId xmlns:a16="http://schemas.microsoft.com/office/drawing/2014/main" id="{C879CB21-196E-4CAC-80C4-93003467040A}"/>
              </a:ext>
            </a:extLst>
          </p:cNvPr>
          <p:cNvSpPr>
            <a:spLocks xmlns:a="http://schemas.openxmlformats.org/drawingml/2006/main" noGrp="1"/>
          </p:cNvSpPr>
          <p:nvPr/>
        </p:nvSpPr>
        <p:spPr>
          <a:xfrm xmlns:a="http://schemas.openxmlformats.org/drawingml/2006/main">
            <a:off x="5295900" y="41148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Hosting and OAuth context</a:t>
            </a:r>
          </a:p>
        </p:txBody>
      </p:sp>
      <p:sp>
        <p:nvSpPr>
          <p:cNvPr id="13" name="TextBox 12">
            <a:hlinkClick xmlns:r="http://schemas.openxmlformats.org/officeDocument/2006/relationships" xmlns:a="http://schemas.openxmlformats.org/drawingml/2006/main" r:id="R2aa74c84005844e1"/>
            <a:extLst xmlns:a="http://schemas.openxmlformats.org/drawingml/2006/main">
              <a:ext uri="{FF2B5EF4-FFF2-40B4-BE49-F238E27FC236}">
                <a16:creationId xmlns:a16="http://schemas.microsoft.com/office/drawing/2014/main" id="{9E833BD4-32ED-467E-A5F4-F09398D8B4C7}"/>
              </a:ext>
            </a:extLst>
          </p:cNvPr>
          <p:cNvSpPr>
            <a:spLocks xmlns:a="http://schemas.openxmlformats.org/drawingml/2006/main" noGrp="1"/>
          </p:cNvSpPr>
          <p:nvPr/>
        </p:nvSpPr>
        <p:spPr>
          <a:xfrm xmlns:a="http://schemas.openxmlformats.org/drawingml/2006/main">
            <a:off x="723900" y="4775200"/>
            <a:ext cx="43434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Reference-run artifacts</a:t>
            </a:r>
          </a:p>
        </p:txBody>
      </p:sp>
      <p:sp>
        <p:nvSpPr>
          <p:cNvPr id="14" name="TextBox 13">
            <a:extLst xmlns:a="http://schemas.openxmlformats.org/drawingml/2006/main">
              <a:ext uri="{FF2B5EF4-FFF2-40B4-BE49-F238E27FC236}">
                <a16:creationId xmlns:a16="http://schemas.microsoft.com/office/drawing/2014/main" id="{E9E26E03-451A-4BB0-813E-31231431A461}"/>
              </a:ext>
            </a:extLst>
          </p:cNvPr>
          <p:cNvSpPr>
            <a:spLocks xmlns:a="http://schemas.openxmlformats.org/drawingml/2006/main" noGrp="1"/>
          </p:cNvSpPr>
          <p:nvPr/>
        </p:nvSpPr>
        <p:spPr>
          <a:xfrm xmlns:a="http://schemas.openxmlformats.org/drawingml/2006/main">
            <a:off x="5295900" y="4775200"/>
            <a:ext cx="6172200" cy="4826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2142"/>
              </a:lnSpc>
              <a:spcBef>
                <a:spcPts val="0"/>
              </a:spcBef>
              <a:spcAft>
                <a:spcPts val="0"/>
              </a:spcAft>
              <a:buNone/>
              <a:defRPr sz="1800" b="0">
                <a:solidFill>
                  <a:srgbClr val="203430"/>
                </a:solidFill>
                <a:latin typeface="Arial"/>
                <a:ea typeface="Arial"/>
                <a:cs typeface="Arial"/>
              </a:defRPr>
            </a:pPr>
            <a:r>
              <a:t>All reported project metrics</a:t>
            </a:r>
          </a:p>
        </p:txBody>
      </p:sp>
      <p:sp>
        <p:nvSpPr>
          <p:cNvPr id="15" name="TextBox 14">
            <a:extLst xmlns:a="http://schemas.openxmlformats.org/drawingml/2006/main">
              <a:ext uri="{FF2B5EF4-FFF2-40B4-BE49-F238E27FC236}">
                <a16:creationId xmlns:a16="http://schemas.microsoft.com/office/drawing/2014/main" id="{DADC1907-1F3C-438F-9B3E-E55AF6540475}"/>
              </a:ext>
            </a:extLst>
          </p:cNvPr>
          <p:cNvSpPr>
            <a:spLocks xmlns:a="http://schemas.openxmlformats.org/drawingml/2006/main" noGrp="1"/>
          </p:cNvSpPr>
          <p:nvPr/>
        </p:nvSpPr>
        <p:spPr>
          <a:xfrm xmlns:a="http://schemas.openxmlformats.org/drawingml/2006/main">
            <a:off x="609600" y="6515100"/>
            <a:ext cx="3333750" cy="13601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FEMA Evidence &amp; Oversight | Reference run: </a:t>
            </a:r>
            <a:r>
              <a:t>20261029T111811Z</a:t>
            </a:r>
          </a:p>
        </p:txBody>
      </p:sp>
      <p:sp>
        <p:nvSpPr>
          <p:cNvPr id="16" name="TextBox 15">
            <a:extLst xmlns:a="http://schemas.openxmlformats.org/drawingml/2006/main">
              <a:ext uri="{FF2B5EF4-FFF2-40B4-BE49-F238E27FC236}">
                <a16:creationId xmlns:a16="http://schemas.microsoft.com/office/drawing/2014/main" id="{3B5A27CD-F47D-44A4-8799-61A816421912}"/>
              </a:ext>
            </a:extLst>
          </p:cNvPr>
          <p:cNvSpPr>
            <a:spLocks xmlns:a="http://schemas.openxmlformats.org/drawingml/2006/main" noGrp="1"/>
          </p:cNvSpPr>
          <p:nvPr/>
        </p:nvSpPr>
        <p:spPr>
          <a:xfrm xmlns:a="http://schemas.openxmlformats.org/drawingml/2006/main">
            <a:off x="11506200" y="6515100"/>
            <a:ext cx="508000" cy="21590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nSpc>
                <a:spcPts val="1071"/>
              </a:lnSpc>
              <a:spcBef>
                <a:spcPts val="0"/>
              </a:spcBef>
              <a:spcAft>
                <a:spcPts val="0"/>
              </a:spcAft>
              <a:buNone/>
              <a:defRPr sz="900" b="0">
                <a:solidFill>
                  <a:srgbClr val="546963"/>
                </a:solidFill>
                <a:latin typeface="Arial"/>
                <a:ea typeface="Arial"/>
                <a:cs typeface="Arial"/>
              </a:defRPr>
            </a:pPr>
            <a:r>
              <a:t>20</a:t>
            </a:r>
          </a:p>
        </p:txBody>
      </p:sp>
    </p:spTree>
    <p:extLst>
      <p:ext uri="{BB962C8B-B14F-4D97-AF65-F5344CB8AC3E}">
        <p14:creationId xmlns:p14="http://schemas.microsoft.com/office/powerpoint/2010/main" val="3864482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2026-10-29T11:50:47.5050000Z</dcterms:created>
  <dcterms:modified xsi:type="dcterms:W3CDTF">2026-10-29T11:50:47.5050000Z</dcterms:modified>
</coreProperties>
</file>