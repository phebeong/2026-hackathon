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 Id="rId4" Type="http://schemas.microsoft.com/office/2011/relationships/webextensiontaskpanes" Target="ppt/webextensions/taskpanes.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positioning line, read it nearly verbatim: a FEMA Public Assistance Evidence and Oversight Graph that turns open FEMA data into traceable, explainable, analyst-ready oversight intelligence. Stress the three words that recur all deck: trust, governance, reuse. Then name and agency. About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gap. 849,167 obligated Project Worksheets, all public, but locked behind one API and SQL, and governed by Stafford Act and PAPPG rules a general model gets wrong. Two failures matter: no governed provenance an agent can trust, and hallucination on the policy rules. That is the gap we close. About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tells a FEMA SME we understand the program. Categories A and B are emergency work, C through G are permanent work. The point for a judge: a ten-million-dollar project is routine for Category C roads and highly unusual for Category G parks, so every outlier is measured against its own category baseline, never the whole portfolio. That is the difference between oversight and naive anomaly detection. About 35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encoded knowledge areas, and the language is deliberately FEMA-aware. Not "anything off 75%," but shares that differ from expected patterns for comparable declarations. Not "duplicates," but potential fragmentation patterns for review. Not "statistical outlier," but outliers relative to declaration type, category, and peer projects. Plus the Section 406 fifteen-percent mitigation rule. This is domain expertise, not SQL. About 35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contrast slide. A standard LLM with SQL sees raw strings, treats every cost the same, and is blind to the Cat A versus Cat E distinction that drives everything. Our server exposes structured Pydantic endpoints, applies the specific PAPPG math, and benchmarks against category-specific baselines. About 25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of FRED traffic is now machines, so we built the agent as a first-class user, not an afterthought. Governed APIs, Unity Catalog lineage, endpoint-level OAuth authorization, and evidence traceability on every conclusion. The agent reaches the trusted path because we made the trusted path the easy path. About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as a five-step directed graph. Discovery finds the PWs that deserve review, Validation explains why each was flagged, Evidence gathers the source records, then control hands to a Human Review decision point, and only then is a structured Oversight Brief produced. The human node is highlighted on purpose: the agent never closes the loop. Every step is recorded and replayable. About 40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trust slide, straight from the FRED lesson that trust beats retrieval. Every answer carries a visible chain: the question, the tool used, the source records, the methodology, the limitations, the analyst review, and the resulting brief. And every output ships with its data source, timestamp, the query used, the methodology, and the caveats. That is provenance a FEMA SME and an OIG auditor can both follow. About 35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output, and the wording is defensible to a FEMA expert. Flag 1 is a cost-share that differs from expected patterns for comparable Cat G declarations, not a blanket off-75 rule. Flag 2 is potential fragmentation of one scope across Cat B and Cat E PWs. Flag 3 is a Section 406 cost that is an outlier against peer projects and CEF baselines. Every one says warrants review or requires review. Indicators, never findings. About 40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targets, which are honest because they are targets: 95%+ retrieval and tool-selection, 100% citation coverage, zero unsupported claims, under 2% hallucination. Then the before/after: purpose-built FEMA tools lift retrieval from the low eighties to the high nineties, clearing the 95% the organizers called government standard. Important: run the real 100-question eval and replace the before/after before you submit; present it as measured only then. About 35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innovation in one picture. Most MCP servers are a thin hop from question to API. Ours routes the question through FEMA domain logic, evidence validation, a human review, and a structured oversight brief. We encoded oversight expertise, which is exactly what the organizers said they are looking for rather than another API wrapper. About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as zero trust. Deterministic tool selection, the agent chooses from approved tools and cannot write open SQL. A public-data sandbox with no PII. Human review required, no automated investigations. And the not-a-finding guardrail on every output. Defense in depth, not total security. About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Future work, the bank-vault design. Node 1 is the eligibility researcher: an LLM with read-only Delta access and no financial keys in its environment, so a prompt injection still cannot move money. Node 2 is a pure programmatic pause, a Jira webhook that waits for a human to approve. Node 3 is the executioner: a separate script, no LLM, pulls the payment key from Databricks Secrets at runtime and transfers funds. Built with Prefect or LangGraph as hard-coded node boundaries. The front-desk clerk never holds the vault combination. About 45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Federal judges think government-wide, so show the pattern travels. Swap the FEMA ontology for another program rulebook and the same evidence-and-review graph runs on HUD housing grants, USDA rural programs, SBA disaster loans, EPA environmental grants, and DOT infrastructure. One oversight pattern, every grant program with public obligation data. About 25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adopter story, ranked by fit. Tier 1 is core PA oversight, led by DHS OIG and GAO, whose mission is exactly what this tool does, plus the FEMA program owners and all ten regions. Tier 2 is budget and legislative oversight: OMB and Treasury on payment integrity, the authorizing and appropriations committees, and the CRS and CBO analysts. Below that, the recipient universe, 50 states, 6 territories, 500-plus tribes, scales the real user count past a hundred. Lead with OIG and GAO when you talk mission alignment. About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three groups use the same five tools. Auditors, OIG, GAO, state IGs, target reviews and source findings; the evidence brief is their key tool because every published finding must be citable. Program staff, the PA Division, CRCs, regions, state EM, triage their queue and self-check before obligation; the outlier tool catches a mispriced 406 proposal before money moves. Budget and legislative, OMB, Treasury, committees, CRS, monitor aggregate risk and prep hearing questions; the explain tool defends the methodology. The through-line: the human always makes the finding. About 40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reasons it wins, aimed at the FEMA and OIG mindset. FEMA-specific policy intelligence, not generic AI. Evidence-backed outputs with source traceability. Human-in-the-loop decisions that preserve legal accountability. A real cut in audit burden and improper-payment risk. And it speaks to the compliance and transparency priorities OIG stakeholders care about. About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ties the prototype to the mandates the judges themselves answer to. EO 14249 and the EO 14395 fraud task force are the current fraud and improper-payment drivers, and 14395 explicitly covers programs run jointly with state, local, tribal, and territorial partners, which is exactly how PA works. The OPEN Government Data Act is why this data is public and must be machine-readable. EO 13960 and OMB M-25-21 are the trustworthy-AI and governed-adoption authorities our human-in-the-loop design satisfies. M-25-32 is the Do Not Pay improper-payment hook. Each title is a live link. One caution if asked: EO 14249 is the fraud order; 14247 is a separate payments-modernization order. About 35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five pillars: transparent, governed, explainable, human-centered, reusable. Then the line to leave them with: this project demonstrates how government open data can become trusted infrastructure for AI agents while preserving accountability, transparency, and human judgment. Final beat: review indicators, never verdicts. Thank the judges. About 20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judge asks for sourcing, this slide shows it at a glance: program facts trace to FEMA.gov and federal primary sources, the hallucination figure to the Stanford RegLab study, the agents-as-audience framing to the NextGov FRED piece, and the tooling to Databricks and Prefect. Design choices and evaluation targets are labeled as ours, with the full claim-by-claim map in SOURCES.md in the repo. About 20 seconds, or skip and leave on screen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image" Target="../media/image-2-3.png"/><Relationship Id="rId4" Type="http://schemas.openxmlformats.org/officeDocument/2006/relationships/image" Target="../media/image-2-4.sv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image" Target="../media/image-4-3.png"/><Relationship Id="rId4" Type="http://schemas.openxmlformats.org/officeDocument/2006/relationships/image" Target="../media/image-4-4.svg"/><Relationship Id="rId5" Type="http://schemas.openxmlformats.org/officeDocument/2006/relationships/image" Target="../media/image-4-5.png"/><Relationship Id="rId6" Type="http://schemas.openxmlformats.org/officeDocument/2006/relationships/image" Target="../media/image-4-6.svg"/><Relationship Id="rId7" Type="http://schemas.openxmlformats.org/officeDocument/2006/relationships/image" Target="../media/image-4-7.png"/><Relationship Id="rId8" Type="http://schemas.openxmlformats.org/officeDocument/2006/relationships/image" Target="../media/image-4-8.sv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image" Target="../media/image-5-3.png"/><Relationship Id="rId4" Type="http://schemas.openxmlformats.org/officeDocument/2006/relationships/image" Target="../media/image-5-4.svg"/><Relationship Id="rId5" Type="http://schemas.openxmlformats.org/officeDocument/2006/relationships/image" Target="../media/image-5-5.png"/><Relationship Id="rId6" Type="http://schemas.openxmlformats.org/officeDocument/2006/relationships/image" Target="../media/image-5-6.svg"/><Relationship Id="rId7" Type="http://schemas.openxmlformats.org/officeDocument/2006/relationships/image" Target="../media/image-5-7.png"/><Relationship Id="rId8" Type="http://schemas.openxmlformats.org/officeDocument/2006/relationships/image" Target="../media/image-5-8.svg"/><Relationship Id="rId9" Type="http://schemas.openxmlformats.org/officeDocument/2006/relationships/image" Target="../media/image-5-9.png"/><Relationship Id="rId10" Type="http://schemas.openxmlformats.org/officeDocument/2006/relationships/image" Target="../media/image-5-10.svg"/><Relationship Id="rId11" Type="http://schemas.openxmlformats.org/officeDocument/2006/relationships/image" Target="../media/image-5-11.png"/><Relationship Id="rId12" Type="http://schemas.openxmlformats.org/officeDocument/2006/relationships/image" Target="../media/image-5-12.svg"/><Relationship Id="rId13" Type="http://schemas.openxmlformats.org/officeDocument/2006/relationships/slideLayout" Target="../slideLayouts/slideLayout1.xml"/><Relationship Id="rId1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image" Target="../media/image-14-3.png"/><Relationship Id="rId4" Type="http://schemas.openxmlformats.org/officeDocument/2006/relationships/image" Target="../media/image-14-4.svg"/><Relationship Id="rId5" Type="http://schemas.openxmlformats.org/officeDocument/2006/relationships/image" Target="../media/image-14-5.png"/><Relationship Id="rId6" Type="http://schemas.openxmlformats.org/officeDocument/2006/relationships/image" Target="../media/image-14-6.svg"/><Relationship Id="rId7" Type="http://schemas.openxmlformats.org/officeDocument/2006/relationships/image" Target="../media/image-14-7.png"/><Relationship Id="rId8" Type="http://schemas.openxmlformats.org/officeDocument/2006/relationships/image" Target="../media/image-14-8.svg"/><Relationship Id="rId9" Type="http://schemas.openxmlformats.org/officeDocument/2006/relationships/image" Target="../media/image-14-9.png"/><Relationship Id="rId10" Type="http://schemas.openxmlformats.org/officeDocument/2006/relationships/image" Target="../media/image-14-10.svg"/><Relationship Id="rId11" Type="http://schemas.openxmlformats.org/officeDocument/2006/relationships/slideLayout" Target="../slideLayouts/slideLayout1.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image" Target="../media/image-16-3.png"/><Relationship Id="rId4" Type="http://schemas.openxmlformats.org/officeDocument/2006/relationships/image" Target="../media/image-16-4.svg"/><Relationship Id="rId5" Type="http://schemas.openxmlformats.org/officeDocument/2006/relationships/image" Target="../media/image-16-5.png"/><Relationship Id="rId6" Type="http://schemas.openxmlformats.org/officeDocument/2006/relationships/image" Target="../media/image-16-6.sv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image" Target="../media/image-17-3.png"/><Relationship Id="rId4" Type="http://schemas.openxmlformats.org/officeDocument/2006/relationships/image" Target="../media/image-17-4.svg"/><Relationship Id="rId5" Type="http://schemas.openxmlformats.org/officeDocument/2006/relationships/image" Target="../media/image-17-5.png"/><Relationship Id="rId6" Type="http://schemas.openxmlformats.org/officeDocument/2006/relationships/image" Target="../media/image-17-6.svg"/><Relationship Id="rId7" Type="http://schemas.openxmlformats.org/officeDocument/2006/relationships/image" Target="../media/image-17-7.png"/><Relationship Id="rId8" Type="http://schemas.openxmlformats.org/officeDocument/2006/relationships/image" Target="../media/image-17-8.svg"/><Relationship Id="rId9" Type="http://schemas.openxmlformats.org/officeDocument/2006/relationships/image" Target="../media/image-17-9.png"/><Relationship Id="rId10" Type="http://schemas.openxmlformats.org/officeDocument/2006/relationships/image" Target="../media/image-17-10.svg"/><Relationship Id="rId11" Type="http://schemas.openxmlformats.org/officeDocument/2006/relationships/slideLayout" Target="../slideLayouts/slideLayout1.xml"/><Relationship Id="rId1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www.whitehouse.gov/presidential-actions/2025/03/protecting-americas-bank-account-against-fraud-waste-and-abuse/" TargetMode="External"/><Relationship Id="rId2" Type="http://schemas.openxmlformats.org/officeDocument/2006/relationships/hyperlink" Target="https://www.congress.gov/crs_external_products/IF/PDF/IF13229/IF13229.1.pdf" TargetMode="External"/><Relationship Id="rId3" Type="http://schemas.openxmlformats.org/officeDocument/2006/relationships/hyperlink" Target="https://www.congress.gov/crs-product/IF12299" TargetMode="External"/><Relationship Id="rId4" Type="http://schemas.openxmlformats.org/officeDocument/2006/relationships/hyperlink" Target="https://www.whitehouse.gov/presidential-actions/2025/07/preventing-woke-ai-in-the-federal-government/" TargetMode="External"/><Relationship Id="rId5" Type="http://schemas.openxmlformats.org/officeDocument/2006/relationships/hyperlink" Target="https://www.whitehouse.gov/wp-content/uploads/2025/02/M-25-21-Accelerating-Federal-Use-of-AI-through-Innovation-Governance-and-Public-Trust.pdf" TargetMode="External"/><Relationship Id="rId6" Type="http://schemas.openxmlformats.org/officeDocument/2006/relationships/hyperlink" Target="https://www.gpo.gov/fdsys/pkg/FR-2026-04-27/html/2026-08114.htm" TargetMode="External"/><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www.fema.gov/sites/default/files/documents/fema_pda_public-assistance-work-eligibility-matrix.pdf" TargetMode="External"/><Relationship Id="rId2" Type="http://schemas.openxmlformats.org/officeDocument/2006/relationships/hyperlink" Target="https://www.fema.gov/assistance/public/hazard-mitigation" TargetMode="External"/><Relationship Id="rId3" Type="http://schemas.openxmlformats.org/officeDocument/2006/relationships/hyperlink" Target="https://emilms.fema.gov/is_1014/groups/192.html" TargetMode="External"/><Relationship Id="rId4" Type="http://schemas.openxmlformats.org/officeDocument/2006/relationships/hyperlink" Target="https://emilms.fema.gov/is_1000/groups/390.html" TargetMode="External"/><Relationship Id="rId5" Type="http://schemas.openxmlformats.org/officeDocument/2006/relationships/hyperlink" Target="https://www.fema.gov/sites/default/files/documents/fema_public-assistance-program-and-policy-guide_v5_june2024.pdf" TargetMode="External"/><Relationship Id="rId6" Type="http://schemas.openxmlformats.org/officeDocument/2006/relationships/hyperlink" Target="https://www.fema.gov/openfema-data-page/public-assistance-funded-projects-details-v2" TargetMode="External"/><Relationship Id="rId7" Type="http://schemas.openxmlformats.org/officeDocument/2006/relationships/hyperlink" Target="https://nlp.stanford.edu/~manning/papers/Magesh-Hallucination-Free-2025.pdf" TargetMode="External"/><Relationship Id="rId8" Type="http://schemas.openxmlformats.org/officeDocument/2006/relationships/hyperlink" Target="https://arxiv.org/abs/2401.01301" TargetMode="External"/><Relationship Id="rId9" Type="http://schemas.openxmlformats.org/officeDocument/2006/relationships/hyperlink" Target="https://www.nextgov.com/ideas/2026/10/feds-35-year-open-data-bet-model-ai-era/416658/" TargetMode="External"/><Relationship Id="rId10" Type="http://schemas.openxmlformats.org/officeDocument/2006/relationships/hyperlink" Target="https://docs.databricks.com/aws/en/agents/agent-framework/agent-tool" TargetMode="External"/><Relationship Id="rId11" Type="http://schemas.openxmlformats.org/officeDocument/2006/relationships/hyperlink" Target="https://www.prefect.io/blog/loops-vs-graphs" TargetMode="External"/><Relationship Id="rId12" Type="http://schemas.openxmlformats.org/officeDocument/2006/relationships/slideLayout" Target="../slideLayouts/slideLayout1.xml"/><Relationship Id="rId1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B2E"/>
        </a:solidFill>
      </p:bgPr>
    </p:bg>
    <p:spTree>
      <p:nvGrpSpPr>
        <p:cNvPr id="1" name=""/>
        <p:cNvGrpSpPr/>
        <p:nvPr/>
      </p:nvGrpSpPr>
      <p:grpSpPr>
        <a:xfrm>
          <a:off x="0" y="0"/>
          <a:ext cx="0" cy="0"/>
          <a:chOff x="0" y="0"/>
          <a:chExt cx="0" cy="0"/>
        </a:xfrm>
      </p:grpSpPr>
      <p:sp>
        <p:nvSpPr>
          <p:cNvPr id="2" name="Text 0"/>
          <p:cNvSpPr/>
          <p:nvPr/>
        </p:nvSpPr>
        <p:spPr>
          <a:xfrm>
            <a:off x="731520" y="1417320"/>
            <a:ext cx="7680960" cy="274320"/>
          </a:xfrm>
          <a:prstGeom prst="rect">
            <a:avLst/>
          </a:prstGeom>
          <a:noFill/>
          <a:ln/>
        </p:spPr>
        <p:txBody>
          <a:bodyPr wrap="square" lIns="0" tIns="0" rIns="0" bIns="0" rtlCol="0" anchor="ctr"/>
          <a:lstStyle/>
          <a:p>
            <a:pPr indent="0" marL="0">
              <a:buNone/>
            </a:pPr>
            <a:r>
              <a:rPr lang="en-US" sz="1200" b="1" spc="150" kern="0" dirty="0">
                <a:solidFill>
                  <a:srgbClr val="4FB0E8"/>
                </a:solidFill>
                <a:latin typeface="Lato" pitchFamily="34" charset="0"/>
                <a:ea typeface="Lato" pitchFamily="34" charset="-122"/>
                <a:cs typeface="Lato" pitchFamily="34" charset="-120"/>
              </a:rPr>
              <a:t>ENTERPRISE AI STRATEGY  •  HACKATHON 2026</a:t>
            </a:r>
            <a:endParaRPr lang="en-US" sz="1200" dirty="0"/>
          </a:p>
        </p:txBody>
      </p:sp>
      <p:sp>
        <p:nvSpPr>
          <p:cNvPr id="3" name="Text 1"/>
          <p:cNvSpPr/>
          <p:nvPr/>
        </p:nvSpPr>
        <p:spPr>
          <a:xfrm>
            <a:off x="713232" y="1783080"/>
            <a:ext cx="7589520" cy="1280160"/>
          </a:xfrm>
          <a:prstGeom prst="rect">
            <a:avLst/>
          </a:prstGeom>
          <a:noFill/>
          <a:ln/>
        </p:spPr>
        <p:txBody>
          <a:bodyPr wrap="square" lIns="0" tIns="0" rIns="0" bIns="0" rtlCol="0" anchor="ctr"/>
          <a:lstStyle/>
          <a:p>
            <a:pPr indent="0" marL="0">
              <a:lnSpc>
                <a:spcPts val="4600"/>
              </a:lnSpc>
              <a:buNone/>
            </a:pPr>
            <a:r>
              <a:rPr lang="en-US" sz="4200" b="1" dirty="0">
                <a:solidFill>
                  <a:srgbClr val="FFFFFF"/>
                </a:solidFill>
                <a:latin typeface="Lato" pitchFamily="34" charset="0"/>
                <a:ea typeface="Lato" pitchFamily="34" charset="-122"/>
                <a:cs typeface="Lato" pitchFamily="34" charset="-120"/>
              </a:rPr>
              <a:t>FEMA Evidence &amp; Oversight Graph</a:t>
            </a:r>
            <a:endParaRPr lang="en-US" sz="4200" dirty="0"/>
          </a:p>
        </p:txBody>
      </p:sp>
      <p:sp>
        <p:nvSpPr>
          <p:cNvPr id="4" name="Text 2"/>
          <p:cNvSpPr/>
          <p:nvPr/>
        </p:nvSpPr>
        <p:spPr>
          <a:xfrm>
            <a:off x="731520" y="3154680"/>
            <a:ext cx="7223760" cy="822960"/>
          </a:xfrm>
          <a:prstGeom prst="rect">
            <a:avLst/>
          </a:prstGeom>
          <a:noFill/>
          <a:ln/>
        </p:spPr>
        <p:txBody>
          <a:bodyPr wrap="square" lIns="0" tIns="0" rIns="0" bIns="0" rtlCol="0" anchor="ctr"/>
          <a:lstStyle/>
          <a:p>
            <a:pPr indent="0" marL="0">
              <a:lnSpc>
                <a:spcPts val="2100"/>
              </a:lnSpc>
              <a:buNone/>
            </a:pPr>
            <a:r>
              <a:rPr lang="en-US" sz="1400" dirty="0">
                <a:solidFill>
                  <a:srgbClr val="C3D0DC"/>
                </a:solidFill>
                <a:latin typeface="Lato" pitchFamily="34" charset="0"/>
                <a:ea typeface="Lato" pitchFamily="34" charset="-122"/>
                <a:cs typeface="Lato" pitchFamily="34" charset="-120"/>
              </a:rPr>
              <a:t>A FEMA Public Assistance Evidence &amp; Oversight Graph that transforms open FEMA data into traceable, explainable, analyst-ready oversight intelligence.</a:t>
            </a:r>
            <a:endParaRPr lang="en-US" sz="1400" dirty="0"/>
          </a:p>
        </p:txBody>
      </p:sp>
      <p:sp>
        <p:nvSpPr>
          <p:cNvPr id="5" name="Shape 3"/>
          <p:cNvSpPr/>
          <p:nvPr/>
        </p:nvSpPr>
        <p:spPr>
          <a:xfrm>
            <a:off x="749808" y="4206240"/>
            <a:ext cx="914400" cy="0"/>
          </a:xfrm>
          <a:prstGeom prst="line">
            <a:avLst/>
          </a:prstGeom>
          <a:noFill/>
          <a:ln w="31750">
            <a:solidFill>
              <a:srgbClr val="E8681C"/>
            </a:solidFill>
            <a:prstDash val="solid"/>
          </a:ln>
        </p:spPr>
      </p:sp>
      <p:sp>
        <p:nvSpPr>
          <p:cNvPr id="6" name="Text 4"/>
          <p:cNvSpPr/>
          <p:nvPr/>
        </p:nvSpPr>
        <p:spPr>
          <a:xfrm>
            <a:off x="731520" y="4370832"/>
            <a:ext cx="7315200" cy="274320"/>
          </a:xfrm>
          <a:prstGeom prst="rect">
            <a:avLst/>
          </a:prstGeom>
          <a:noFill/>
          <a:ln/>
        </p:spPr>
        <p:txBody>
          <a:bodyPr wrap="square" lIns="0" tIns="0" rIns="0" bIns="0" rtlCol="0" anchor="ctr"/>
          <a:lstStyle/>
          <a:p>
            <a:pPr indent="0" marL="0">
              <a:buNone/>
            </a:pPr>
            <a:r>
              <a:rPr lang="en-US" sz="1050" dirty="0">
                <a:solidFill>
                  <a:srgbClr val="94A6B6"/>
                </a:solidFill>
                <a:latin typeface="Lato" pitchFamily="34" charset="0"/>
                <a:ea typeface="Lato" pitchFamily="34" charset="-122"/>
                <a:cs typeface="Lato" pitchFamily="34" charset="-120"/>
              </a:rPr>
              <a:t>[your name / agency]  ·  October 2026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868680"/>
            <a:ext cx="7315200" cy="274320"/>
          </a:xfrm>
          <a:prstGeom prst="rect">
            <a:avLst/>
          </a:prstGeom>
          <a:noFill/>
          <a:ln/>
        </p:spPr>
        <p:txBody>
          <a:bodyPr wrap="square" lIns="0" tIns="0" rIns="0" bIns="0" rtlCol="0" anchor="ctr"/>
          <a:lstStyle/>
          <a:p>
            <a:pPr indent="0" marL="0">
              <a:buNone/>
            </a:pPr>
            <a:r>
              <a:rPr lang="en-US" sz="1200" b="1" spc="150" kern="0" dirty="0">
                <a:solidFill>
                  <a:srgbClr val="1483C8"/>
                </a:solidFill>
                <a:latin typeface="Lato" pitchFamily="34" charset="0"/>
                <a:ea typeface="Lato" pitchFamily="34" charset="-122"/>
                <a:cs typeface="Lato" pitchFamily="34" charset="-120"/>
              </a:rPr>
              <a:t>THE OVERSIGHT GAP</a:t>
            </a:r>
            <a:endParaRPr lang="en-US" sz="1200" dirty="0"/>
          </a:p>
        </p:txBody>
      </p:sp>
      <p:sp>
        <p:nvSpPr>
          <p:cNvPr id="3" name="Text 1"/>
          <p:cNvSpPr/>
          <p:nvPr/>
        </p:nvSpPr>
        <p:spPr>
          <a:xfrm>
            <a:off x="667512" y="1188720"/>
            <a:ext cx="7680960" cy="1188720"/>
          </a:xfrm>
          <a:prstGeom prst="rect">
            <a:avLst/>
          </a:prstGeom>
          <a:noFill/>
          <a:ln/>
        </p:spPr>
        <p:txBody>
          <a:bodyPr wrap="square" lIns="0" tIns="0" rIns="0" bIns="0" rtlCol="0" anchor="ctr"/>
          <a:lstStyle/>
          <a:p>
            <a:pPr indent="0" marL="0">
              <a:lnSpc>
                <a:spcPts val="3600"/>
              </a:lnSpc>
              <a:buNone/>
            </a:pPr>
            <a:r>
              <a:rPr lang="en-US" sz="3000" b="1" dirty="0">
                <a:solidFill>
                  <a:srgbClr val="0C1B2E"/>
                </a:solidFill>
                <a:latin typeface="Lato" pitchFamily="34" charset="0"/>
                <a:ea typeface="Lato" pitchFamily="34" charset="-122"/>
                <a:cs typeface="Lato" pitchFamily="34" charset="-120"/>
              </a:rPr>
              <a:t>Stafford Act complexity</a:t>
            </a:r>
            <a:endParaRPr lang="en-US" sz="3000" dirty="0"/>
          </a:p>
          <a:p>
            <a:pPr indent="0" marL="0">
              <a:lnSpc>
                <a:spcPts val="3600"/>
              </a:lnSpc>
              <a:buNone/>
            </a:pPr>
            <a:r>
              <a:rPr lang="en-US" sz="3000" b="1" dirty="0">
                <a:solidFill>
                  <a:srgbClr val="0C1B2E"/>
                </a:solidFill>
                <a:latin typeface="Lato" pitchFamily="34" charset="0"/>
                <a:ea typeface="Lato" pitchFamily="34" charset="-122"/>
                <a:cs typeface="Lato" pitchFamily="34" charset="-120"/>
              </a:rPr>
              <a:t>defeats standard AI agents.</a:t>
            </a:r>
            <a:endParaRPr lang="en-US" sz="3000" dirty="0"/>
          </a:p>
        </p:txBody>
      </p:sp>
      <p:sp>
        <p:nvSpPr>
          <p:cNvPr id="4" name="Text 2"/>
          <p:cNvSpPr/>
          <p:nvPr/>
        </p:nvSpPr>
        <p:spPr>
          <a:xfrm>
            <a:off x="640080" y="2514600"/>
            <a:ext cx="5486400" cy="914400"/>
          </a:xfrm>
          <a:prstGeom prst="rect">
            <a:avLst/>
          </a:prstGeom>
          <a:noFill/>
          <a:ln/>
        </p:spPr>
        <p:txBody>
          <a:bodyPr wrap="square" lIns="0" tIns="0" rIns="0" bIns="0" rtlCol="0" anchor="ctr"/>
          <a:lstStyle/>
          <a:p>
            <a:pPr indent="0" marL="0">
              <a:buNone/>
            </a:pPr>
            <a:r>
              <a:rPr lang="en-US" sz="8600" b="1" dirty="0">
                <a:solidFill>
                  <a:srgbClr val="1483C8"/>
                </a:solidFill>
                <a:latin typeface="Lato" pitchFamily="34" charset="0"/>
                <a:ea typeface="Lato" pitchFamily="34" charset="-122"/>
                <a:cs typeface="Lato" pitchFamily="34" charset="-120"/>
              </a:rPr>
              <a:t>849,167</a:t>
            </a:r>
            <a:endParaRPr lang="en-US" sz="8600" dirty="0"/>
          </a:p>
        </p:txBody>
      </p:sp>
      <p:sp>
        <p:nvSpPr>
          <p:cNvPr id="5" name="Text 3"/>
          <p:cNvSpPr/>
          <p:nvPr/>
        </p:nvSpPr>
        <p:spPr>
          <a:xfrm>
            <a:off x="713232" y="3474720"/>
            <a:ext cx="5669280" cy="320040"/>
          </a:xfrm>
          <a:prstGeom prst="rect">
            <a:avLst/>
          </a:prstGeom>
          <a:noFill/>
          <a:ln/>
        </p:spPr>
        <p:txBody>
          <a:bodyPr wrap="square" lIns="0" tIns="0" rIns="0" bIns="0" rtlCol="0" anchor="ctr"/>
          <a:lstStyle/>
          <a:p>
            <a:pPr indent="0" marL="0">
              <a:buNone/>
            </a:pPr>
            <a:r>
              <a:rPr lang="en-US" sz="1300" dirty="0">
                <a:solidFill>
                  <a:srgbClr val="5B6B7B"/>
                </a:solidFill>
                <a:latin typeface="Lato" pitchFamily="34" charset="0"/>
                <a:ea typeface="Lato" pitchFamily="34" charset="-122"/>
                <a:cs typeface="Lato" pitchFamily="34" charset="-120"/>
              </a:rPr>
              <a:t>Obligated Project Worksheets (PWs) across every declared disaster.</a:t>
            </a:r>
            <a:endParaRPr lang="en-US" sz="1300" dirty="0"/>
          </a:p>
        </p:txBody>
      </p:sp>
      <p:pic>
        <p:nvPicPr>
          <p:cNvPr id="6" name="Image 0" descr="ic_rfg889v1in.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13232" y="3995928"/>
            <a:ext cx="201168" cy="201168"/>
          </a:xfrm>
          <a:prstGeom prst="rect">
            <a:avLst/>
          </a:prstGeom>
        </p:spPr>
      </p:pic>
      <p:sp>
        <p:nvSpPr>
          <p:cNvPr id="7" name="Text 4"/>
          <p:cNvSpPr/>
          <p:nvPr/>
        </p:nvSpPr>
        <p:spPr>
          <a:xfrm>
            <a:off x="1024128" y="3977640"/>
            <a:ext cx="7315200" cy="274320"/>
          </a:xfrm>
          <a:prstGeom prst="rect">
            <a:avLst/>
          </a:prstGeom>
          <a:noFill/>
          <a:ln/>
        </p:spPr>
        <p:txBody>
          <a:bodyPr wrap="square" lIns="0" tIns="0" rIns="0" bIns="0" rtlCol="0" anchor="ctr"/>
          <a:lstStyle/>
          <a:p>
            <a:pPr indent="0" marL="0">
              <a:buNone/>
            </a:pPr>
            <a:r>
              <a:rPr lang="en-US" sz="1250" b="1" dirty="0">
                <a:solidFill>
                  <a:srgbClr val="0C1B2E"/>
                </a:solidFill>
                <a:latin typeface="Lato" pitchFamily="34" charset="0"/>
                <a:ea typeface="Lato" pitchFamily="34" charset="-122"/>
                <a:cs typeface="Lato" pitchFamily="34" charset="-120"/>
              </a:rPr>
              <a:t>No governed data provenance for an agent to trust.</a:t>
            </a:r>
            <a:endParaRPr lang="en-US" sz="1250" dirty="0"/>
          </a:p>
        </p:txBody>
      </p:sp>
      <p:pic>
        <p:nvPicPr>
          <p:cNvPr id="8" name="Image 1" descr="ic_njp34uagjcq.sv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3232" y="4361688"/>
            <a:ext cx="201168" cy="201168"/>
          </a:xfrm>
          <a:prstGeom prst="rect">
            <a:avLst/>
          </a:prstGeom>
        </p:spPr>
      </p:pic>
      <p:sp>
        <p:nvSpPr>
          <p:cNvPr id="9" name="Text 5"/>
          <p:cNvSpPr/>
          <p:nvPr/>
        </p:nvSpPr>
        <p:spPr>
          <a:xfrm>
            <a:off x="1024128" y="4343400"/>
            <a:ext cx="7315200" cy="274320"/>
          </a:xfrm>
          <a:prstGeom prst="rect">
            <a:avLst/>
          </a:prstGeom>
          <a:noFill/>
          <a:ln/>
        </p:spPr>
        <p:txBody>
          <a:bodyPr wrap="square" lIns="0" tIns="0" rIns="0" bIns="0" rtlCol="0" anchor="ctr"/>
          <a:lstStyle/>
          <a:p>
            <a:pPr indent="0" marL="0">
              <a:buNone/>
            </a:pPr>
            <a:r>
              <a:rPr lang="en-US" sz="1250" b="1" dirty="0">
                <a:solidFill>
                  <a:srgbClr val="0C1B2E"/>
                </a:solidFill>
                <a:latin typeface="Lato" pitchFamily="34" charset="0"/>
                <a:ea typeface="Lato" pitchFamily="34" charset="-122"/>
                <a:cs typeface="Lato" pitchFamily="34" charset="-120"/>
              </a:rPr>
              <a:t>Legal AI tools hallucinate 17-33% on regulatory text (Stanford RegLab, 2024).</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48640"/>
            <a:ext cx="7772400" cy="274320"/>
          </a:xfrm>
          <a:prstGeom prst="rect">
            <a:avLst/>
          </a:prstGeom>
          <a:noFill/>
          <a:ln/>
        </p:spPr>
        <p:txBody>
          <a:bodyPr wrap="square" lIns="0" tIns="0" rIns="0" bIns="0" rtlCol="0" anchor="ctr"/>
          <a:lstStyle/>
          <a:p>
            <a:pPr indent="0" marL="0">
              <a:buNone/>
            </a:pPr>
            <a:r>
              <a:rPr lang="en-US" sz="1100" b="1" spc="150" kern="0" dirty="0">
                <a:solidFill>
                  <a:srgbClr val="1483C8"/>
                </a:solidFill>
                <a:latin typeface="Lato" pitchFamily="34" charset="0"/>
                <a:ea typeface="Lato" pitchFamily="34" charset="-122"/>
                <a:cs typeface="Lato" pitchFamily="34" charset="-120"/>
              </a:rPr>
              <a:t>FEMA PUBLIC ASSISTANCE PROGRAM CONTEXT</a:t>
            </a:r>
            <a:endParaRPr lang="en-US" sz="1100" dirty="0"/>
          </a:p>
        </p:txBody>
      </p:sp>
      <p:sp>
        <p:nvSpPr>
          <p:cNvPr id="3" name="Text 1"/>
          <p:cNvSpPr/>
          <p:nvPr/>
        </p:nvSpPr>
        <p:spPr>
          <a:xfrm>
            <a:off x="667512" y="822960"/>
            <a:ext cx="7863840" cy="658368"/>
          </a:xfrm>
          <a:prstGeom prst="rect">
            <a:avLst/>
          </a:prstGeom>
          <a:noFill/>
          <a:ln/>
        </p:spPr>
        <p:txBody>
          <a:bodyPr wrap="square" lIns="0" tIns="0" rIns="0" bIns="0" rtlCol="0" anchor="ctr"/>
          <a:lstStyle/>
          <a:p>
            <a:pPr indent="0" marL="0">
              <a:buNone/>
            </a:pPr>
            <a:r>
              <a:rPr lang="en-US" sz="3200" b="1" dirty="0">
                <a:solidFill>
                  <a:srgbClr val="0C1B2E"/>
                </a:solidFill>
                <a:latin typeface="Lato" pitchFamily="34" charset="0"/>
                <a:ea typeface="Lato" pitchFamily="34" charset="-122"/>
                <a:cs typeface="Lato" pitchFamily="34" charset="-120"/>
              </a:rPr>
              <a:t>We encode the program, not just the table.</a:t>
            </a:r>
            <a:endParaRPr lang="en-US" sz="3200" dirty="0"/>
          </a:p>
        </p:txBody>
      </p:sp>
      <p:sp>
        <p:nvSpPr>
          <p:cNvPr id="4" name="Text 2"/>
          <p:cNvSpPr/>
          <p:nvPr/>
        </p:nvSpPr>
        <p:spPr>
          <a:xfrm>
            <a:off x="685800" y="1517904"/>
            <a:ext cx="7589520" cy="548640"/>
          </a:xfrm>
          <a:prstGeom prst="rect">
            <a:avLst/>
          </a:prstGeom>
          <a:noFill/>
          <a:ln/>
        </p:spPr>
        <p:txBody>
          <a:bodyPr wrap="square" lIns="0" tIns="0" rIns="0" bIns="0" rtlCol="0" anchor="ctr"/>
          <a:lstStyle/>
          <a:p>
            <a:pPr indent="0" marL="0">
              <a:lnSpc>
                <a:spcPts val="1900"/>
              </a:lnSpc>
              <a:buNone/>
            </a:pPr>
            <a:r>
              <a:rPr lang="en-US" sz="1350" dirty="0">
                <a:solidFill>
                  <a:srgbClr val="5B6B7B"/>
                </a:solidFill>
                <a:latin typeface="Lato" pitchFamily="34" charset="0"/>
                <a:ea typeface="Lato" pitchFamily="34" charset="-122"/>
                <a:cs typeface="Lato" pitchFamily="34" charset="-120"/>
              </a:rPr>
              <a:t>The PA categories of work. An outlier only means something relative to its category.</a:t>
            </a:r>
            <a:endParaRPr lang="en-US" sz="1350" dirty="0"/>
          </a:p>
        </p:txBody>
      </p:sp>
      <p:sp>
        <p:nvSpPr>
          <p:cNvPr id="5" name="Shape 3"/>
          <p:cNvSpPr/>
          <p:nvPr/>
        </p:nvSpPr>
        <p:spPr>
          <a:xfrm>
            <a:off x="685800" y="2148840"/>
            <a:ext cx="310896" cy="310896"/>
          </a:xfrm>
          <a:prstGeom prst="roundRect">
            <a:avLst>
              <a:gd name="adj" fmla="val 11765"/>
            </a:avLst>
          </a:prstGeom>
          <a:solidFill>
            <a:srgbClr val="E8681C"/>
          </a:solidFill>
          <a:ln/>
        </p:spPr>
      </p:sp>
      <p:sp>
        <p:nvSpPr>
          <p:cNvPr id="6" name="Text 4"/>
          <p:cNvSpPr/>
          <p:nvPr/>
        </p:nvSpPr>
        <p:spPr>
          <a:xfrm>
            <a:off x="685800" y="21488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Lato" pitchFamily="34" charset="0"/>
                <a:ea typeface="Lato" pitchFamily="34" charset="-122"/>
                <a:cs typeface="Lato" pitchFamily="34" charset="-120"/>
              </a:rPr>
              <a:t>A</a:t>
            </a:r>
            <a:endParaRPr lang="en-US" sz="1300" dirty="0"/>
          </a:p>
        </p:txBody>
      </p:sp>
      <p:sp>
        <p:nvSpPr>
          <p:cNvPr id="7" name="Text 5"/>
          <p:cNvSpPr/>
          <p:nvPr/>
        </p:nvSpPr>
        <p:spPr>
          <a:xfrm>
            <a:off x="1106424" y="2148840"/>
            <a:ext cx="3474720" cy="310896"/>
          </a:xfrm>
          <a:prstGeom prst="rect">
            <a:avLst/>
          </a:prstGeom>
          <a:noFill/>
          <a:ln/>
        </p:spPr>
        <p:txBody>
          <a:bodyPr wrap="square" lIns="0" tIns="0" rIns="0" bIns="0" rtlCol="0" anchor="ctr"/>
          <a:lstStyle/>
          <a:p>
            <a:pPr indent="0" marL="0">
              <a:buNone/>
            </a:pPr>
            <a:r>
              <a:rPr lang="en-US" sz="1200" dirty="0">
                <a:solidFill>
                  <a:srgbClr val="0C1B2E"/>
                </a:solidFill>
                <a:latin typeface="Lato" pitchFamily="34" charset="0"/>
                <a:ea typeface="Lato" pitchFamily="34" charset="-122"/>
                <a:cs typeface="Lato" pitchFamily="34" charset="-120"/>
              </a:rPr>
              <a:t>Debris Removal</a:t>
            </a:r>
            <a:endParaRPr lang="en-US" sz="1200" dirty="0"/>
          </a:p>
        </p:txBody>
      </p:sp>
      <p:sp>
        <p:nvSpPr>
          <p:cNvPr id="8" name="Text 6"/>
          <p:cNvSpPr/>
          <p:nvPr/>
        </p:nvSpPr>
        <p:spPr>
          <a:xfrm>
            <a:off x="4526280" y="2148840"/>
            <a:ext cx="914400" cy="310896"/>
          </a:xfrm>
          <a:prstGeom prst="rect">
            <a:avLst/>
          </a:prstGeom>
          <a:noFill/>
          <a:ln/>
        </p:spPr>
        <p:txBody>
          <a:bodyPr wrap="square" lIns="0" tIns="0" rIns="0" bIns="0" rtlCol="0" anchor="ctr"/>
          <a:lstStyle/>
          <a:p>
            <a:pPr algn="r" indent="0" marL="0">
              <a:buNone/>
            </a:pPr>
            <a:r>
              <a:rPr lang="en-US" sz="800" b="1" spc="100" kern="0" dirty="0">
                <a:solidFill>
                  <a:srgbClr val="E8681C"/>
                </a:solidFill>
                <a:latin typeface="Lato" pitchFamily="34" charset="0"/>
                <a:ea typeface="Lato" pitchFamily="34" charset="-122"/>
                <a:cs typeface="Lato" pitchFamily="34" charset="-120"/>
              </a:rPr>
              <a:t>EMERGENCY</a:t>
            </a:r>
            <a:endParaRPr lang="en-US" sz="800" dirty="0"/>
          </a:p>
        </p:txBody>
      </p:sp>
      <p:sp>
        <p:nvSpPr>
          <p:cNvPr id="9" name="Shape 7"/>
          <p:cNvSpPr/>
          <p:nvPr/>
        </p:nvSpPr>
        <p:spPr>
          <a:xfrm>
            <a:off x="685800" y="2542032"/>
            <a:ext cx="310896" cy="310896"/>
          </a:xfrm>
          <a:prstGeom prst="roundRect">
            <a:avLst>
              <a:gd name="adj" fmla="val 11765"/>
            </a:avLst>
          </a:prstGeom>
          <a:solidFill>
            <a:srgbClr val="E8681C"/>
          </a:solidFill>
          <a:ln/>
        </p:spPr>
      </p:sp>
      <p:sp>
        <p:nvSpPr>
          <p:cNvPr id="10" name="Text 8"/>
          <p:cNvSpPr/>
          <p:nvPr/>
        </p:nvSpPr>
        <p:spPr>
          <a:xfrm>
            <a:off x="685800" y="254203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Lato" pitchFamily="34" charset="0"/>
                <a:ea typeface="Lato" pitchFamily="34" charset="-122"/>
                <a:cs typeface="Lato" pitchFamily="34" charset="-120"/>
              </a:rPr>
              <a:t>B</a:t>
            </a:r>
            <a:endParaRPr lang="en-US" sz="1300" dirty="0"/>
          </a:p>
        </p:txBody>
      </p:sp>
      <p:sp>
        <p:nvSpPr>
          <p:cNvPr id="11" name="Text 9"/>
          <p:cNvSpPr/>
          <p:nvPr/>
        </p:nvSpPr>
        <p:spPr>
          <a:xfrm>
            <a:off x="1106424" y="2542032"/>
            <a:ext cx="3474720" cy="310896"/>
          </a:xfrm>
          <a:prstGeom prst="rect">
            <a:avLst/>
          </a:prstGeom>
          <a:noFill/>
          <a:ln/>
        </p:spPr>
        <p:txBody>
          <a:bodyPr wrap="square" lIns="0" tIns="0" rIns="0" bIns="0" rtlCol="0" anchor="ctr"/>
          <a:lstStyle/>
          <a:p>
            <a:pPr indent="0" marL="0">
              <a:buNone/>
            </a:pPr>
            <a:r>
              <a:rPr lang="en-US" sz="1200" dirty="0">
                <a:solidFill>
                  <a:srgbClr val="0C1B2E"/>
                </a:solidFill>
                <a:latin typeface="Lato" pitchFamily="34" charset="0"/>
                <a:ea typeface="Lato" pitchFamily="34" charset="-122"/>
                <a:cs typeface="Lato" pitchFamily="34" charset="-120"/>
              </a:rPr>
              <a:t>Emergency Protective Measures</a:t>
            </a:r>
            <a:endParaRPr lang="en-US" sz="1200" dirty="0"/>
          </a:p>
        </p:txBody>
      </p:sp>
      <p:sp>
        <p:nvSpPr>
          <p:cNvPr id="12" name="Text 10"/>
          <p:cNvSpPr/>
          <p:nvPr/>
        </p:nvSpPr>
        <p:spPr>
          <a:xfrm>
            <a:off x="4526280" y="2542032"/>
            <a:ext cx="914400" cy="310896"/>
          </a:xfrm>
          <a:prstGeom prst="rect">
            <a:avLst/>
          </a:prstGeom>
          <a:noFill/>
          <a:ln/>
        </p:spPr>
        <p:txBody>
          <a:bodyPr wrap="square" lIns="0" tIns="0" rIns="0" bIns="0" rtlCol="0" anchor="ctr"/>
          <a:lstStyle/>
          <a:p>
            <a:pPr algn="r" indent="0" marL="0">
              <a:buNone/>
            </a:pPr>
            <a:r>
              <a:rPr lang="en-US" sz="800" b="1" spc="100" kern="0" dirty="0">
                <a:solidFill>
                  <a:srgbClr val="E8681C"/>
                </a:solidFill>
                <a:latin typeface="Lato" pitchFamily="34" charset="0"/>
                <a:ea typeface="Lato" pitchFamily="34" charset="-122"/>
                <a:cs typeface="Lato" pitchFamily="34" charset="-120"/>
              </a:rPr>
              <a:t>EMERGENCY</a:t>
            </a:r>
            <a:endParaRPr lang="en-US" sz="800" dirty="0"/>
          </a:p>
        </p:txBody>
      </p:sp>
      <p:sp>
        <p:nvSpPr>
          <p:cNvPr id="13" name="Shape 11"/>
          <p:cNvSpPr/>
          <p:nvPr/>
        </p:nvSpPr>
        <p:spPr>
          <a:xfrm>
            <a:off x="685800" y="2935224"/>
            <a:ext cx="310896" cy="310896"/>
          </a:xfrm>
          <a:prstGeom prst="roundRect">
            <a:avLst>
              <a:gd name="adj" fmla="val 11765"/>
            </a:avLst>
          </a:prstGeom>
          <a:solidFill>
            <a:srgbClr val="1483C8"/>
          </a:solidFill>
          <a:ln/>
        </p:spPr>
      </p:sp>
      <p:sp>
        <p:nvSpPr>
          <p:cNvPr id="14" name="Text 12"/>
          <p:cNvSpPr/>
          <p:nvPr/>
        </p:nvSpPr>
        <p:spPr>
          <a:xfrm>
            <a:off x="685800" y="29352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Lato" pitchFamily="34" charset="0"/>
                <a:ea typeface="Lato" pitchFamily="34" charset="-122"/>
                <a:cs typeface="Lato" pitchFamily="34" charset="-120"/>
              </a:rPr>
              <a:t>C</a:t>
            </a:r>
            <a:endParaRPr lang="en-US" sz="1300" dirty="0"/>
          </a:p>
        </p:txBody>
      </p:sp>
      <p:sp>
        <p:nvSpPr>
          <p:cNvPr id="15" name="Text 13"/>
          <p:cNvSpPr/>
          <p:nvPr/>
        </p:nvSpPr>
        <p:spPr>
          <a:xfrm>
            <a:off x="1106424" y="2935224"/>
            <a:ext cx="3474720" cy="310896"/>
          </a:xfrm>
          <a:prstGeom prst="rect">
            <a:avLst/>
          </a:prstGeom>
          <a:noFill/>
          <a:ln/>
        </p:spPr>
        <p:txBody>
          <a:bodyPr wrap="square" lIns="0" tIns="0" rIns="0" bIns="0" rtlCol="0" anchor="ctr"/>
          <a:lstStyle/>
          <a:p>
            <a:pPr indent="0" marL="0">
              <a:buNone/>
            </a:pPr>
            <a:r>
              <a:rPr lang="en-US" sz="1200" dirty="0">
                <a:solidFill>
                  <a:srgbClr val="0C1B2E"/>
                </a:solidFill>
                <a:latin typeface="Lato" pitchFamily="34" charset="0"/>
                <a:ea typeface="Lato" pitchFamily="34" charset="-122"/>
                <a:cs typeface="Lato" pitchFamily="34" charset="-120"/>
              </a:rPr>
              <a:t>Roads and Bridges</a:t>
            </a:r>
            <a:endParaRPr lang="en-US" sz="1200" dirty="0"/>
          </a:p>
        </p:txBody>
      </p:sp>
      <p:sp>
        <p:nvSpPr>
          <p:cNvPr id="16" name="Text 14"/>
          <p:cNvSpPr/>
          <p:nvPr/>
        </p:nvSpPr>
        <p:spPr>
          <a:xfrm>
            <a:off x="4526280" y="2935224"/>
            <a:ext cx="914400" cy="310896"/>
          </a:xfrm>
          <a:prstGeom prst="rect">
            <a:avLst/>
          </a:prstGeom>
          <a:noFill/>
          <a:ln/>
        </p:spPr>
        <p:txBody>
          <a:bodyPr wrap="square" lIns="0" tIns="0" rIns="0" bIns="0" rtlCol="0" anchor="ctr"/>
          <a:lstStyle/>
          <a:p>
            <a:pPr algn="r" indent="0" marL="0">
              <a:buNone/>
            </a:pPr>
            <a:r>
              <a:rPr lang="en-US" sz="800" b="1" spc="100" kern="0" dirty="0">
                <a:solidFill>
                  <a:srgbClr val="1483C8"/>
                </a:solidFill>
                <a:latin typeface="Lato" pitchFamily="34" charset="0"/>
                <a:ea typeface="Lato" pitchFamily="34" charset="-122"/>
                <a:cs typeface="Lato" pitchFamily="34" charset="-120"/>
              </a:rPr>
              <a:t>PERMANENT</a:t>
            </a:r>
            <a:endParaRPr lang="en-US" sz="800" dirty="0"/>
          </a:p>
        </p:txBody>
      </p:sp>
      <p:sp>
        <p:nvSpPr>
          <p:cNvPr id="17" name="Shape 15"/>
          <p:cNvSpPr/>
          <p:nvPr/>
        </p:nvSpPr>
        <p:spPr>
          <a:xfrm>
            <a:off x="685800" y="3328416"/>
            <a:ext cx="310896" cy="310896"/>
          </a:xfrm>
          <a:prstGeom prst="roundRect">
            <a:avLst>
              <a:gd name="adj" fmla="val 11765"/>
            </a:avLst>
          </a:prstGeom>
          <a:solidFill>
            <a:srgbClr val="1483C8"/>
          </a:solidFill>
          <a:ln/>
        </p:spPr>
      </p:sp>
      <p:sp>
        <p:nvSpPr>
          <p:cNvPr id="18" name="Text 16"/>
          <p:cNvSpPr/>
          <p:nvPr/>
        </p:nvSpPr>
        <p:spPr>
          <a:xfrm>
            <a:off x="685800" y="33284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Lato" pitchFamily="34" charset="0"/>
                <a:ea typeface="Lato" pitchFamily="34" charset="-122"/>
                <a:cs typeface="Lato" pitchFamily="34" charset="-120"/>
              </a:rPr>
              <a:t>D</a:t>
            </a:r>
            <a:endParaRPr lang="en-US" sz="1300" dirty="0"/>
          </a:p>
        </p:txBody>
      </p:sp>
      <p:sp>
        <p:nvSpPr>
          <p:cNvPr id="19" name="Text 17"/>
          <p:cNvSpPr/>
          <p:nvPr/>
        </p:nvSpPr>
        <p:spPr>
          <a:xfrm>
            <a:off x="1106424" y="3328416"/>
            <a:ext cx="3474720" cy="310896"/>
          </a:xfrm>
          <a:prstGeom prst="rect">
            <a:avLst/>
          </a:prstGeom>
          <a:noFill/>
          <a:ln/>
        </p:spPr>
        <p:txBody>
          <a:bodyPr wrap="square" lIns="0" tIns="0" rIns="0" bIns="0" rtlCol="0" anchor="ctr"/>
          <a:lstStyle/>
          <a:p>
            <a:pPr indent="0" marL="0">
              <a:buNone/>
            </a:pPr>
            <a:r>
              <a:rPr lang="en-US" sz="1200" dirty="0">
                <a:solidFill>
                  <a:srgbClr val="0C1B2E"/>
                </a:solidFill>
                <a:latin typeface="Lato" pitchFamily="34" charset="0"/>
                <a:ea typeface="Lato" pitchFamily="34" charset="-122"/>
                <a:cs typeface="Lato" pitchFamily="34" charset="-120"/>
              </a:rPr>
              <a:t>Water Control Facilities</a:t>
            </a:r>
            <a:endParaRPr lang="en-US" sz="1200" dirty="0"/>
          </a:p>
        </p:txBody>
      </p:sp>
      <p:sp>
        <p:nvSpPr>
          <p:cNvPr id="20" name="Text 18"/>
          <p:cNvSpPr/>
          <p:nvPr/>
        </p:nvSpPr>
        <p:spPr>
          <a:xfrm>
            <a:off x="4526280" y="3328416"/>
            <a:ext cx="914400" cy="310896"/>
          </a:xfrm>
          <a:prstGeom prst="rect">
            <a:avLst/>
          </a:prstGeom>
          <a:noFill/>
          <a:ln/>
        </p:spPr>
        <p:txBody>
          <a:bodyPr wrap="square" lIns="0" tIns="0" rIns="0" bIns="0" rtlCol="0" anchor="ctr"/>
          <a:lstStyle/>
          <a:p>
            <a:pPr algn="r" indent="0" marL="0">
              <a:buNone/>
            </a:pPr>
            <a:r>
              <a:rPr lang="en-US" sz="800" b="1" spc="100" kern="0" dirty="0">
                <a:solidFill>
                  <a:srgbClr val="1483C8"/>
                </a:solidFill>
                <a:latin typeface="Lato" pitchFamily="34" charset="0"/>
                <a:ea typeface="Lato" pitchFamily="34" charset="-122"/>
                <a:cs typeface="Lato" pitchFamily="34" charset="-120"/>
              </a:rPr>
              <a:t>PERMANENT</a:t>
            </a:r>
            <a:endParaRPr lang="en-US" sz="800" dirty="0"/>
          </a:p>
        </p:txBody>
      </p:sp>
      <p:sp>
        <p:nvSpPr>
          <p:cNvPr id="21" name="Shape 19"/>
          <p:cNvSpPr/>
          <p:nvPr/>
        </p:nvSpPr>
        <p:spPr>
          <a:xfrm>
            <a:off x="685800" y="3721608"/>
            <a:ext cx="310896" cy="310896"/>
          </a:xfrm>
          <a:prstGeom prst="roundRect">
            <a:avLst>
              <a:gd name="adj" fmla="val 11765"/>
            </a:avLst>
          </a:prstGeom>
          <a:solidFill>
            <a:srgbClr val="1483C8"/>
          </a:solidFill>
          <a:ln/>
        </p:spPr>
      </p:sp>
      <p:sp>
        <p:nvSpPr>
          <p:cNvPr id="22" name="Text 20"/>
          <p:cNvSpPr/>
          <p:nvPr/>
        </p:nvSpPr>
        <p:spPr>
          <a:xfrm>
            <a:off x="685800" y="372160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Lato" pitchFamily="34" charset="0"/>
                <a:ea typeface="Lato" pitchFamily="34" charset="-122"/>
                <a:cs typeface="Lato" pitchFamily="34" charset="-120"/>
              </a:rPr>
              <a:t>E</a:t>
            </a:r>
            <a:endParaRPr lang="en-US" sz="1300" dirty="0"/>
          </a:p>
        </p:txBody>
      </p:sp>
      <p:sp>
        <p:nvSpPr>
          <p:cNvPr id="23" name="Text 21"/>
          <p:cNvSpPr/>
          <p:nvPr/>
        </p:nvSpPr>
        <p:spPr>
          <a:xfrm>
            <a:off x="1106424" y="3721608"/>
            <a:ext cx="3474720" cy="310896"/>
          </a:xfrm>
          <a:prstGeom prst="rect">
            <a:avLst/>
          </a:prstGeom>
          <a:noFill/>
          <a:ln/>
        </p:spPr>
        <p:txBody>
          <a:bodyPr wrap="square" lIns="0" tIns="0" rIns="0" bIns="0" rtlCol="0" anchor="ctr"/>
          <a:lstStyle/>
          <a:p>
            <a:pPr indent="0" marL="0">
              <a:buNone/>
            </a:pPr>
            <a:r>
              <a:rPr lang="en-US" sz="1200" dirty="0">
                <a:solidFill>
                  <a:srgbClr val="0C1B2E"/>
                </a:solidFill>
                <a:latin typeface="Lato" pitchFamily="34" charset="0"/>
                <a:ea typeface="Lato" pitchFamily="34" charset="-122"/>
                <a:cs typeface="Lato" pitchFamily="34" charset="-120"/>
              </a:rPr>
              <a:t>Buildings and Equipment</a:t>
            </a:r>
            <a:endParaRPr lang="en-US" sz="1200" dirty="0"/>
          </a:p>
        </p:txBody>
      </p:sp>
      <p:sp>
        <p:nvSpPr>
          <p:cNvPr id="24" name="Text 22"/>
          <p:cNvSpPr/>
          <p:nvPr/>
        </p:nvSpPr>
        <p:spPr>
          <a:xfrm>
            <a:off x="4526280" y="3721608"/>
            <a:ext cx="914400" cy="310896"/>
          </a:xfrm>
          <a:prstGeom prst="rect">
            <a:avLst/>
          </a:prstGeom>
          <a:noFill/>
          <a:ln/>
        </p:spPr>
        <p:txBody>
          <a:bodyPr wrap="square" lIns="0" tIns="0" rIns="0" bIns="0" rtlCol="0" anchor="ctr"/>
          <a:lstStyle/>
          <a:p>
            <a:pPr algn="r" indent="0" marL="0">
              <a:buNone/>
            </a:pPr>
            <a:r>
              <a:rPr lang="en-US" sz="800" b="1" spc="100" kern="0" dirty="0">
                <a:solidFill>
                  <a:srgbClr val="1483C8"/>
                </a:solidFill>
                <a:latin typeface="Lato" pitchFamily="34" charset="0"/>
                <a:ea typeface="Lato" pitchFamily="34" charset="-122"/>
                <a:cs typeface="Lato" pitchFamily="34" charset="-120"/>
              </a:rPr>
              <a:t>PERMANENT</a:t>
            </a:r>
            <a:endParaRPr lang="en-US" sz="800" dirty="0"/>
          </a:p>
        </p:txBody>
      </p:sp>
      <p:sp>
        <p:nvSpPr>
          <p:cNvPr id="25" name="Shape 23"/>
          <p:cNvSpPr/>
          <p:nvPr/>
        </p:nvSpPr>
        <p:spPr>
          <a:xfrm>
            <a:off x="685800" y="4114800"/>
            <a:ext cx="310896" cy="310896"/>
          </a:xfrm>
          <a:prstGeom prst="roundRect">
            <a:avLst>
              <a:gd name="adj" fmla="val 11765"/>
            </a:avLst>
          </a:prstGeom>
          <a:solidFill>
            <a:srgbClr val="1483C8"/>
          </a:solidFill>
          <a:ln/>
        </p:spPr>
      </p:sp>
      <p:sp>
        <p:nvSpPr>
          <p:cNvPr id="26" name="Text 24"/>
          <p:cNvSpPr/>
          <p:nvPr/>
        </p:nvSpPr>
        <p:spPr>
          <a:xfrm>
            <a:off x="685800" y="411480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Lato" pitchFamily="34" charset="0"/>
                <a:ea typeface="Lato" pitchFamily="34" charset="-122"/>
                <a:cs typeface="Lato" pitchFamily="34" charset="-120"/>
              </a:rPr>
              <a:t>F</a:t>
            </a:r>
            <a:endParaRPr lang="en-US" sz="1300" dirty="0"/>
          </a:p>
        </p:txBody>
      </p:sp>
      <p:sp>
        <p:nvSpPr>
          <p:cNvPr id="27" name="Text 25"/>
          <p:cNvSpPr/>
          <p:nvPr/>
        </p:nvSpPr>
        <p:spPr>
          <a:xfrm>
            <a:off x="1106424" y="4114800"/>
            <a:ext cx="3474720" cy="310896"/>
          </a:xfrm>
          <a:prstGeom prst="rect">
            <a:avLst/>
          </a:prstGeom>
          <a:noFill/>
          <a:ln/>
        </p:spPr>
        <p:txBody>
          <a:bodyPr wrap="square" lIns="0" tIns="0" rIns="0" bIns="0" rtlCol="0" anchor="ctr"/>
          <a:lstStyle/>
          <a:p>
            <a:pPr indent="0" marL="0">
              <a:buNone/>
            </a:pPr>
            <a:r>
              <a:rPr lang="en-US" sz="1200" dirty="0">
                <a:solidFill>
                  <a:srgbClr val="0C1B2E"/>
                </a:solidFill>
                <a:latin typeface="Lato" pitchFamily="34" charset="0"/>
                <a:ea typeface="Lato" pitchFamily="34" charset="-122"/>
                <a:cs typeface="Lato" pitchFamily="34" charset="-120"/>
              </a:rPr>
              <a:t>Utilities</a:t>
            </a:r>
            <a:endParaRPr lang="en-US" sz="1200" dirty="0"/>
          </a:p>
        </p:txBody>
      </p:sp>
      <p:sp>
        <p:nvSpPr>
          <p:cNvPr id="28" name="Text 26"/>
          <p:cNvSpPr/>
          <p:nvPr/>
        </p:nvSpPr>
        <p:spPr>
          <a:xfrm>
            <a:off x="4526280" y="4114800"/>
            <a:ext cx="914400" cy="310896"/>
          </a:xfrm>
          <a:prstGeom prst="rect">
            <a:avLst/>
          </a:prstGeom>
          <a:noFill/>
          <a:ln/>
        </p:spPr>
        <p:txBody>
          <a:bodyPr wrap="square" lIns="0" tIns="0" rIns="0" bIns="0" rtlCol="0" anchor="ctr"/>
          <a:lstStyle/>
          <a:p>
            <a:pPr algn="r" indent="0" marL="0">
              <a:buNone/>
            </a:pPr>
            <a:r>
              <a:rPr lang="en-US" sz="800" b="1" spc="100" kern="0" dirty="0">
                <a:solidFill>
                  <a:srgbClr val="1483C8"/>
                </a:solidFill>
                <a:latin typeface="Lato" pitchFamily="34" charset="0"/>
                <a:ea typeface="Lato" pitchFamily="34" charset="-122"/>
                <a:cs typeface="Lato" pitchFamily="34" charset="-120"/>
              </a:rPr>
              <a:t>PERMANENT</a:t>
            </a:r>
            <a:endParaRPr lang="en-US" sz="800" dirty="0"/>
          </a:p>
        </p:txBody>
      </p:sp>
      <p:sp>
        <p:nvSpPr>
          <p:cNvPr id="29" name="Shape 27"/>
          <p:cNvSpPr/>
          <p:nvPr/>
        </p:nvSpPr>
        <p:spPr>
          <a:xfrm>
            <a:off x="685800" y="4507992"/>
            <a:ext cx="310896" cy="310896"/>
          </a:xfrm>
          <a:prstGeom prst="roundRect">
            <a:avLst>
              <a:gd name="adj" fmla="val 11765"/>
            </a:avLst>
          </a:prstGeom>
          <a:solidFill>
            <a:srgbClr val="1483C8"/>
          </a:solidFill>
          <a:ln/>
        </p:spPr>
      </p:sp>
      <p:sp>
        <p:nvSpPr>
          <p:cNvPr id="30" name="Text 28"/>
          <p:cNvSpPr/>
          <p:nvPr/>
        </p:nvSpPr>
        <p:spPr>
          <a:xfrm>
            <a:off x="685800" y="45079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Lato" pitchFamily="34" charset="0"/>
                <a:ea typeface="Lato" pitchFamily="34" charset="-122"/>
                <a:cs typeface="Lato" pitchFamily="34" charset="-120"/>
              </a:rPr>
              <a:t>G</a:t>
            </a:r>
            <a:endParaRPr lang="en-US" sz="1300" dirty="0"/>
          </a:p>
        </p:txBody>
      </p:sp>
      <p:sp>
        <p:nvSpPr>
          <p:cNvPr id="31" name="Text 29"/>
          <p:cNvSpPr/>
          <p:nvPr/>
        </p:nvSpPr>
        <p:spPr>
          <a:xfrm>
            <a:off x="1106424" y="4507992"/>
            <a:ext cx="3474720" cy="310896"/>
          </a:xfrm>
          <a:prstGeom prst="rect">
            <a:avLst/>
          </a:prstGeom>
          <a:noFill/>
          <a:ln/>
        </p:spPr>
        <p:txBody>
          <a:bodyPr wrap="square" lIns="0" tIns="0" rIns="0" bIns="0" rtlCol="0" anchor="ctr"/>
          <a:lstStyle/>
          <a:p>
            <a:pPr indent="0" marL="0">
              <a:buNone/>
            </a:pPr>
            <a:r>
              <a:rPr lang="en-US" sz="1200" dirty="0">
                <a:solidFill>
                  <a:srgbClr val="0C1B2E"/>
                </a:solidFill>
                <a:latin typeface="Lato" pitchFamily="34" charset="0"/>
                <a:ea typeface="Lato" pitchFamily="34" charset="-122"/>
                <a:cs typeface="Lato" pitchFamily="34" charset="-120"/>
              </a:rPr>
              <a:t>Parks, Recreational, and Other</a:t>
            </a:r>
            <a:endParaRPr lang="en-US" sz="1200" dirty="0"/>
          </a:p>
        </p:txBody>
      </p:sp>
      <p:sp>
        <p:nvSpPr>
          <p:cNvPr id="32" name="Text 30"/>
          <p:cNvSpPr/>
          <p:nvPr/>
        </p:nvSpPr>
        <p:spPr>
          <a:xfrm>
            <a:off x="4526280" y="4507992"/>
            <a:ext cx="914400" cy="310896"/>
          </a:xfrm>
          <a:prstGeom prst="rect">
            <a:avLst/>
          </a:prstGeom>
          <a:noFill/>
          <a:ln/>
        </p:spPr>
        <p:txBody>
          <a:bodyPr wrap="square" lIns="0" tIns="0" rIns="0" bIns="0" rtlCol="0" anchor="ctr"/>
          <a:lstStyle/>
          <a:p>
            <a:pPr algn="r" indent="0" marL="0">
              <a:buNone/>
            </a:pPr>
            <a:r>
              <a:rPr lang="en-US" sz="800" b="1" spc="100" kern="0" dirty="0">
                <a:solidFill>
                  <a:srgbClr val="1483C8"/>
                </a:solidFill>
                <a:latin typeface="Lato" pitchFamily="34" charset="0"/>
                <a:ea typeface="Lato" pitchFamily="34" charset="-122"/>
                <a:cs typeface="Lato" pitchFamily="34" charset="-120"/>
              </a:rPr>
              <a:t>PERMANENT</a:t>
            </a:r>
            <a:endParaRPr lang="en-US" sz="800" dirty="0"/>
          </a:p>
        </p:txBody>
      </p:sp>
      <p:sp>
        <p:nvSpPr>
          <p:cNvPr id="33" name="Shape 31"/>
          <p:cNvSpPr/>
          <p:nvPr/>
        </p:nvSpPr>
        <p:spPr>
          <a:xfrm>
            <a:off x="5806440" y="2148840"/>
            <a:ext cx="2743200" cy="2240280"/>
          </a:xfrm>
          <a:prstGeom prst="roundRect">
            <a:avLst>
              <a:gd name="adj" fmla="val 2449"/>
            </a:avLst>
          </a:prstGeom>
          <a:solidFill>
            <a:srgbClr val="0C1B2E"/>
          </a:solidFill>
          <a:ln/>
        </p:spPr>
      </p:sp>
      <p:sp>
        <p:nvSpPr>
          <p:cNvPr id="34" name="Text 32"/>
          <p:cNvSpPr/>
          <p:nvPr/>
        </p:nvSpPr>
        <p:spPr>
          <a:xfrm>
            <a:off x="6035040" y="2377440"/>
            <a:ext cx="2286000" cy="274320"/>
          </a:xfrm>
          <a:prstGeom prst="rect">
            <a:avLst/>
          </a:prstGeom>
          <a:noFill/>
          <a:ln/>
        </p:spPr>
        <p:txBody>
          <a:bodyPr wrap="square" lIns="0" tIns="0" rIns="0" bIns="0" rtlCol="0" anchor="ctr"/>
          <a:lstStyle/>
          <a:p>
            <a:pPr indent="0" marL="0">
              <a:buNone/>
            </a:pPr>
            <a:r>
              <a:rPr lang="en-US" sz="1000" b="1" spc="100" kern="0" dirty="0">
                <a:solidFill>
                  <a:srgbClr val="4FB0E8"/>
                </a:solidFill>
                <a:latin typeface="Lato" pitchFamily="34" charset="0"/>
                <a:ea typeface="Lato" pitchFamily="34" charset="-122"/>
                <a:cs typeface="Lato" pitchFamily="34" charset="-120"/>
              </a:rPr>
              <a:t>WHY CONTEXT MATTERS</a:t>
            </a:r>
            <a:endParaRPr lang="en-US" sz="1000" dirty="0"/>
          </a:p>
        </p:txBody>
      </p:sp>
      <p:sp>
        <p:nvSpPr>
          <p:cNvPr id="35" name="Text 33"/>
          <p:cNvSpPr/>
          <p:nvPr/>
        </p:nvSpPr>
        <p:spPr>
          <a:xfrm>
            <a:off x="6035040" y="2697480"/>
            <a:ext cx="2331720" cy="914400"/>
          </a:xfrm>
          <a:prstGeom prst="rect">
            <a:avLst/>
          </a:prstGeom>
          <a:noFill/>
          <a:ln/>
        </p:spPr>
        <p:txBody>
          <a:bodyPr wrap="square" lIns="0" tIns="0" rIns="0" bIns="0" rtlCol="0" anchor="ctr"/>
          <a:lstStyle/>
          <a:p>
            <a:pPr indent="0" marL="0">
              <a:lnSpc>
                <a:spcPts val="1900"/>
              </a:lnSpc>
              <a:buNone/>
            </a:pPr>
            <a:r>
              <a:rPr lang="en-US" sz="1300" dirty="0">
                <a:solidFill>
                  <a:srgbClr val="FFFFFF"/>
                </a:solidFill>
                <a:latin typeface="Lato" pitchFamily="34" charset="0"/>
                <a:ea typeface="Lato" pitchFamily="34" charset="-122"/>
                <a:cs typeface="Lato" pitchFamily="34" charset="-120"/>
              </a:rPr>
              <a:t>A $10M project is routine for Cat C roadwork and highly unusual for Cat G parks.</a:t>
            </a:r>
            <a:endParaRPr lang="en-US" sz="1300" dirty="0"/>
          </a:p>
        </p:txBody>
      </p:sp>
      <p:sp>
        <p:nvSpPr>
          <p:cNvPr id="36" name="Text 34"/>
          <p:cNvSpPr/>
          <p:nvPr/>
        </p:nvSpPr>
        <p:spPr>
          <a:xfrm>
            <a:off x="6035040" y="3611880"/>
            <a:ext cx="2331720" cy="731520"/>
          </a:xfrm>
          <a:prstGeom prst="rect">
            <a:avLst/>
          </a:prstGeom>
          <a:noFill/>
          <a:ln/>
        </p:spPr>
        <p:txBody>
          <a:bodyPr wrap="square" lIns="0" tIns="0" rIns="0" bIns="0" rtlCol="0" anchor="ctr"/>
          <a:lstStyle/>
          <a:p>
            <a:pPr indent="0" marL="0">
              <a:lnSpc>
                <a:spcPts val="1600"/>
              </a:lnSpc>
              <a:buNone/>
            </a:pPr>
            <a:r>
              <a:rPr lang="en-US" sz="1100" dirty="0">
                <a:solidFill>
                  <a:srgbClr val="C3D0DC"/>
                </a:solidFill>
                <a:latin typeface="Lato" pitchFamily="34" charset="0"/>
                <a:ea typeface="Lato" pitchFamily="34" charset="-122"/>
                <a:cs typeface="Lato" pitchFamily="34" charset="-120"/>
              </a:rPr>
              <a:t>Every indicator is judged against its own category baseline, not the whole portfolio.</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48640"/>
            <a:ext cx="7772400" cy="274320"/>
          </a:xfrm>
          <a:prstGeom prst="rect">
            <a:avLst/>
          </a:prstGeom>
          <a:noFill/>
          <a:ln/>
        </p:spPr>
        <p:txBody>
          <a:bodyPr wrap="square" lIns="0" tIns="0" rIns="0" bIns="0" rtlCol="0" anchor="ctr"/>
          <a:lstStyle/>
          <a:p>
            <a:pPr indent="0" marL="0">
              <a:buNone/>
            </a:pPr>
            <a:r>
              <a:rPr lang="en-US" sz="1100" b="1" spc="150" kern="0" dirty="0">
                <a:solidFill>
                  <a:srgbClr val="1483C8"/>
                </a:solidFill>
                <a:latin typeface="Lato" pitchFamily="34" charset="0"/>
                <a:ea typeface="Lato" pitchFamily="34" charset="-122"/>
                <a:cs typeface="Lato" pitchFamily="34" charset="-120"/>
              </a:rPr>
              <a:t>FEMA DOMAIN ONTOLOGY</a:t>
            </a:r>
            <a:endParaRPr lang="en-US" sz="1100" dirty="0"/>
          </a:p>
        </p:txBody>
      </p:sp>
      <p:sp>
        <p:nvSpPr>
          <p:cNvPr id="3" name="Text 1"/>
          <p:cNvSpPr/>
          <p:nvPr/>
        </p:nvSpPr>
        <p:spPr>
          <a:xfrm>
            <a:off x="667512" y="822960"/>
            <a:ext cx="7863840" cy="658368"/>
          </a:xfrm>
          <a:prstGeom prst="rect">
            <a:avLst/>
          </a:prstGeom>
          <a:noFill/>
          <a:ln/>
        </p:spPr>
        <p:txBody>
          <a:bodyPr wrap="square" lIns="0" tIns="0" rIns="0" bIns="0" rtlCol="0" anchor="ctr"/>
          <a:lstStyle/>
          <a:p>
            <a:pPr indent="0" marL="0">
              <a:buNone/>
            </a:pPr>
            <a:r>
              <a:rPr lang="en-US" sz="3200" b="1" dirty="0">
                <a:solidFill>
                  <a:srgbClr val="0C1B2E"/>
                </a:solidFill>
                <a:latin typeface="Lato" pitchFamily="34" charset="0"/>
                <a:ea typeface="Lato" pitchFamily="34" charset="-122"/>
                <a:cs typeface="Lato" pitchFamily="34" charset="-120"/>
              </a:rPr>
              <a:t>Purpose-built FEMA knowledge model.</a:t>
            </a:r>
            <a:endParaRPr lang="en-US" sz="3200" dirty="0"/>
          </a:p>
        </p:txBody>
      </p:sp>
      <p:sp>
        <p:nvSpPr>
          <p:cNvPr id="4" name="Text 2"/>
          <p:cNvSpPr/>
          <p:nvPr/>
        </p:nvSpPr>
        <p:spPr>
          <a:xfrm>
            <a:off x="685800" y="1517904"/>
            <a:ext cx="7589520" cy="548640"/>
          </a:xfrm>
          <a:prstGeom prst="rect">
            <a:avLst/>
          </a:prstGeom>
          <a:noFill/>
          <a:ln/>
        </p:spPr>
        <p:txBody>
          <a:bodyPr wrap="square" lIns="0" tIns="0" rIns="0" bIns="0" rtlCol="0" anchor="ctr"/>
          <a:lstStyle/>
          <a:p>
            <a:pPr indent="0" marL="0">
              <a:lnSpc>
                <a:spcPts val="1900"/>
              </a:lnSpc>
              <a:buNone/>
            </a:pPr>
            <a:r>
              <a:rPr lang="en-US" sz="1350" dirty="0">
                <a:solidFill>
                  <a:srgbClr val="5B6B7B"/>
                </a:solidFill>
                <a:latin typeface="Lato" pitchFamily="34" charset="0"/>
                <a:ea typeface="Lato" pitchFamily="34" charset="-122"/>
                <a:cs typeface="Lato" pitchFamily="34" charset="-120"/>
              </a:rPr>
              <a:t>Encoding Stafford Act, PAPPG, cost-share exceptions, CEF logic, and Section 406 mitigation rules.</a:t>
            </a:r>
            <a:endParaRPr lang="en-US" sz="1350" dirty="0"/>
          </a:p>
        </p:txBody>
      </p:sp>
      <p:sp>
        <p:nvSpPr>
          <p:cNvPr id="5" name="Shape 3"/>
          <p:cNvSpPr/>
          <p:nvPr/>
        </p:nvSpPr>
        <p:spPr>
          <a:xfrm>
            <a:off x="685800" y="2240280"/>
            <a:ext cx="1938528" cy="2148840"/>
          </a:xfrm>
          <a:prstGeom prst="roundRect">
            <a:avLst>
              <a:gd name="adj" fmla="val 2358"/>
            </a:avLst>
          </a:prstGeom>
          <a:solidFill>
            <a:srgbClr val="FFFFFF"/>
          </a:solidFill>
          <a:ln w="12700">
            <a:solidFill>
              <a:srgbClr val="E2E7ED"/>
            </a:solidFill>
            <a:prstDash val="solid"/>
          </a:ln>
          <a:effectLst>
            <a:outerShdw sx="100000" sy="100000" kx="0" ky="0" algn="bl" rotWithShape="0" blurRad="63500" dist="25400" dir="5400000">
              <a:srgbClr val="B8C2CE">
                <a:alpha val="25000"/>
              </a:srgbClr>
            </a:outerShdw>
          </a:effectLst>
        </p:spPr>
      </p:sp>
      <p:sp>
        <p:nvSpPr>
          <p:cNvPr id="6" name="Shape 4"/>
          <p:cNvSpPr/>
          <p:nvPr/>
        </p:nvSpPr>
        <p:spPr>
          <a:xfrm>
            <a:off x="685800" y="2240280"/>
            <a:ext cx="1938528" cy="54864"/>
          </a:xfrm>
          <a:prstGeom prst="rect">
            <a:avLst/>
          </a:prstGeom>
          <a:solidFill>
            <a:srgbClr val="1483C8"/>
          </a:solidFill>
          <a:ln/>
        </p:spPr>
      </p:sp>
      <p:pic>
        <p:nvPicPr>
          <p:cNvPr id="7" name="Image 0" descr="ic_qu76ai4r8el.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886968" y="2514600"/>
            <a:ext cx="384048" cy="384048"/>
          </a:xfrm>
          <a:prstGeom prst="rect">
            <a:avLst/>
          </a:prstGeom>
        </p:spPr>
      </p:pic>
      <p:sp>
        <p:nvSpPr>
          <p:cNvPr id="8" name="Text 5"/>
          <p:cNvSpPr/>
          <p:nvPr/>
        </p:nvSpPr>
        <p:spPr>
          <a:xfrm>
            <a:off x="886968" y="3026664"/>
            <a:ext cx="1536192" cy="566928"/>
          </a:xfrm>
          <a:prstGeom prst="rect">
            <a:avLst/>
          </a:prstGeom>
          <a:noFill/>
          <a:ln/>
        </p:spPr>
        <p:txBody>
          <a:bodyPr wrap="square" lIns="0" tIns="0" rIns="0" bIns="0" rtlCol="0" anchor="ctr"/>
          <a:lstStyle/>
          <a:p>
            <a:pPr indent="0" marL="0">
              <a:lnSpc>
                <a:spcPts val="1700"/>
              </a:lnSpc>
              <a:buNone/>
            </a:pPr>
            <a:r>
              <a:rPr lang="en-US" sz="1350" b="1" dirty="0">
                <a:solidFill>
                  <a:srgbClr val="0C1B2E"/>
                </a:solidFill>
                <a:latin typeface="Lato" pitchFamily="34" charset="0"/>
                <a:ea typeface="Lato" pitchFamily="34" charset="-122"/>
                <a:cs typeface="Lato" pitchFamily="34" charset="-120"/>
              </a:rPr>
              <a:t>Cost-Share Review</a:t>
            </a:r>
            <a:endParaRPr lang="en-US" sz="1350" dirty="0"/>
          </a:p>
        </p:txBody>
      </p:sp>
      <p:sp>
        <p:nvSpPr>
          <p:cNvPr id="9" name="Text 6"/>
          <p:cNvSpPr/>
          <p:nvPr/>
        </p:nvSpPr>
        <p:spPr>
          <a:xfrm>
            <a:off x="886968" y="3611880"/>
            <a:ext cx="1536192" cy="685800"/>
          </a:xfrm>
          <a:prstGeom prst="rect">
            <a:avLst/>
          </a:prstGeom>
          <a:noFill/>
          <a:ln/>
        </p:spPr>
        <p:txBody>
          <a:bodyPr wrap="square" lIns="0" tIns="0" rIns="0" bIns="0" rtlCol="0" anchor="ctr"/>
          <a:lstStyle/>
          <a:p>
            <a:pPr indent="0" marL="0">
              <a:lnSpc>
                <a:spcPts val="1300"/>
              </a:lnSpc>
              <a:buNone/>
            </a:pPr>
            <a:r>
              <a:rPr lang="en-US" sz="1000" dirty="0">
                <a:solidFill>
                  <a:srgbClr val="5B6B7B"/>
                </a:solidFill>
                <a:latin typeface="Lato" pitchFamily="34" charset="0"/>
                <a:ea typeface="Lato" pitchFamily="34" charset="-122"/>
                <a:cs typeface="Lato" pitchFamily="34" charset="-120"/>
              </a:rPr>
              <a:t>Shares that differ from expected patterns for comparable declarations.</a:t>
            </a:r>
            <a:endParaRPr lang="en-US" sz="1000" dirty="0"/>
          </a:p>
        </p:txBody>
      </p:sp>
      <p:sp>
        <p:nvSpPr>
          <p:cNvPr id="10" name="Shape 7"/>
          <p:cNvSpPr/>
          <p:nvPr/>
        </p:nvSpPr>
        <p:spPr>
          <a:xfrm>
            <a:off x="2798064" y="2240280"/>
            <a:ext cx="1938528" cy="2148840"/>
          </a:xfrm>
          <a:prstGeom prst="roundRect">
            <a:avLst>
              <a:gd name="adj" fmla="val 2358"/>
            </a:avLst>
          </a:prstGeom>
          <a:solidFill>
            <a:srgbClr val="FFFFFF"/>
          </a:solidFill>
          <a:ln w="12700">
            <a:solidFill>
              <a:srgbClr val="E2E7ED"/>
            </a:solidFill>
            <a:prstDash val="solid"/>
          </a:ln>
          <a:effectLst>
            <a:outerShdw sx="100000" sy="100000" kx="0" ky="0" algn="bl" rotWithShape="0" blurRad="63500" dist="25400" dir="5400000">
              <a:srgbClr val="B8C2CE">
                <a:alpha val="25000"/>
              </a:srgbClr>
            </a:outerShdw>
          </a:effectLst>
        </p:spPr>
      </p:sp>
      <p:sp>
        <p:nvSpPr>
          <p:cNvPr id="11" name="Shape 8"/>
          <p:cNvSpPr/>
          <p:nvPr/>
        </p:nvSpPr>
        <p:spPr>
          <a:xfrm>
            <a:off x="2798064" y="2240280"/>
            <a:ext cx="1938528" cy="54864"/>
          </a:xfrm>
          <a:prstGeom prst="rect">
            <a:avLst/>
          </a:prstGeom>
          <a:solidFill>
            <a:srgbClr val="1483C8"/>
          </a:solidFill>
          <a:ln/>
        </p:spPr>
      </p:sp>
      <p:pic>
        <p:nvPicPr>
          <p:cNvPr id="12" name="Image 1" descr="ic_65brcwq68c8.sv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999232" y="2514600"/>
            <a:ext cx="384048" cy="384048"/>
          </a:xfrm>
          <a:prstGeom prst="rect">
            <a:avLst/>
          </a:prstGeom>
        </p:spPr>
      </p:pic>
      <p:sp>
        <p:nvSpPr>
          <p:cNvPr id="13" name="Text 9"/>
          <p:cNvSpPr/>
          <p:nvPr/>
        </p:nvSpPr>
        <p:spPr>
          <a:xfrm>
            <a:off x="2999232" y="3026664"/>
            <a:ext cx="1536192" cy="566928"/>
          </a:xfrm>
          <a:prstGeom prst="rect">
            <a:avLst/>
          </a:prstGeom>
          <a:noFill/>
          <a:ln/>
        </p:spPr>
        <p:txBody>
          <a:bodyPr wrap="square" lIns="0" tIns="0" rIns="0" bIns="0" rtlCol="0" anchor="ctr"/>
          <a:lstStyle/>
          <a:p>
            <a:pPr indent="0" marL="0">
              <a:lnSpc>
                <a:spcPts val="1700"/>
              </a:lnSpc>
              <a:buNone/>
            </a:pPr>
            <a:r>
              <a:rPr lang="en-US" sz="1350" b="1" dirty="0">
                <a:solidFill>
                  <a:srgbClr val="0C1B2E"/>
                </a:solidFill>
                <a:latin typeface="Lato" pitchFamily="34" charset="0"/>
                <a:ea typeface="Lato" pitchFamily="34" charset="-122"/>
                <a:cs typeface="Lato" pitchFamily="34" charset="-120"/>
              </a:rPr>
              <a:t>Fragmentation Review</a:t>
            </a:r>
            <a:endParaRPr lang="en-US" sz="1350" dirty="0"/>
          </a:p>
        </p:txBody>
      </p:sp>
      <p:sp>
        <p:nvSpPr>
          <p:cNvPr id="14" name="Text 10"/>
          <p:cNvSpPr/>
          <p:nvPr/>
        </p:nvSpPr>
        <p:spPr>
          <a:xfrm>
            <a:off x="2999232" y="3611880"/>
            <a:ext cx="1536192" cy="685800"/>
          </a:xfrm>
          <a:prstGeom prst="rect">
            <a:avLst/>
          </a:prstGeom>
          <a:noFill/>
          <a:ln/>
        </p:spPr>
        <p:txBody>
          <a:bodyPr wrap="square" lIns="0" tIns="0" rIns="0" bIns="0" rtlCol="0" anchor="ctr"/>
          <a:lstStyle/>
          <a:p>
            <a:pPr indent="0" marL="0">
              <a:lnSpc>
                <a:spcPts val="1300"/>
              </a:lnSpc>
              <a:buNone/>
            </a:pPr>
            <a:r>
              <a:rPr lang="en-US" sz="1000" dirty="0">
                <a:solidFill>
                  <a:srgbClr val="5B6B7B"/>
                </a:solidFill>
                <a:latin typeface="Lato" pitchFamily="34" charset="0"/>
                <a:ea typeface="Lato" pitchFamily="34" charset="-122"/>
                <a:cs typeface="Lato" pitchFamily="34" charset="-120"/>
              </a:rPr>
              <a:t>Potential fragmentation or duplication patterns across PWs, for review.</a:t>
            </a:r>
            <a:endParaRPr lang="en-US" sz="1000" dirty="0"/>
          </a:p>
        </p:txBody>
      </p:sp>
      <p:sp>
        <p:nvSpPr>
          <p:cNvPr id="15" name="Shape 11"/>
          <p:cNvSpPr/>
          <p:nvPr/>
        </p:nvSpPr>
        <p:spPr>
          <a:xfrm>
            <a:off x="4910328" y="2240280"/>
            <a:ext cx="1938528" cy="2148840"/>
          </a:xfrm>
          <a:prstGeom prst="roundRect">
            <a:avLst>
              <a:gd name="adj" fmla="val 2358"/>
            </a:avLst>
          </a:prstGeom>
          <a:solidFill>
            <a:srgbClr val="FFFFFF"/>
          </a:solidFill>
          <a:ln w="12700">
            <a:solidFill>
              <a:srgbClr val="E2E7ED"/>
            </a:solidFill>
            <a:prstDash val="solid"/>
          </a:ln>
          <a:effectLst>
            <a:outerShdw sx="100000" sy="100000" kx="0" ky="0" algn="bl" rotWithShape="0" blurRad="63500" dist="25400" dir="5400000">
              <a:srgbClr val="B8C2CE">
                <a:alpha val="25000"/>
              </a:srgbClr>
            </a:outerShdw>
          </a:effectLst>
        </p:spPr>
      </p:sp>
      <p:sp>
        <p:nvSpPr>
          <p:cNvPr id="16" name="Shape 12"/>
          <p:cNvSpPr/>
          <p:nvPr/>
        </p:nvSpPr>
        <p:spPr>
          <a:xfrm>
            <a:off x="4910328" y="2240280"/>
            <a:ext cx="1938528" cy="54864"/>
          </a:xfrm>
          <a:prstGeom prst="rect">
            <a:avLst/>
          </a:prstGeom>
          <a:solidFill>
            <a:srgbClr val="1483C8"/>
          </a:solidFill>
          <a:ln/>
        </p:spPr>
      </p:sp>
      <p:pic>
        <p:nvPicPr>
          <p:cNvPr id="17" name="Image 2" descr="ic_ec0kgnvl98b.sv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111496" y="2514600"/>
            <a:ext cx="384048" cy="384048"/>
          </a:xfrm>
          <a:prstGeom prst="rect">
            <a:avLst/>
          </a:prstGeom>
        </p:spPr>
      </p:pic>
      <p:sp>
        <p:nvSpPr>
          <p:cNvPr id="18" name="Text 13"/>
          <p:cNvSpPr/>
          <p:nvPr/>
        </p:nvSpPr>
        <p:spPr>
          <a:xfrm>
            <a:off x="5111496" y="3026664"/>
            <a:ext cx="1536192" cy="566928"/>
          </a:xfrm>
          <a:prstGeom prst="rect">
            <a:avLst/>
          </a:prstGeom>
          <a:noFill/>
          <a:ln/>
        </p:spPr>
        <p:txBody>
          <a:bodyPr wrap="square" lIns="0" tIns="0" rIns="0" bIns="0" rtlCol="0" anchor="ctr"/>
          <a:lstStyle/>
          <a:p>
            <a:pPr indent="0" marL="0">
              <a:lnSpc>
                <a:spcPts val="1700"/>
              </a:lnSpc>
              <a:buNone/>
            </a:pPr>
            <a:r>
              <a:rPr lang="en-US" sz="1350" b="1" dirty="0">
                <a:solidFill>
                  <a:srgbClr val="0C1B2E"/>
                </a:solidFill>
                <a:latin typeface="Lato" pitchFamily="34" charset="0"/>
                <a:ea typeface="Lato" pitchFamily="34" charset="-122"/>
                <a:cs typeface="Lato" pitchFamily="34" charset="-120"/>
              </a:rPr>
              <a:t>Category Outlier Review</a:t>
            </a:r>
            <a:endParaRPr lang="en-US" sz="1350" dirty="0"/>
          </a:p>
        </p:txBody>
      </p:sp>
      <p:sp>
        <p:nvSpPr>
          <p:cNvPr id="19" name="Text 14"/>
          <p:cNvSpPr/>
          <p:nvPr/>
        </p:nvSpPr>
        <p:spPr>
          <a:xfrm>
            <a:off x="5111496" y="3611880"/>
            <a:ext cx="1536192" cy="685800"/>
          </a:xfrm>
          <a:prstGeom prst="rect">
            <a:avLst/>
          </a:prstGeom>
          <a:noFill/>
          <a:ln/>
        </p:spPr>
        <p:txBody>
          <a:bodyPr wrap="square" lIns="0" tIns="0" rIns="0" bIns="0" rtlCol="0" anchor="ctr"/>
          <a:lstStyle/>
          <a:p>
            <a:pPr indent="0" marL="0">
              <a:lnSpc>
                <a:spcPts val="1300"/>
              </a:lnSpc>
              <a:buNone/>
            </a:pPr>
            <a:r>
              <a:rPr lang="en-US" sz="1000" dirty="0">
                <a:solidFill>
                  <a:srgbClr val="5B6B7B"/>
                </a:solidFill>
                <a:latin typeface="Lato" pitchFamily="34" charset="0"/>
                <a:ea typeface="Lato" pitchFamily="34" charset="-122"/>
                <a:cs typeface="Lato" pitchFamily="34" charset="-120"/>
              </a:rPr>
              <a:t>Outliers relative to declaration type, category of work, and peer projects.</a:t>
            </a:r>
            <a:endParaRPr lang="en-US" sz="1000" dirty="0"/>
          </a:p>
        </p:txBody>
      </p:sp>
      <p:sp>
        <p:nvSpPr>
          <p:cNvPr id="20" name="Shape 15"/>
          <p:cNvSpPr/>
          <p:nvPr/>
        </p:nvSpPr>
        <p:spPr>
          <a:xfrm>
            <a:off x="7022592" y="2240280"/>
            <a:ext cx="1938528" cy="2148840"/>
          </a:xfrm>
          <a:prstGeom prst="roundRect">
            <a:avLst>
              <a:gd name="adj" fmla="val 2358"/>
            </a:avLst>
          </a:prstGeom>
          <a:solidFill>
            <a:srgbClr val="FFFFFF"/>
          </a:solidFill>
          <a:ln w="12700">
            <a:solidFill>
              <a:srgbClr val="E2E7ED"/>
            </a:solidFill>
            <a:prstDash val="solid"/>
          </a:ln>
          <a:effectLst>
            <a:outerShdw sx="100000" sy="100000" kx="0" ky="0" algn="bl" rotWithShape="0" blurRad="63500" dist="25400" dir="5400000">
              <a:srgbClr val="B8C2CE">
                <a:alpha val="25000"/>
              </a:srgbClr>
            </a:outerShdw>
          </a:effectLst>
        </p:spPr>
      </p:sp>
      <p:sp>
        <p:nvSpPr>
          <p:cNvPr id="21" name="Shape 16"/>
          <p:cNvSpPr/>
          <p:nvPr/>
        </p:nvSpPr>
        <p:spPr>
          <a:xfrm>
            <a:off x="7022592" y="2240280"/>
            <a:ext cx="1938528" cy="54864"/>
          </a:xfrm>
          <a:prstGeom prst="rect">
            <a:avLst/>
          </a:prstGeom>
          <a:solidFill>
            <a:srgbClr val="1483C8"/>
          </a:solidFill>
          <a:ln/>
        </p:spPr>
      </p:sp>
      <p:pic>
        <p:nvPicPr>
          <p:cNvPr id="22" name="Image 3" descr="ic_e60r58qgm7o.sv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223760" y="2514600"/>
            <a:ext cx="384048" cy="384048"/>
          </a:xfrm>
          <a:prstGeom prst="rect">
            <a:avLst/>
          </a:prstGeom>
        </p:spPr>
      </p:pic>
      <p:sp>
        <p:nvSpPr>
          <p:cNvPr id="23" name="Text 17"/>
          <p:cNvSpPr/>
          <p:nvPr/>
        </p:nvSpPr>
        <p:spPr>
          <a:xfrm>
            <a:off x="7223760" y="3026664"/>
            <a:ext cx="1536192" cy="566928"/>
          </a:xfrm>
          <a:prstGeom prst="rect">
            <a:avLst/>
          </a:prstGeom>
          <a:noFill/>
          <a:ln/>
        </p:spPr>
        <p:txBody>
          <a:bodyPr wrap="square" lIns="0" tIns="0" rIns="0" bIns="0" rtlCol="0" anchor="ctr"/>
          <a:lstStyle/>
          <a:p>
            <a:pPr indent="0" marL="0">
              <a:lnSpc>
                <a:spcPts val="1700"/>
              </a:lnSpc>
              <a:buNone/>
            </a:pPr>
            <a:r>
              <a:rPr lang="en-US" sz="1350" b="1" dirty="0">
                <a:solidFill>
                  <a:srgbClr val="0C1B2E"/>
                </a:solidFill>
                <a:latin typeface="Lato" pitchFamily="34" charset="0"/>
                <a:ea typeface="Lato" pitchFamily="34" charset="-122"/>
                <a:cs typeface="Lato" pitchFamily="34" charset="-120"/>
              </a:rPr>
              <a:t>Section 406 Mitigation</a:t>
            </a:r>
            <a:endParaRPr lang="en-US" sz="1350" dirty="0"/>
          </a:p>
        </p:txBody>
      </p:sp>
      <p:sp>
        <p:nvSpPr>
          <p:cNvPr id="24" name="Text 18"/>
          <p:cNvSpPr/>
          <p:nvPr/>
        </p:nvSpPr>
        <p:spPr>
          <a:xfrm>
            <a:off x="7223760" y="3611880"/>
            <a:ext cx="1536192" cy="685800"/>
          </a:xfrm>
          <a:prstGeom prst="rect">
            <a:avLst/>
          </a:prstGeom>
          <a:noFill/>
          <a:ln/>
        </p:spPr>
        <p:txBody>
          <a:bodyPr wrap="square" lIns="0" tIns="0" rIns="0" bIns="0" rtlCol="0" anchor="ctr"/>
          <a:lstStyle/>
          <a:p>
            <a:pPr indent="0" marL="0">
              <a:lnSpc>
                <a:spcPts val="1300"/>
              </a:lnSpc>
              <a:buNone/>
            </a:pPr>
            <a:r>
              <a:rPr lang="en-US" sz="1000" dirty="0">
                <a:solidFill>
                  <a:srgbClr val="5B6B7B"/>
                </a:solidFill>
                <a:latin typeface="Lato" pitchFamily="34" charset="0"/>
                <a:ea typeface="Lato" pitchFamily="34" charset="-122"/>
                <a:cs typeface="Lato" pitchFamily="34" charset="-120"/>
              </a:rPr>
              <a:t>Validates the 15% rule cost thresholds on hazard-mitigation proposals.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48640"/>
            <a:ext cx="7772400" cy="274320"/>
          </a:xfrm>
          <a:prstGeom prst="rect">
            <a:avLst/>
          </a:prstGeom>
          <a:noFill/>
          <a:ln/>
        </p:spPr>
        <p:txBody>
          <a:bodyPr wrap="square" lIns="0" tIns="0" rIns="0" bIns="0" rtlCol="0" anchor="ctr"/>
          <a:lstStyle/>
          <a:p>
            <a:pPr indent="0" marL="0">
              <a:buNone/>
            </a:pPr>
            <a:r>
              <a:rPr lang="en-US" sz="1100" b="1" spc="150" kern="0" dirty="0">
                <a:solidFill>
                  <a:srgbClr val="1483C8"/>
                </a:solidFill>
                <a:latin typeface="Lato" pitchFamily="34" charset="0"/>
                <a:ea typeface="Lato" pitchFamily="34" charset="-122"/>
                <a:cs typeface="Lato" pitchFamily="34" charset="-120"/>
              </a:rPr>
              <a:t>DOMAIN INTELLIGENCE</a:t>
            </a:r>
            <a:endParaRPr lang="en-US" sz="1100" dirty="0"/>
          </a:p>
        </p:txBody>
      </p:sp>
      <p:sp>
        <p:nvSpPr>
          <p:cNvPr id="3" name="Text 1"/>
          <p:cNvSpPr/>
          <p:nvPr/>
        </p:nvSpPr>
        <p:spPr>
          <a:xfrm>
            <a:off x="667512" y="822960"/>
            <a:ext cx="7863840" cy="658368"/>
          </a:xfrm>
          <a:prstGeom prst="rect">
            <a:avLst/>
          </a:prstGeom>
          <a:noFill/>
          <a:ln/>
        </p:spPr>
        <p:txBody>
          <a:bodyPr wrap="square" lIns="0" tIns="0" rIns="0" bIns="0" rtlCol="0" anchor="ctr"/>
          <a:lstStyle/>
          <a:p>
            <a:pPr indent="0" marL="0">
              <a:buNone/>
            </a:pPr>
            <a:r>
              <a:rPr lang="en-US" sz="3200" b="1" dirty="0">
                <a:solidFill>
                  <a:srgbClr val="0C1B2E"/>
                </a:solidFill>
                <a:latin typeface="Lato" pitchFamily="34" charset="0"/>
                <a:ea typeface="Lato" pitchFamily="34" charset="-122"/>
                <a:cs typeface="Lato" pitchFamily="34" charset="-120"/>
              </a:rPr>
              <a:t>FEMA ontology outperforms raw SQL.</a:t>
            </a:r>
            <a:endParaRPr lang="en-US" sz="3200" dirty="0"/>
          </a:p>
        </p:txBody>
      </p:sp>
      <p:sp>
        <p:nvSpPr>
          <p:cNvPr id="4" name="Text 2"/>
          <p:cNvSpPr/>
          <p:nvPr/>
        </p:nvSpPr>
        <p:spPr>
          <a:xfrm>
            <a:off x="685800" y="1920240"/>
            <a:ext cx="3840480" cy="365760"/>
          </a:xfrm>
          <a:prstGeom prst="rect">
            <a:avLst/>
          </a:prstGeom>
          <a:noFill/>
          <a:ln/>
        </p:spPr>
        <p:txBody>
          <a:bodyPr wrap="square" lIns="0" tIns="0" rIns="0" bIns="0" rtlCol="0" anchor="ctr"/>
          <a:lstStyle/>
          <a:p>
            <a:pPr indent="0" marL="0">
              <a:buNone/>
            </a:pPr>
            <a:r>
              <a:rPr lang="en-US" sz="1600" b="1" dirty="0">
                <a:solidFill>
                  <a:srgbClr val="5B6B7B"/>
                </a:solidFill>
                <a:latin typeface="Lato" pitchFamily="34" charset="0"/>
                <a:ea typeface="Lato" pitchFamily="34" charset="-122"/>
                <a:cs typeface="Lato" pitchFamily="34" charset="-120"/>
              </a:rPr>
              <a:t>Standard LLM + SQL</a:t>
            </a:r>
            <a:endParaRPr lang="en-US" sz="1600" dirty="0"/>
          </a:p>
        </p:txBody>
      </p:sp>
      <p:pic>
        <p:nvPicPr>
          <p:cNvPr id="5" name="Image 0" descr="ic_7zumsz2wmzd.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13232" y="2542032"/>
            <a:ext cx="201168" cy="201168"/>
          </a:xfrm>
          <a:prstGeom prst="rect">
            <a:avLst/>
          </a:prstGeom>
        </p:spPr>
      </p:pic>
      <p:sp>
        <p:nvSpPr>
          <p:cNvPr id="6" name="Text 3"/>
          <p:cNvSpPr/>
          <p:nvPr/>
        </p:nvSpPr>
        <p:spPr>
          <a:xfrm>
            <a:off x="1051560" y="2514600"/>
            <a:ext cx="3566160" cy="320040"/>
          </a:xfrm>
          <a:prstGeom prst="rect">
            <a:avLst/>
          </a:prstGeom>
          <a:noFill/>
          <a:ln/>
        </p:spPr>
        <p:txBody>
          <a:bodyPr wrap="square" lIns="0" tIns="0" rIns="0" bIns="0" rtlCol="0" anchor="ctr"/>
          <a:lstStyle/>
          <a:p>
            <a:pPr indent="0" marL="0">
              <a:buNone/>
            </a:pPr>
            <a:r>
              <a:rPr lang="en-US" sz="1300" dirty="0">
                <a:solidFill>
                  <a:srgbClr val="0C1B2E"/>
                </a:solidFill>
                <a:latin typeface="Lato" pitchFamily="34" charset="0"/>
                <a:ea typeface="Lato" pitchFamily="34" charset="-122"/>
                <a:cs typeface="Lato" pitchFamily="34" charset="-120"/>
              </a:rPr>
              <a:t>Sees raw text strings.</a:t>
            </a:r>
            <a:endParaRPr lang="en-US" sz="1300" dirty="0"/>
          </a:p>
        </p:txBody>
      </p:sp>
      <p:pic>
        <p:nvPicPr>
          <p:cNvPr id="7" name="Image 1" descr="ic_x5v4g66kj1.sv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3232" y="3108960"/>
            <a:ext cx="201168" cy="201168"/>
          </a:xfrm>
          <a:prstGeom prst="rect">
            <a:avLst/>
          </a:prstGeom>
        </p:spPr>
      </p:pic>
      <p:sp>
        <p:nvSpPr>
          <p:cNvPr id="8" name="Text 4"/>
          <p:cNvSpPr/>
          <p:nvPr/>
        </p:nvSpPr>
        <p:spPr>
          <a:xfrm>
            <a:off x="1051560" y="3081528"/>
            <a:ext cx="3566160" cy="320040"/>
          </a:xfrm>
          <a:prstGeom prst="rect">
            <a:avLst/>
          </a:prstGeom>
          <a:noFill/>
          <a:ln/>
        </p:spPr>
        <p:txBody>
          <a:bodyPr wrap="square" lIns="0" tIns="0" rIns="0" bIns="0" rtlCol="0" anchor="ctr"/>
          <a:lstStyle/>
          <a:p>
            <a:pPr indent="0" marL="0">
              <a:buNone/>
            </a:pPr>
            <a:r>
              <a:rPr lang="en-US" sz="1300" dirty="0">
                <a:solidFill>
                  <a:srgbClr val="0C1B2E"/>
                </a:solidFill>
                <a:latin typeface="Lato" pitchFamily="34" charset="0"/>
                <a:ea typeface="Lato" pitchFamily="34" charset="-122"/>
                <a:cs typeface="Lato" pitchFamily="34" charset="-120"/>
              </a:rPr>
              <a:t>Treats all costs uniformly.</a:t>
            </a:r>
            <a:endParaRPr lang="en-US" sz="1300" dirty="0"/>
          </a:p>
        </p:txBody>
      </p:sp>
      <p:pic>
        <p:nvPicPr>
          <p:cNvPr id="9" name="Image 2" descr="ic_6zzmx1p87ot.sv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3232" y="3675888"/>
            <a:ext cx="201168" cy="201168"/>
          </a:xfrm>
          <a:prstGeom prst="rect">
            <a:avLst/>
          </a:prstGeom>
        </p:spPr>
      </p:pic>
      <p:sp>
        <p:nvSpPr>
          <p:cNvPr id="10" name="Text 5"/>
          <p:cNvSpPr/>
          <p:nvPr/>
        </p:nvSpPr>
        <p:spPr>
          <a:xfrm>
            <a:off x="1051560" y="3648456"/>
            <a:ext cx="3566160" cy="320040"/>
          </a:xfrm>
          <a:prstGeom prst="rect">
            <a:avLst/>
          </a:prstGeom>
          <a:noFill/>
          <a:ln/>
        </p:spPr>
        <p:txBody>
          <a:bodyPr wrap="square" lIns="0" tIns="0" rIns="0" bIns="0" rtlCol="0" anchor="ctr"/>
          <a:lstStyle/>
          <a:p>
            <a:pPr indent="0" marL="0">
              <a:buNone/>
            </a:pPr>
            <a:r>
              <a:rPr lang="en-US" sz="1300" dirty="0">
                <a:solidFill>
                  <a:srgbClr val="0C1B2E"/>
                </a:solidFill>
                <a:latin typeface="Lato" pitchFamily="34" charset="0"/>
                <a:ea typeface="Lato" pitchFamily="34" charset="-122"/>
                <a:cs typeface="Lato" pitchFamily="34" charset="-120"/>
              </a:rPr>
              <a:t>Blind to Cat A vs Cat E distinctions.</a:t>
            </a:r>
            <a:endParaRPr lang="en-US" sz="1300" dirty="0"/>
          </a:p>
        </p:txBody>
      </p:sp>
      <p:sp>
        <p:nvSpPr>
          <p:cNvPr id="11" name="Text 6"/>
          <p:cNvSpPr/>
          <p:nvPr/>
        </p:nvSpPr>
        <p:spPr>
          <a:xfrm>
            <a:off x="4846320" y="1920240"/>
            <a:ext cx="3840480" cy="365760"/>
          </a:xfrm>
          <a:prstGeom prst="rect">
            <a:avLst/>
          </a:prstGeom>
          <a:noFill/>
          <a:ln/>
        </p:spPr>
        <p:txBody>
          <a:bodyPr wrap="square" lIns="0" tIns="0" rIns="0" bIns="0" rtlCol="0" anchor="ctr"/>
          <a:lstStyle/>
          <a:p>
            <a:pPr indent="0" marL="0">
              <a:buNone/>
            </a:pPr>
            <a:r>
              <a:rPr lang="en-US" sz="1600" b="1" dirty="0">
                <a:solidFill>
                  <a:srgbClr val="1483C8"/>
                </a:solidFill>
                <a:latin typeface="Lato" pitchFamily="34" charset="0"/>
                <a:ea typeface="Lato" pitchFamily="34" charset="-122"/>
                <a:cs typeface="Lato" pitchFamily="34" charset="-120"/>
              </a:rPr>
              <a:t>Oversight MCP Server</a:t>
            </a:r>
            <a:endParaRPr lang="en-US" sz="1600" dirty="0"/>
          </a:p>
        </p:txBody>
      </p:sp>
      <p:pic>
        <p:nvPicPr>
          <p:cNvPr id="12" name="Image 3" descr="ic_31zx5dbbzqf.sv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873752" y="2532888"/>
            <a:ext cx="219456" cy="219456"/>
          </a:xfrm>
          <a:prstGeom prst="rect">
            <a:avLst/>
          </a:prstGeom>
        </p:spPr>
      </p:pic>
      <p:sp>
        <p:nvSpPr>
          <p:cNvPr id="13" name="Text 7"/>
          <p:cNvSpPr/>
          <p:nvPr/>
        </p:nvSpPr>
        <p:spPr>
          <a:xfrm>
            <a:off x="5257800" y="2514600"/>
            <a:ext cx="3566160" cy="320040"/>
          </a:xfrm>
          <a:prstGeom prst="rect">
            <a:avLst/>
          </a:prstGeom>
          <a:noFill/>
          <a:ln/>
        </p:spPr>
        <p:txBody>
          <a:bodyPr wrap="square" lIns="0" tIns="0" rIns="0" bIns="0" rtlCol="0" anchor="ctr"/>
          <a:lstStyle/>
          <a:p>
            <a:pPr indent="0" marL="0">
              <a:buNone/>
            </a:pPr>
            <a:r>
              <a:rPr lang="en-US" sz="1300" dirty="0">
                <a:solidFill>
                  <a:srgbClr val="0C1B2E"/>
                </a:solidFill>
                <a:latin typeface="Lato" pitchFamily="34" charset="0"/>
                <a:ea typeface="Lato" pitchFamily="34" charset="-122"/>
                <a:cs typeface="Lato" pitchFamily="34" charset="-120"/>
              </a:rPr>
              <a:t>Structured Pydantic tool endpoints.</a:t>
            </a:r>
            <a:endParaRPr lang="en-US" sz="1300" dirty="0"/>
          </a:p>
        </p:txBody>
      </p:sp>
      <p:pic>
        <p:nvPicPr>
          <p:cNvPr id="14" name="Image 4" descr="ic_8zkel6i38ze.sv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873752" y="3099816"/>
            <a:ext cx="219456" cy="219456"/>
          </a:xfrm>
          <a:prstGeom prst="rect">
            <a:avLst/>
          </a:prstGeom>
        </p:spPr>
      </p:pic>
      <p:sp>
        <p:nvSpPr>
          <p:cNvPr id="15" name="Text 8"/>
          <p:cNvSpPr/>
          <p:nvPr/>
        </p:nvSpPr>
        <p:spPr>
          <a:xfrm>
            <a:off x="5257800" y="3081528"/>
            <a:ext cx="3566160" cy="320040"/>
          </a:xfrm>
          <a:prstGeom prst="rect">
            <a:avLst/>
          </a:prstGeom>
          <a:noFill/>
          <a:ln/>
        </p:spPr>
        <p:txBody>
          <a:bodyPr wrap="square" lIns="0" tIns="0" rIns="0" bIns="0" rtlCol="0" anchor="ctr"/>
          <a:lstStyle/>
          <a:p>
            <a:pPr indent="0" marL="0">
              <a:buNone/>
            </a:pPr>
            <a:r>
              <a:rPr lang="en-US" sz="1300" dirty="0">
                <a:solidFill>
                  <a:srgbClr val="0C1B2E"/>
                </a:solidFill>
                <a:latin typeface="Lato" pitchFamily="34" charset="0"/>
                <a:ea typeface="Lato" pitchFamily="34" charset="-122"/>
                <a:cs typeface="Lato" pitchFamily="34" charset="-120"/>
              </a:rPr>
              <a:t>Applies specific PAPPG math rules.</a:t>
            </a:r>
            <a:endParaRPr lang="en-US" sz="1300" dirty="0"/>
          </a:p>
        </p:txBody>
      </p:sp>
      <p:pic>
        <p:nvPicPr>
          <p:cNvPr id="16" name="Image 5" descr="ic_5orzbw7insh.sv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873752" y="3666744"/>
            <a:ext cx="219456" cy="219456"/>
          </a:xfrm>
          <a:prstGeom prst="rect">
            <a:avLst/>
          </a:prstGeom>
        </p:spPr>
      </p:pic>
      <p:sp>
        <p:nvSpPr>
          <p:cNvPr id="17" name="Text 9"/>
          <p:cNvSpPr/>
          <p:nvPr/>
        </p:nvSpPr>
        <p:spPr>
          <a:xfrm>
            <a:off x="5257800" y="3648456"/>
            <a:ext cx="3566160" cy="320040"/>
          </a:xfrm>
          <a:prstGeom prst="rect">
            <a:avLst/>
          </a:prstGeom>
          <a:noFill/>
          <a:ln/>
        </p:spPr>
        <p:txBody>
          <a:bodyPr wrap="square" lIns="0" tIns="0" rIns="0" bIns="0" rtlCol="0" anchor="ctr"/>
          <a:lstStyle/>
          <a:p>
            <a:pPr indent="0" marL="0">
              <a:buNone/>
            </a:pPr>
            <a:r>
              <a:rPr lang="en-US" sz="1300" dirty="0">
                <a:solidFill>
                  <a:srgbClr val="0C1B2E"/>
                </a:solidFill>
                <a:latin typeface="Lato" pitchFamily="34" charset="0"/>
                <a:ea typeface="Lato" pitchFamily="34" charset="-122"/>
                <a:cs typeface="Lato" pitchFamily="34" charset="-120"/>
              </a:rPr>
              <a:t>Contextual, category-specific baselines.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31920" y="0"/>
            <a:ext cx="5212080" cy="5143500"/>
          </a:xfrm>
          <a:prstGeom prst="rect">
            <a:avLst/>
          </a:prstGeom>
          <a:solidFill>
            <a:srgbClr val="0C1B2E"/>
          </a:solidFill>
          <a:ln/>
        </p:spPr>
      </p:sp>
      <p:sp>
        <p:nvSpPr>
          <p:cNvPr id="3" name="Text 1"/>
          <p:cNvSpPr/>
          <p:nvPr/>
        </p:nvSpPr>
        <p:spPr>
          <a:xfrm>
            <a:off x="4526280" y="1143000"/>
            <a:ext cx="4114800" cy="274320"/>
          </a:xfrm>
          <a:prstGeom prst="rect">
            <a:avLst/>
          </a:prstGeom>
          <a:noFill/>
          <a:ln/>
        </p:spPr>
        <p:txBody>
          <a:bodyPr wrap="square" lIns="0" tIns="0" rIns="0" bIns="0" rtlCol="0" anchor="ctr"/>
          <a:lstStyle/>
          <a:p>
            <a:pPr indent="0" marL="0">
              <a:buNone/>
            </a:pPr>
            <a:r>
              <a:rPr lang="en-US" sz="1100" b="1" spc="150" kern="0" dirty="0">
                <a:solidFill>
                  <a:srgbClr val="4FB0E8"/>
                </a:solidFill>
                <a:latin typeface="Lato" pitchFamily="34" charset="0"/>
                <a:ea typeface="Lato" pitchFamily="34" charset="-122"/>
                <a:cs typeface="Lato" pitchFamily="34" charset="-120"/>
              </a:rPr>
              <a:t>DATA INFRASTRUCTURE</a:t>
            </a:r>
            <a:endParaRPr lang="en-US" sz="1100" dirty="0"/>
          </a:p>
        </p:txBody>
      </p:sp>
      <p:sp>
        <p:nvSpPr>
          <p:cNvPr id="4" name="Text 2"/>
          <p:cNvSpPr/>
          <p:nvPr/>
        </p:nvSpPr>
        <p:spPr>
          <a:xfrm>
            <a:off x="4507992" y="1463040"/>
            <a:ext cx="4297680" cy="1005840"/>
          </a:xfrm>
          <a:prstGeom prst="rect">
            <a:avLst/>
          </a:prstGeom>
          <a:noFill/>
          <a:ln/>
        </p:spPr>
        <p:txBody>
          <a:bodyPr wrap="square" lIns="0" tIns="0" rIns="0" bIns="0" rtlCol="0" anchor="ctr"/>
          <a:lstStyle/>
          <a:p>
            <a:pPr indent="0" marL="0">
              <a:lnSpc>
                <a:spcPts val="3200"/>
              </a:lnSpc>
              <a:buNone/>
            </a:pPr>
            <a:r>
              <a:rPr lang="en-US" sz="2800" b="1" dirty="0">
                <a:solidFill>
                  <a:srgbClr val="FFFFFF"/>
                </a:solidFill>
                <a:latin typeface="Lato" pitchFamily="34" charset="0"/>
                <a:ea typeface="Lato" pitchFamily="34" charset="-122"/>
                <a:cs typeface="Lato" pitchFamily="34" charset="-120"/>
              </a:rPr>
              <a:t>Agents as</a:t>
            </a:r>
            <a:endParaRPr lang="en-US" sz="2800" dirty="0"/>
          </a:p>
          <a:p>
            <a:pPr indent="0" marL="0">
              <a:lnSpc>
                <a:spcPts val="3200"/>
              </a:lnSpc>
              <a:buNone/>
            </a:pPr>
            <a:r>
              <a:rPr lang="en-US" sz="2800" b="1" dirty="0">
                <a:solidFill>
                  <a:srgbClr val="FFFFFF"/>
                </a:solidFill>
                <a:latin typeface="Lato" pitchFamily="34" charset="0"/>
                <a:ea typeface="Lato" pitchFamily="34" charset="-122"/>
                <a:cs typeface="Lato" pitchFamily="34" charset="-120"/>
              </a:rPr>
              <a:t>first-class citizens.</a:t>
            </a:r>
            <a:endParaRPr lang="en-US" sz="2800" dirty="0"/>
          </a:p>
        </p:txBody>
      </p:sp>
      <p:sp>
        <p:nvSpPr>
          <p:cNvPr id="5" name="Text 3"/>
          <p:cNvSpPr/>
          <p:nvPr/>
        </p:nvSpPr>
        <p:spPr>
          <a:xfrm>
            <a:off x="4526280" y="2606040"/>
            <a:ext cx="4114800" cy="914400"/>
          </a:xfrm>
          <a:prstGeom prst="rect">
            <a:avLst/>
          </a:prstGeom>
          <a:noFill/>
          <a:ln/>
        </p:spPr>
        <p:txBody>
          <a:bodyPr wrap="square" lIns="0" tIns="0" rIns="0" bIns="0" rtlCol="0" anchor="ctr"/>
          <a:lstStyle/>
          <a:p>
            <a:pPr indent="0" marL="0">
              <a:lnSpc>
                <a:spcPts val="2000"/>
              </a:lnSpc>
              <a:buNone/>
            </a:pPr>
            <a:r>
              <a:rPr lang="en-US" sz="1350" dirty="0">
                <a:solidFill>
                  <a:srgbClr val="C3D0DC"/>
                </a:solidFill>
                <a:latin typeface="Lato" pitchFamily="34" charset="0"/>
                <a:ea typeface="Lato" pitchFamily="34" charset="-122"/>
                <a:cs typeface="Lato" pitchFamily="34" charset="-120"/>
              </a:rPr>
              <a:t>Governed APIs, Unity Catalog lineage, endpoint-level authorization, and evidence traceability for every conclusion.</a:t>
            </a:r>
            <a:endParaRPr lang="en-US" sz="1350" dirty="0"/>
          </a:p>
        </p:txBody>
      </p:sp>
      <p:sp>
        <p:nvSpPr>
          <p:cNvPr id="6" name="Shape 4"/>
          <p:cNvSpPr/>
          <p:nvPr/>
        </p:nvSpPr>
        <p:spPr>
          <a:xfrm>
            <a:off x="4526280" y="3657600"/>
            <a:ext cx="4069080" cy="713232"/>
          </a:xfrm>
          <a:prstGeom prst="rect">
            <a:avLst/>
          </a:prstGeom>
          <a:solidFill>
            <a:srgbClr val="15263A"/>
          </a:solidFill>
          <a:ln/>
        </p:spPr>
      </p:sp>
      <p:sp>
        <p:nvSpPr>
          <p:cNvPr id="7" name="Shape 5"/>
          <p:cNvSpPr/>
          <p:nvPr/>
        </p:nvSpPr>
        <p:spPr>
          <a:xfrm>
            <a:off x="4526280" y="3657600"/>
            <a:ext cx="64008" cy="713232"/>
          </a:xfrm>
          <a:prstGeom prst="rect">
            <a:avLst/>
          </a:prstGeom>
          <a:solidFill>
            <a:srgbClr val="1483C8"/>
          </a:solidFill>
          <a:ln/>
        </p:spPr>
      </p:sp>
      <p:sp>
        <p:nvSpPr>
          <p:cNvPr id="8" name="Text 6"/>
          <p:cNvSpPr/>
          <p:nvPr/>
        </p:nvSpPr>
        <p:spPr>
          <a:xfrm>
            <a:off x="4754880" y="3749040"/>
            <a:ext cx="3657600" cy="292608"/>
          </a:xfrm>
          <a:prstGeom prst="rect">
            <a:avLst/>
          </a:prstGeom>
          <a:noFill/>
          <a:ln/>
        </p:spPr>
        <p:txBody>
          <a:bodyPr wrap="square" lIns="0" tIns="0" rIns="0" bIns="0" rtlCol="0" anchor="ctr"/>
          <a:lstStyle/>
          <a:p>
            <a:pPr indent="0" marL="0">
              <a:buNone/>
            </a:pPr>
            <a:r>
              <a:rPr lang="en-US" sz="1300" b="1" dirty="0">
                <a:solidFill>
                  <a:srgbClr val="FFFFFF"/>
                </a:solidFill>
                <a:latin typeface="Lato" pitchFamily="34" charset="0"/>
                <a:ea typeface="Lato" pitchFamily="34" charset="-122"/>
                <a:cs typeface="Lato" pitchFamily="34" charset="-120"/>
              </a:rPr>
              <a:t>Unity Catalog Governed</a:t>
            </a:r>
            <a:endParaRPr lang="en-US" sz="1300" dirty="0"/>
          </a:p>
        </p:txBody>
      </p:sp>
      <p:sp>
        <p:nvSpPr>
          <p:cNvPr id="9" name="Text 7"/>
          <p:cNvSpPr/>
          <p:nvPr/>
        </p:nvSpPr>
        <p:spPr>
          <a:xfrm>
            <a:off x="4754880" y="4041648"/>
            <a:ext cx="3657600" cy="274320"/>
          </a:xfrm>
          <a:prstGeom prst="rect">
            <a:avLst/>
          </a:prstGeom>
          <a:noFill/>
          <a:ln/>
        </p:spPr>
        <p:txBody>
          <a:bodyPr wrap="square" lIns="0" tIns="0" rIns="0" bIns="0" rtlCol="0" anchor="ctr"/>
          <a:lstStyle/>
          <a:p>
            <a:pPr indent="0" marL="0">
              <a:buNone/>
            </a:pPr>
            <a:r>
              <a:rPr lang="en-US" sz="1100" dirty="0">
                <a:solidFill>
                  <a:srgbClr val="94A6B6"/>
                </a:solidFill>
                <a:latin typeface="Lato" pitchFamily="34" charset="0"/>
                <a:ea typeface="Lato" pitchFamily="34" charset="-122"/>
                <a:cs typeface="Lato" pitchFamily="34" charset="-120"/>
              </a:rPr>
              <a:t>Strict OAuth scoping per endpoint.</a:t>
            </a:r>
            <a:endParaRPr lang="en-US" sz="1100" dirty="0"/>
          </a:p>
        </p:txBody>
      </p:sp>
      <p:pic>
        <p:nvPicPr>
          <p:cNvPr id="10" name="Image 0" descr="ic_quczhm57zw.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463040" y="2011680"/>
            <a:ext cx="1005840" cy="10058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48640"/>
            <a:ext cx="7772400" cy="274320"/>
          </a:xfrm>
          <a:prstGeom prst="rect">
            <a:avLst/>
          </a:prstGeom>
          <a:noFill/>
          <a:ln/>
        </p:spPr>
        <p:txBody>
          <a:bodyPr wrap="square" lIns="0" tIns="0" rIns="0" bIns="0" rtlCol="0" anchor="ctr"/>
          <a:lstStyle/>
          <a:p>
            <a:pPr indent="0" marL="0">
              <a:buNone/>
            </a:pPr>
            <a:r>
              <a:rPr lang="en-US" sz="1100" b="1" spc="150" kern="0" dirty="0">
                <a:solidFill>
                  <a:srgbClr val="1483C8"/>
                </a:solidFill>
                <a:latin typeface="Lato" pitchFamily="34" charset="0"/>
                <a:ea typeface="Lato" pitchFamily="34" charset="-122"/>
                <a:cs typeface="Lato" pitchFamily="34" charset="-120"/>
              </a:rPr>
              <a:t>WORKFLOW ARCHITECTURE</a:t>
            </a:r>
            <a:endParaRPr lang="en-US" sz="1100" dirty="0"/>
          </a:p>
        </p:txBody>
      </p:sp>
      <p:sp>
        <p:nvSpPr>
          <p:cNvPr id="3" name="Text 1"/>
          <p:cNvSpPr/>
          <p:nvPr/>
        </p:nvSpPr>
        <p:spPr>
          <a:xfrm>
            <a:off x="667512" y="822960"/>
            <a:ext cx="7863840" cy="658368"/>
          </a:xfrm>
          <a:prstGeom prst="rect">
            <a:avLst/>
          </a:prstGeom>
          <a:noFill/>
          <a:ln/>
        </p:spPr>
        <p:txBody>
          <a:bodyPr wrap="square" lIns="0" tIns="0" rIns="0" bIns="0" rtlCol="0" anchor="ctr"/>
          <a:lstStyle/>
          <a:p>
            <a:pPr indent="0" marL="0">
              <a:buNone/>
            </a:pPr>
            <a:r>
              <a:rPr lang="en-US" sz="3200" b="1" dirty="0">
                <a:solidFill>
                  <a:srgbClr val="0C1B2E"/>
                </a:solidFill>
                <a:latin typeface="Lato" pitchFamily="34" charset="0"/>
                <a:ea typeface="Lato" pitchFamily="34" charset="-122"/>
                <a:cs typeface="Lato" pitchFamily="34" charset="-120"/>
              </a:rPr>
              <a:t>The directed oversight workflow.</a:t>
            </a:r>
            <a:endParaRPr lang="en-US" sz="3200" dirty="0"/>
          </a:p>
        </p:txBody>
      </p:sp>
      <p:sp>
        <p:nvSpPr>
          <p:cNvPr id="4" name="Text 2"/>
          <p:cNvSpPr/>
          <p:nvPr/>
        </p:nvSpPr>
        <p:spPr>
          <a:xfrm>
            <a:off x="685800" y="1517904"/>
            <a:ext cx="7589520" cy="548640"/>
          </a:xfrm>
          <a:prstGeom prst="rect">
            <a:avLst/>
          </a:prstGeom>
          <a:noFill/>
          <a:ln/>
        </p:spPr>
        <p:txBody>
          <a:bodyPr wrap="square" lIns="0" tIns="0" rIns="0" bIns="0" rtlCol="0" anchor="ctr"/>
          <a:lstStyle/>
          <a:p>
            <a:pPr indent="0" marL="0">
              <a:lnSpc>
                <a:spcPts val="1900"/>
              </a:lnSpc>
              <a:buNone/>
            </a:pPr>
            <a:r>
              <a:rPr lang="en-US" sz="1350" dirty="0">
                <a:solidFill>
                  <a:srgbClr val="5B6B7B"/>
                </a:solidFill>
                <a:latin typeface="Lato" pitchFamily="34" charset="0"/>
                <a:ea typeface="Lato" pitchFamily="34" charset="-122"/>
                <a:cs typeface="Lato" pitchFamily="34" charset="-120"/>
              </a:rPr>
              <a:t>Discovery → Validation → Evidence → Human Review → Brief. Every step recorded and explainable.</a:t>
            </a:r>
            <a:endParaRPr lang="en-US" sz="1350" dirty="0"/>
          </a:p>
        </p:txBody>
      </p:sp>
      <p:sp>
        <p:nvSpPr>
          <p:cNvPr id="5" name="Shape 3"/>
          <p:cNvSpPr/>
          <p:nvPr/>
        </p:nvSpPr>
        <p:spPr>
          <a:xfrm>
            <a:off x="548640" y="2468880"/>
            <a:ext cx="1463040" cy="1554480"/>
          </a:xfrm>
          <a:prstGeom prst="roundRect">
            <a:avLst>
              <a:gd name="adj" fmla="val 3750"/>
            </a:avLst>
          </a:prstGeom>
          <a:solidFill>
            <a:srgbClr val="FFFFFF"/>
          </a:solidFill>
          <a:ln w="12700">
            <a:solidFill>
              <a:srgbClr val="E2E7ED"/>
            </a:solidFill>
            <a:prstDash val="solid"/>
          </a:ln>
          <a:effectLst>
            <a:outerShdw sx="100000" sy="100000" kx="0" ky="0" algn="bl" rotWithShape="0" blurRad="50800" dist="25400" dir="5400000">
              <a:srgbClr val="B8C2CE">
                <a:alpha val="22000"/>
              </a:srgbClr>
            </a:outerShdw>
          </a:effectLst>
        </p:spPr>
      </p:sp>
      <p:sp>
        <p:nvSpPr>
          <p:cNvPr id="6" name="Shape 4"/>
          <p:cNvSpPr/>
          <p:nvPr/>
        </p:nvSpPr>
        <p:spPr>
          <a:xfrm>
            <a:off x="1042416" y="2670048"/>
            <a:ext cx="475488" cy="475488"/>
          </a:xfrm>
          <a:prstGeom prst="ellipse">
            <a:avLst/>
          </a:prstGeom>
          <a:solidFill>
            <a:srgbClr val="0C1B2E"/>
          </a:solidFill>
          <a:ln/>
        </p:spPr>
      </p:sp>
      <p:sp>
        <p:nvSpPr>
          <p:cNvPr id="7" name="Text 5"/>
          <p:cNvSpPr/>
          <p:nvPr/>
        </p:nvSpPr>
        <p:spPr>
          <a:xfrm>
            <a:off x="1042416" y="2670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Lato" pitchFamily="34" charset="0"/>
                <a:ea typeface="Lato" pitchFamily="34" charset="-122"/>
                <a:cs typeface="Lato" pitchFamily="34" charset="-120"/>
              </a:rPr>
              <a:t>1</a:t>
            </a:r>
            <a:endParaRPr lang="en-US" sz="1800" dirty="0"/>
          </a:p>
        </p:txBody>
      </p:sp>
      <p:sp>
        <p:nvSpPr>
          <p:cNvPr id="8" name="Text 6"/>
          <p:cNvSpPr/>
          <p:nvPr/>
        </p:nvSpPr>
        <p:spPr>
          <a:xfrm>
            <a:off x="640080" y="3255264"/>
            <a:ext cx="1280160" cy="347472"/>
          </a:xfrm>
          <a:prstGeom prst="rect">
            <a:avLst/>
          </a:prstGeom>
          <a:noFill/>
          <a:ln/>
        </p:spPr>
        <p:txBody>
          <a:bodyPr wrap="square" lIns="0" tIns="0" rIns="0" bIns="0" rtlCol="0" anchor="ctr"/>
          <a:lstStyle/>
          <a:p>
            <a:pPr algn="ctr" indent="0" marL="0">
              <a:buNone/>
            </a:pPr>
            <a:r>
              <a:rPr lang="en-US" sz="1200" b="1" dirty="0">
                <a:solidFill>
                  <a:srgbClr val="0C1B2E"/>
                </a:solidFill>
                <a:latin typeface="Lato" pitchFamily="34" charset="0"/>
                <a:ea typeface="Lato" pitchFamily="34" charset="-122"/>
                <a:cs typeface="Lato" pitchFamily="34" charset="-120"/>
              </a:rPr>
              <a:t>Discovery</a:t>
            </a:r>
            <a:endParaRPr lang="en-US" sz="1200" dirty="0"/>
          </a:p>
        </p:txBody>
      </p:sp>
      <p:sp>
        <p:nvSpPr>
          <p:cNvPr id="9" name="Text 7"/>
          <p:cNvSpPr/>
          <p:nvPr/>
        </p:nvSpPr>
        <p:spPr>
          <a:xfrm>
            <a:off x="640080" y="3584448"/>
            <a:ext cx="1280160" cy="384048"/>
          </a:xfrm>
          <a:prstGeom prst="rect">
            <a:avLst/>
          </a:prstGeom>
          <a:noFill/>
          <a:ln/>
        </p:spPr>
        <p:txBody>
          <a:bodyPr wrap="square" lIns="0" tIns="0" rIns="0" bIns="0" rtlCol="0" anchor="ctr"/>
          <a:lstStyle/>
          <a:p>
            <a:pPr algn="ctr" indent="0" marL="0">
              <a:lnSpc>
                <a:spcPts val="1100"/>
              </a:lnSpc>
              <a:buNone/>
            </a:pPr>
            <a:r>
              <a:rPr lang="en-US" sz="900" dirty="0">
                <a:solidFill>
                  <a:srgbClr val="5B6B7B"/>
                </a:solidFill>
                <a:latin typeface="Lato" pitchFamily="34" charset="0"/>
                <a:ea typeface="Lato" pitchFamily="34" charset="-122"/>
                <a:cs typeface="Lato" pitchFamily="34" charset="-120"/>
              </a:rPr>
              <a:t>Find PWs needing review.</a:t>
            </a:r>
            <a:endParaRPr lang="en-US" sz="900" dirty="0"/>
          </a:p>
        </p:txBody>
      </p:sp>
      <p:sp>
        <p:nvSpPr>
          <p:cNvPr id="10" name="Shape 8"/>
          <p:cNvSpPr/>
          <p:nvPr/>
        </p:nvSpPr>
        <p:spPr>
          <a:xfrm>
            <a:off x="2057400" y="3246120"/>
            <a:ext cx="210312" cy="0"/>
          </a:xfrm>
          <a:prstGeom prst="line">
            <a:avLst/>
          </a:prstGeom>
          <a:noFill/>
          <a:ln w="19050">
            <a:solidFill>
              <a:srgbClr val="9AA7B8"/>
            </a:solidFill>
            <a:prstDash val="solid"/>
            <a:tailEnd type="arrow"/>
          </a:ln>
        </p:spPr>
      </p:sp>
      <p:sp>
        <p:nvSpPr>
          <p:cNvPr id="11" name="Shape 9"/>
          <p:cNvSpPr/>
          <p:nvPr/>
        </p:nvSpPr>
        <p:spPr>
          <a:xfrm>
            <a:off x="2313432" y="2468880"/>
            <a:ext cx="1463040" cy="1554480"/>
          </a:xfrm>
          <a:prstGeom prst="roundRect">
            <a:avLst>
              <a:gd name="adj" fmla="val 3750"/>
            </a:avLst>
          </a:prstGeom>
          <a:solidFill>
            <a:srgbClr val="FFFFFF"/>
          </a:solidFill>
          <a:ln w="12700">
            <a:solidFill>
              <a:srgbClr val="E2E7ED"/>
            </a:solidFill>
            <a:prstDash val="solid"/>
          </a:ln>
          <a:effectLst>
            <a:outerShdw sx="100000" sy="100000" kx="0" ky="0" algn="bl" rotWithShape="0" blurRad="50800" dist="25400" dir="5400000">
              <a:srgbClr val="B8C2CE">
                <a:alpha val="22000"/>
              </a:srgbClr>
            </a:outerShdw>
          </a:effectLst>
        </p:spPr>
      </p:sp>
      <p:sp>
        <p:nvSpPr>
          <p:cNvPr id="12" name="Shape 10"/>
          <p:cNvSpPr/>
          <p:nvPr/>
        </p:nvSpPr>
        <p:spPr>
          <a:xfrm>
            <a:off x="2807208" y="2670048"/>
            <a:ext cx="475488" cy="475488"/>
          </a:xfrm>
          <a:prstGeom prst="ellipse">
            <a:avLst/>
          </a:prstGeom>
          <a:solidFill>
            <a:srgbClr val="0C1B2E"/>
          </a:solidFill>
          <a:ln/>
        </p:spPr>
      </p:sp>
      <p:sp>
        <p:nvSpPr>
          <p:cNvPr id="13" name="Text 11"/>
          <p:cNvSpPr/>
          <p:nvPr/>
        </p:nvSpPr>
        <p:spPr>
          <a:xfrm>
            <a:off x="2807208" y="2670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Lato" pitchFamily="34" charset="0"/>
                <a:ea typeface="Lato" pitchFamily="34" charset="-122"/>
                <a:cs typeface="Lato" pitchFamily="34" charset="-120"/>
              </a:rPr>
              <a:t>2</a:t>
            </a:r>
            <a:endParaRPr lang="en-US" sz="1800" dirty="0"/>
          </a:p>
        </p:txBody>
      </p:sp>
      <p:sp>
        <p:nvSpPr>
          <p:cNvPr id="14" name="Text 12"/>
          <p:cNvSpPr/>
          <p:nvPr/>
        </p:nvSpPr>
        <p:spPr>
          <a:xfrm>
            <a:off x="2404872" y="3255264"/>
            <a:ext cx="1280160" cy="347472"/>
          </a:xfrm>
          <a:prstGeom prst="rect">
            <a:avLst/>
          </a:prstGeom>
          <a:noFill/>
          <a:ln/>
        </p:spPr>
        <p:txBody>
          <a:bodyPr wrap="square" lIns="0" tIns="0" rIns="0" bIns="0" rtlCol="0" anchor="ctr"/>
          <a:lstStyle/>
          <a:p>
            <a:pPr algn="ctr" indent="0" marL="0">
              <a:buNone/>
            </a:pPr>
            <a:r>
              <a:rPr lang="en-US" sz="1200" b="1" dirty="0">
                <a:solidFill>
                  <a:srgbClr val="0C1B2E"/>
                </a:solidFill>
                <a:latin typeface="Lato" pitchFamily="34" charset="0"/>
                <a:ea typeface="Lato" pitchFamily="34" charset="-122"/>
                <a:cs typeface="Lato" pitchFamily="34" charset="-120"/>
              </a:rPr>
              <a:t>Validation</a:t>
            </a:r>
            <a:endParaRPr lang="en-US" sz="1200" dirty="0"/>
          </a:p>
        </p:txBody>
      </p:sp>
      <p:sp>
        <p:nvSpPr>
          <p:cNvPr id="15" name="Text 13"/>
          <p:cNvSpPr/>
          <p:nvPr/>
        </p:nvSpPr>
        <p:spPr>
          <a:xfrm>
            <a:off x="2404872" y="3584448"/>
            <a:ext cx="1280160" cy="384048"/>
          </a:xfrm>
          <a:prstGeom prst="rect">
            <a:avLst/>
          </a:prstGeom>
          <a:noFill/>
          <a:ln/>
        </p:spPr>
        <p:txBody>
          <a:bodyPr wrap="square" lIns="0" tIns="0" rIns="0" bIns="0" rtlCol="0" anchor="ctr"/>
          <a:lstStyle/>
          <a:p>
            <a:pPr algn="ctr" indent="0" marL="0">
              <a:lnSpc>
                <a:spcPts val="1100"/>
              </a:lnSpc>
              <a:buNone/>
            </a:pPr>
            <a:r>
              <a:rPr lang="en-US" sz="900" dirty="0">
                <a:solidFill>
                  <a:srgbClr val="5B6B7B"/>
                </a:solidFill>
                <a:latin typeface="Lato" pitchFamily="34" charset="0"/>
                <a:ea typeface="Lato" pitchFamily="34" charset="-122"/>
                <a:cs typeface="Lato" pitchFamily="34" charset="-120"/>
              </a:rPr>
              <a:t>Explain why flagged.</a:t>
            </a:r>
            <a:endParaRPr lang="en-US" sz="900" dirty="0"/>
          </a:p>
        </p:txBody>
      </p:sp>
      <p:sp>
        <p:nvSpPr>
          <p:cNvPr id="16" name="Shape 14"/>
          <p:cNvSpPr/>
          <p:nvPr/>
        </p:nvSpPr>
        <p:spPr>
          <a:xfrm>
            <a:off x="3822192" y="3246120"/>
            <a:ext cx="210312" cy="0"/>
          </a:xfrm>
          <a:prstGeom prst="line">
            <a:avLst/>
          </a:prstGeom>
          <a:noFill/>
          <a:ln w="19050">
            <a:solidFill>
              <a:srgbClr val="9AA7B8"/>
            </a:solidFill>
            <a:prstDash val="solid"/>
            <a:tailEnd type="arrow"/>
          </a:ln>
        </p:spPr>
      </p:sp>
      <p:sp>
        <p:nvSpPr>
          <p:cNvPr id="17" name="Shape 15"/>
          <p:cNvSpPr/>
          <p:nvPr/>
        </p:nvSpPr>
        <p:spPr>
          <a:xfrm>
            <a:off x="4078224" y="2468880"/>
            <a:ext cx="1463040" cy="1554480"/>
          </a:xfrm>
          <a:prstGeom prst="roundRect">
            <a:avLst>
              <a:gd name="adj" fmla="val 3750"/>
            </a:avLst>
          </a:prstGeom>
          <a:solidFill>
            <a:srgbClr val="FFFFFF"/>
          </a:solidFill>
          <a:ln w="12700">
            <a:solidFill>
              <a:srgbClr val="E2E7ED"/>
            </a:solidFill>
            <a:prstDash val="solid"/>
          </a:ln>
          <a:effectLst>
            <a:outerShdw sx="100000" sy="100000" kx="0" ky="0" algn="bl" rotWithShape="0" blurRad="50800" dist="25400" dir="5400000">
              <a:srgbClr val="B8C2CE">
                <a:alpha val="22000"/>
              </a:srgbClr>
            </a:outerShdw>
          </a:effectLst>
        </p:spPr>
      </p:sp>
      <p:sp>
        <p:nvSpPr>
          <p:cNvPr id="18" name="Shape 16"/>
          <p:cNvSpPr/>
          <p:nvPr/>
        </p:nvSpPr>
        <p:spPr>
          <a:xfrm>
            <a:off x="4572000" y="2670048"/>
            <a:ext cx="475488" cy="475488"/>
          </a:xfrm>
          <a:prstGeom prst="ellipse">
            <a:avLst/>
          </a:prstGeom>
          <a:solidFill>
            <a:srgbClr val="0C1B2E"/>
          </a:solidFill>
          <a:ln/>
        </p:spPr>
      </p:sp>
      <p:sp>
        <p:nvSpPr>
          <p:cNvPr id="19" name="Text 17"/>
          <p:cNvSpPr/>
          <p:nvPr/>
        </p:nvSpPr>
        <p:spPr>
          <a:xfrm>
            <a:off x="4572000" y="2670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Lato" pitchFamily="34" charset="0"/>
                <a:ea typeface="Lato" pitchFamily="34" charset="-122"/>
                <a:cs typeface="Lato" pitchFamily="34" charset="-120"/>
              </a:rPr>
              <a:t>3</a:t>
            </a:r>
            <a:endParaRPr lang="en-US" sz="1800" dirty="0"/>
          </a:p>
        </p:txBody>
      </p:sp>
      <p:sp>
        <p:nvSpPr>
          <p:cNvPr id="20" name="Text 18"/>
          <p:cNvSpPr/>
          <p:nvPr/>
        </p:nvSpPr>
        <p:spPr>
          <a:xfrm>
            <a:off x="4169664" y="3255264"/>
            <a:ext cx="1280160" cy="347472"/>
          </a:xfrm>
          <a:prstGeom prst="rect">
            <a:avLst/>
          </a:prstGeom>
          <a:noFill/>
          <a:ln/>
        </p:spPr>
        <p:txBody>
          <a:bodyPr wrap="square" lIns="0" tIns="0" rIns="0" bIns="0" rtlCol="0" anchor="ctr"/>
          <a:lstStyle/>
          <a:p>
            <a:pPr algn="ctr" indent="0" marL="0">
              <a:buNone/>
            </a:pPr>
            <a:r>
              <a:rPr lang="en-US" sz="1200" b="1" dirty="0">
                <a:solidFill>
                  <a:srgbClr val="0C1B2E"/>
                </a:solidFill>
                <a:latin typeface="Lato" pitchFamily="34" charset="0"/>
                <a:ea typeface="Lato" pitchFamily="34" charset="-122"/>
                <a:cs typeface="Lato" pitchFamily="34" charset="-120"/>
              </a:rPr>
              <a:t>Evidence</a:t>
            </a:r>
            <a:endParaRPr lang="en-US" sz="1200" dirty="0"/>
          </a:p>
        </p:txBody>
      </p:sp>
      <p:sp>
        <p:nvSpPr>
          <p:cNvPr id="21" name="Text 19"/>
          <p:cNvSpPr/>
          <p:nvPr/>
        </p:nvSpPr>
        <p:spPr>
          <a:xfrm>
            <a:off x="4169664" y="3584448"/>
            <a:ext cx="1280160" cy="384048"/>
          </a:xfrm>
          <a:prstGeom prst="rect">
            <a:avLst/>
          </a:prstGeom>
          <a:noFill/>
          <a:ln/>
        </p:spPr>
        <p:txBody>
          <a:bodyPr wrap="square" lIns="0" tIns="0" rIns="0" bIns="0" rtlCol="0" anchor="ctr"/>
          <a:lstStyle/>
          <a:p>
            <a:pPr algn="ctr" indent="0" marL="0">
              <a:lnSpc>
                <a:spcPts val="1100"/>
              </a:lnSpc>
              <a:buNone/>
            </a:pPr>
            <a:r>
              <a:rPr lang="en-US" sz="900" dirty="0">
                <a:solidFill>
                  <a:srgbClr val="5B6B7B"/>
                </a:solidFill>
                <a:latin typeface="Lato" pitchFamily="34" charset="0"/>
                <a:ea typeface="Lato" pitchFamily="34" charset="-122"/>
                <a:cs typeface="Lato" pitchFamily="34" charset="-120"/>
              </a:rPr>
              <a:t>Gather source records.</a:t>
            </a:r>
            <a:endParaRPr lang="en-US" sz="900" dirty="0"/>
          </a:p>
        </p:txBody>
      </p:sp>
      <p:sp>
        <p:nvSpPr>
          <p:cNvPr id="22" name="Shape 20"/>
          <p:cNvSpPr/>
          <p:nvPr/>
        </p:nvSpPr>
        <p:spPr>
          <a:xfrm>
            <a:off x="5586984" y="3246120"/>
            <a:ext cx="210312" cy="0"/>
          </a:xfrm>
          <a:prstGeom prst="line">
            <a:avLst/>
          </a:prstGeom>
          <a:noFill/>
          <a:ln w="19050">
            <a:solidFill>
              <a:srgbClr val="9AA7B8"/>
            </a:solidFill>
            <a:prstDash val="solid"/>
            <a:tailEnd type="arrow"/>
          </a:ln>
        </p:spPr>
      </p:sp>
      <p:sp>
        <p:nvSpPr>
          <p:cNvPr id="23" name="Shape 21"/>
          <p:cNvSpPr/>
          <p:nvPr/>
        </p:nvSpPr>
        <p:spPr>
          <a:xfrm>
            <a:off x="5843016" y="2468880"/>
            <a:ext cx="1463040" cy="1554480"/>
          </a:xfrm>
          <a:prstGeom prst="roundRect">
            <a:avLst>
              <a:gd name="adj" fmla="val 3750"/>
            </a:avLst>
          </a:prstGeom>
          <a:solidFill>
            <a:srgbClr val="FFFFFF"/>
          </a:solidFill>
          <a:ln w="25400">
            <a:solidFill>
              <a:srgbClr val="1483C8"/>
            </a:solidFill>
            <a:prstDash val="solid"/>
          </a:ln>
          <a:effectLst>
            <a:outerShdw sx="100000" sy="100000" kx="0" ky="0" algn="bl" rotWithShape="0" blurRad="50800" dist="25400" dir="5400000">
              <a:srgbClr val="B8C2CE">
                <a:alpha val="22000"/>
              </a:srgbClr>
            </a:outerShdw>
          </a:effectLst>
        </p:spPr>
      </p:sp>
      <p:sp>
        <p:nvSpPr>
          <p:cNvPr id="24" name="Shape 22"/>
          <p:cNvSpPr/>
          <p:nvPr/>
        </p:nvSpPr>
        <p:spPr>
          <a:xfrm>
            <a:off x="6336792" y="2670048"/>
            <a:ext cx="475488" cy="475488"/>
          </a:xfrm>
          <a:prstGeom prst="ellipse">
            <a:avLst/>
          </a:prstGeom>
          <a:solidFill>
            <a:srgbClr val="1483C8"/>
          </a:solidFill>
          <a:ln/>
        </p:spPr>
      </p:sp>
      <p:sp>
        <p:nvSpPr>
          <p:cNvPr id="25" name="Text 23"/>
          <p:cNvSpPr/>
          <p:nvPr/>
        </p:nvSpPr>
        <p:spPr>
          <a:xfrm>
            <a:off x="6336792" y="2670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Lato" pitchFamily="34" charset="0"/>
                <a:ea typeface="Lato" pitchFamily="34" charset="-122"/>
                <a:cs typeface="Lato" pitchFamily="34" charset="-120"/>
              </a:rPr>
              <a:t>4</a:t>
            </a:r>
            <a:endParaRPr lang="en-US" sz="1800" dirty="0"/>
          </a:p>
        </p:txBody>
      </p:sp>
      <p:sp>
        <p:nvSpPr>
          <p:cNvPr id="26" name="Text 24"/>
          <p:cNvSpPr/>
          <p:nvPr/>
        </p:nvSpPr>
        <p:spPr>
          <a:xfrm>
            <a:off x="5934456" y="3255264"/>
            <a:ext cx="1280160" cy="347472"/>
          </a:xfrm>
          <a:prstGeom prst="rect">
            <a:avLst/>
          </a:prstGeom>
          <a:noFill/>
          <a:ln/>
        </p:spPr>
        <p:txBody>
          <a:bodyPr wrap="square" lIns="0" tIns="0" rIns="0" bIns="0" rtlCol="0" anchor="ctr"/>
          <a:lstStyle/>
          <a:p>
            <a:pPr algn="ctr" indent="0" marL="0">
              <a:buNone/>
            </a:pPr>
            <a:r>
              <a:rPr lang="en-US" sz="1200" b="1" dirty="0">
                <a:solidFill>
                  <a:srgbClr val="0C1B2E"/>
                </a:solidFill>
                <a:latin typeface="Lato" pitchFamily="34" charset="0"/>
                <a:ea typeface="Lato" pitchFamily="34" charset="-122"/>
                <a:cs typeface="Lato" pitchFamily="34" charset="-120"/>
              </a:rPr>
              <a:t>Human Review</a:t>
            </a:r>
            <a:endParaRPr lang="en-US" sz="1200" dirty="0"/>
          </a:p>
        </p:txBody>
      </p:sp>
      <p:sp>
        <p:nvSpPr>
          <p:cNvPr id="27" name="Text 25"/>
          <p:cNvSpPr/>
          <p:nvPr/>
        </p:nvSpPr>
        <p:spPr>
          <a:xfrm>
            <a:off x="5934456" y="3584448"/>
            <a:ext cx="1280160" cy="384048"/>
          </a:xfrm>
          <a:prstGeom prst="rect">
            <a:avLst/>
          </a:prstGeom>
          <a:noFill/>
          <a:ln/>
        </p:spPr>
        <p:txBody>
          <a:bodyPr wrap="square" lIns="0" tIns="0" rIns="0" bIns="0" rtlCol="0" anchor="ctr"/>
          <a:lstStyle/>
          <a:p>
            <a:pPr algn="ctr" indent="0" marL="0">
              <a:lnSpc>
                <a:spcPts val="1100"/>
              </a:lnSpc>
              <a:buNone/>
            </a:pPr>
            <a:r>
              <a:rPr lang="en-US" sz="900" dirty="0">
                <a:solidFill>
                  <a:srgbClr val="5B6B7B"/>
                </a:solidFill>
                <a:latin typeface="Lato" pitchFamily="34" charset="0"/>
                <a:ea typeface="Lato" pitchFamily="34" charset="-122"/>
                <a:cs typeface="Lato" pitchFamily="34" charset="-120"/>
              </a:rPr>
              <a:t>Analyst decision point.</a:t>
            </a:r>
            <a:endParaRPr lang="en-US" sz="900" dirty="0"/>
          </a:p>
        </p:txBody>
      </p:sp>
      <p:sp>
        <p:nvSpPr>
          <p:cNvPr id="28" name="Shape 26"/>
          <p:cNvSpPr/>
          <p:nvPr/>
        </p:nvSpPr>
        <p:spPr>
          <a:xfrm>
            <a:off x="7351776" y="3246120"/>
            <a:ext cx="210312" cy="0"/>
          </a:xfrm>
          <a:prstGeom prst="line">
            <a:avLst/>
          </a:prstGeom>
          <a:noFill/>
          <a:ln w="19050">
            <a:solidFill>
              <a:srgbClr val="9AA7B8"/>
            </a:solidFill>
            <a:prstDash val="solid"/>
            <a:tailEnd type="arrow"/>
          </a:ln>
        </p:spPr>
      </p:sp>
      <p:sp>
        <p:nvSpPr>
          <p:cNvPr id="29" name="Shape 27"/>
          <p:cNvSpPr/>
          <p:nvPr/>
        </p:nvSpPr>
        <p:spPr>
          <a:xfrm>
            <a:off x="7607808" y="2468880"/>
            <a:ext cx="1463040" cy="1554480"/>
          </a:xfrm>
          <a:prstGeom prst="roundRect">
            <a:avLst>
              <a:gd name="adj" fmla="val 3750"/>
            </a:avLst>
          </a:prstGeom>
          <a:solidFill>
            <a:srgbClr val="FFFFFF"/>
          </a:solidFill>
          <a:ln w="12700">
            <a:solidFill>
              <a:srgbClr val="E2E7ED"/>
            </a:solidFill>
            <a:prstDash val="solid"/>
          </a:ln>
          <a:effectLst>
            <a:outerShdw sx="100000" sy="100000" kx="0" ky="0" algn="bl" rotWithShape="0" blurRad="50800" dist="25400" dir="5400000">
              <a:srgbClr val="B8C2CE">
                <a:alpha val="22000"/>
              </a:srgbClr>
            </a:outerShdw>
          </a:effectLst>
        </p:spPr>
      </p:sp>
      <p:sp>
        <p:nvSpPr>
          <p:cNvPr id="30" name="Shape 28"/>
          <p:cNvSpPr/>
          <p:nvPr/>
        </p:nvSpPr>
        <p:spPr>
          <a:xfrm>
            <a:off x="8101584" y="2670048"/>
            <a:ext cx="475488" cy="475488"/>
          </a:xfrm>
          <a:prstGeom prst="ellipse">
            <a:avLst/>
          </a:prstGeom>
          <a:solidFill>
            <a:srgbClr val="0C1B2E"/>
          </a:solidFill>
          <a:ln/>
        </p:spPr>
      </p:sp>
      <p:sp>
        <p:nvSpPr>
          <p:cNvPr id="31" name="Text 29"/>
          <p:cNvSpPr/>
          <p:nvPr/>
        </p:nvSpPr>
        <p:spPr>
          <a:xfrm>
            <a:off x="8101584" y="2670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Lato" pitchFamily="34" charset="0"/>
                <a:ea typeface="Lato" pitchFamily="34" charset="-122"/>
                <a:cs typeface="Lato" pitchFamily="34" charset="-120"/>
              </a:rPr>
              <a:t>5</a:t>
            </a:r>
            <a:endParaRPr lang="en-US" sz="1800" dirty="0"/>
          </a:p>
        </p:txBody>
      </p:sp>
      <p:sp>
        <p:nvSpPr>
          <p:cNvPr id="32" name="Text 30"/>
          <p:cNvSpPr/>
          <p:nvPr/>
        </p:nvSpPr>
        <p:spPr>
          <a:xfrm>
            <a:off x="7699248" y="3255264"/>
            <a:ext cx="1280160" cy="347472"/>
          </a:xfrm>
          <a:prstGeom prst="rect">
            <a:avLst/>
          </a:prstGeom>
          <a:noFill/>
          <a:ln/>
        </p:spPr>
        <p:txBody>
          <a:bodyPr wrap="square" lIns="0" tIns="0" rIns="0" bIns="0" rtlCol="0" anchor="ctr"/>
          <a:lstStyle/>
          <a:p>
            <a:pPr algn="ctr" indent="0" marL="0">
              <a:buNone/>
            </a:pPr>
            <a:r>
              <a:rPr lang="en-US" sz="1200" b="1" dirty="0">
                <a:solidFill>
                  <a:srgbClr val="0C1B2E"/>
                </a:solidFill>
                <a:latin typeface="Lato" pitchFamily="34" charset="0"/>
                <a:ea typeface="Lato" pitchFamily="34" charset="-122"/>
                <a:cs typeface="Lato" pitchFamily="34" charset="-120"/>
              </a:rPr>
              <a:t>Oversight Brief</a:t>
            </a:r>
            <a:endParaRPr lang="en-US" sz="1200" dirty="0"/>
          </a:p>
        </p:txBody>
      </p:sp>
      <p:sp>
        <p:nvSpPr>
          <p:cNvPr id="33" name="Text 31"/>
          <p:cNvSpPr/>
          <p:nvPr/>
        </p:nvSpPr>
        <p:spPr>
          <a:xfrm>
            <a:off x="7699248" y="3584448"/>
            <a:ext cx="1280160" cy="384048"/>
          </a:xfrm>
          <a:prstGeom prst="rect">
            <a:avLst/>
          </a:prstGeom>
          <a:noFill/>
          <a:ln/>
        </p:spPr>
        <p:txBody>
          <a:bodyPr wrap="square" lIns="0" tIns="0" rIns="0" bIns="0" rtlCol="0" anchor="ctr"/>
          <a:lstStyle/>
          <a:p>
            <a:pPr algn="ctr" indent="0" marL="0">
              <a:lnSpc>
                <a:spcPts val="1100"/>
              </a:lnSpc>
              <a:buNone/>
            </a:pPr>
            <a:r>
              <a:rPr lang="en-US" sz="900" dirty="0">
                <a:solidFill>
                  <a:srgbClr val="5B6B7B"/>
                </a:solidFill>
                <a:latin typeface="Lato" pitchFamily="34" charset="0"/>
                <a:ea typeface="Lato" pitchFamily="34" charset="-122"/>
                <a:cs typeface="Lato" pitchFamily="34" charset="-120"/>
              </a:rPr>
              <a:t>Structured output.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48640"/>
            <a:ext cx="7772400" cy="274320"/>
          </a:xfrm>
          <a:prstGeom prst="rect">
            <a:avLst/>
          </a:prstGeom>
          <a:noFill/>
          <a:ln/>
        </p:spPr>
        <p:txBody>
          <a:bodyPr wrap="square" lIns="0" tIns="0" rIns="0" bIns="0" rtlCol="0" anchor="ctr"/>
          <a:lstStyle/>
          <a:p>
            <a:pPr indent="0" marL="0">
              <a:buNone/>
            </a:pPr>
            <a:r>
              <a:rPr lang="en-US" sz="1100" b="1" spc="150" kern="0" dirty="0">
                <a:solidFill>
                  <a:srgbClr val="1483C8"/>
                </a:solidFill>
                <a:latin typeface="Lato" pitchFamily="34" charset="0"/>
                <a:ea typeface="Lato" pitchFamily="34" charset="-122"/>
                <a:cs typeface="Lato" pitchFamily="34" charset="-120"/>
              </a:rPr>
              <a:t>TRUST &amp; PROVENANCE</a:t>
            </a:r>
            <a:endParaRPr lang="en-US" sz="1100" dirty="0"/>
          </a:p>
        </p:txBody>
      </p:sp>
      <p:sp>
        <p:nvSpPr>
          <p:cNvPr id="3" name="Text 1"/>
          <p:cNvSpPr/>
          <p:nvPr/>
        </p:nvSpPr>
        <p:spPr>
          <a:xfrm>
            <a:off x="667512" y="822960"/>
            <a:ext cx="7863840" cy="658368"/>
          </a:xfrm>
          <a:prstGeom prst="rect">
            <a:avLst/>
          </a:prstGeom>
          <a:noFill/>
          <a:ln/>
        </p:spPr>
        <p:txBody>
          <a:bodyPr wrap="square" lIns="0" tIns="0" rIns="0" bIns="0" rtlCol="0" anchor="ctr"/>
          <a:lstStyle/>
          <a:p>
            <a:pPr indent="0" marL="0">
              <a:buNone/>
            </a:pPr>
            <a:r>
              <a:rPr lang="en-US" sz="3200" b="1" dirty="0">
                <a:solidFill>
                  <a:srgbClr val="0C1B2E"/>
                </a:solidFill>
                <a:latin typeface="Lato" pitchFamily="34" charset="0"/>
                <a:ea typeface="Lato" pitchFamily="34" charset="-122"/>
                <a:cs typeface="Lato" pitchFamily="34" charset="-120"/>
              </a:rPr>
              <a:t>Every answer carries its evidence chain.</a:t>
            </a:r>
            <a:endParaRPr lang="en-US" sz="3200" dirty="0"/>
          </a:p>
        </p:txBody>
      </p:sp>
      <p:sp>
        <p:nvSpPr>
          <p:cNvPr id="4" name="Text 2"/>
          <p:cNvSpPr/>
          <p:nvPr/>
        </p:nvSpPr>
        <p:spPr>
          <a:xfrm>
            <a:off x="685800" y="1517904"/>
            <a:ext cx="7589520" cy="548640"/>
          </a:xfrm>
          <a:prstGeom prst="rect">
            <a:avLst/>
          </a:prstGeom>
          <a:noFill/>
          <a:ln/>
        </p:spPr>
        <p:txBody>
          <a:bodyPr wrap="square" lIns="0" tIns="0" rIns="0" bIns="0" rtlCol="0" anchor="ctr"/>
          <a:lstStyle/>
          <a:p>
            <a:pPr indent="0" marL="0">
              <a:lnSpc>
                <a:spcPts val="1900"/>
              </a:lnSpc>
              <a:buNone/>
            </a:pPr>
            <a:r>
              <a:rPr lang="en-US" sz="1350" dirty="0">
                <a:solidFill>
                  <a:srgbClr val="5B6B7B"/>
                </a:solidFill>
                <a:latin typeface="Lato" pitchFamily="34" charset="0"/>
                <a:ea typeface="Lato" pitchFamily="34" charset="-122"/>
                <a:cs typeface="Lato" pitchFamily="34" charset="-120"/>
              </a:rPr>
              <a:t>Trust beats retrieval. Nothing is asserted without a traceable path behind it.</a:t>
            </a:r>
            <a:endParaRPr lang="en-US" sz="1350" dirty="0"/>
          </a:p>
        </p:txBody>
      </p:sp>
      <p:sp>
        <p:nvSpPr>
          <p:cNvPr id="5" name="Shape 3"/>
          <p:cNvSpPr/>
          <p:nvPr/>
        </p:nvSpPr>
        <p:spPr>
          <a:xfrm>
            <a:off x="338328" y="2377440"/>
            <a:ext cx="1060704" cy="658368"/>
          </a:xfrm>
          <a:prstGeom prst="roundRect">
            <a:avLst>
              <a:gd name="adj" fmla="val 6944"/>
            </a:avLst>
          </a:prstGeom>
          <a:solidFill>
            <a:srgbClr val="FFFFFF"/>
          </a:solidFill>
          <a:ln w="12700">
            <a:solidFill>
              <a:srgbClr val="E2E7ED"/>
            </a:solidFill>
            <a:prstDash val="solid"/>
          </a:ln>
        </p:spPr>
      </p:sp>
      <p:sp>
        <p:nvSpPr>
          <p:cNvPr id="6" name="Text 4"/>
          <p:cNvSpPr/>
          <p:nvPr/>
        </p:nvSpPr>
        <p:spPr>
          <a:xfrm>
            <a:off x="384048" y="2377440"/>
            <a:ext cx="969264" cy="658368"/>
          </a:xfrm>
          <a:prstGeom prst="rect">
            <a:avLst/>
          </a:prstGeom>
          <a:noFill/>
          <a:ln/>
        </p:spPr>
        <p:txBody>
          <a:bodyPr wrap="square" lIns="0" tIns="0" rIns="0" bIns="0" rtlCol="0" anchor="ctr"/>
          <a:lstStyle/>
          <a:p>
            <a:pPr algn="ctr" indent="0" marL="0">
              <a:lnSpc>
                <a:spcPts val="1100"/>
              </a:lnSpc>
              <a:buNone/>
            </a:pPr>
            <a:r>
              <a:rPr lang="en-US" sz="950" b="1" dirty="0">
                <a:solidFill>
                  <a:srgbClr val="0C1B2E"/>
                </a:solidFill>
                <a:latin typeface="Lato" pitchFamily="34" charset="0"/>
                <a:ea typeface="Lato" pitchFamily="34" charset="-122"/>
                <a:cs typeface="Lato" pitchFamily="34" charset="-120"/>
              </a:rPr>
              <a:t>Question</a:t>
            </a:r>
            <a:endParaRPr lang="en-US" sz="950" dirty="0"/>
          </a:p>
        </p:txBody>
      </p:sp>
      <p:sp>
        <p:nvSpPr>
          <p:cNvPr id="7" name="Shape 5"/>
          <p:cNvSpPr/>
          <p:nvPr/>
        </p:nvSpPr>
        <p:spPr>
          <a:xfrm>
            <a:off x="1417320" y="2706624"/>
            <a:ext cx="137160" cy="0"/>
          </a:xfrm>
          <a:prstGeom prst="line">
            <a:avLst/>
          </a:prstGeom>
          <a:noFill/>
          <a:ln w="19050">
            <a:solidFill>
              <a:srgbClr val="1483C8"/>
            </a:solidFill>
            <a:prstDash val="solid"/>
            <a:tailEnd type="arrow"/>
          </a:ln>
        </p:spPr>
      </p:sp>
      <p:sp>
        <p:nvSpPr>
          <p:cNvPr id="8" name="Shape 6"/>
          <p:cNvSpPr/>
          <p:nvPr/>
        </p:nvSpPr>
        <p:spPr>
          <a:xfrm>
            <a:off x="1572768" y="2377440"/>
            <a:ext cx="1060704" cy="658368"/>
          </a:xfrm>
          <a:prstGeom prst="roundRect">
            <a:avLst>
              <a:gd name="adj" fmla="val 6944"/>
            </a:avLst>
          </a:prstGeom>
          <a:solidFill>
            <a:srgbClr val="FFFFFF"/>
          </a:solidFill>
          <a:ln w="12700">
            <a:solidFill>
              <a:srgbClr val="E2E7ED"/>
            </a:solidFill>
            <a:prstDash val="solid"/>
          </a:ln>
        </p:spPr>
      </p:sp>
      <p:sp>
        <p:nvSpPr>
          <p:cNvPr id="9" name="Text 7"/>
          <p:cNvSpPr/>
          <p:nvPr/>
        </p:nvSpPr>
        <p:spPr>
          <a:xfrm>
            <a:off x="1618488" y="2377440"/>
            <a:ext cx="969264" cy="658368"/>
          </a:xfrm>
          <a:prstGeom prst="rect">
            <a:avLst/>
          </a:prstGeom>
          <a:noFill/>
          <a:ln/>
        </p:spPr>
        <p:txBody>
          <a:bodyPr wrap="square" lIns="0" tIns="0" rIns="0" bIns="0" rtlCol="0" anchor="ctr"/>
          <a:lstStyle/>
          <a:p>
            <a:pPr algn="ctr" indent="0" marL="0">
              <a:lnSpc>
                <a:spcPts val="1100"/>
              </a:lnSpc>
              <a:buNone/>
            </a:pPr>
            <a:r>
              <a:rPr lang="en-US" sz="950" b="1" dirty="0">
                <a:solidFill>
                  <a:srgbClr val="0C1B2E"/>
                </a:solidFill>
                <a:latin typeface="Lato" pitchFamily="34" charset="0"/>
                <a:ea typeface="Lato" pitchFamily="34" charset="-122"/>
                <a:cs typeface="Lato" pitchFamily="34" charset="-120"/>
              </a:rPr>
              <a:t>Tool Used</a:t>
            </a:r>
            <a:endParaRPr lang="en-US" sz="950" dirty="0"/>
          </a:p>
        </p:txBody>
      </p:sp>
      <p:sp>
        <p:nvSpPr>
          <p:cNvPr id="10" name="Shape 8"/>
          <p:cNvSpPr/>
          <p:nvPr/>
        </p:nvSpPr>
        <p:spPr>
          <a:xfrm>
            <a:off x="2651760" y="2706624"/>
            <a:ext cx="137160" cy="0"/>
          </a:xfrm>
          <a:prstGeom prst="line">
            <a:avLst/>
          </a:prstGeom>
          <a:noFill/>
          <a:ln w="19050">
            <a:solidFill>
              <a:srgbClr val="1483C8"/>
            </a:solidFill>
            <a:prstDash val="solid"/>
            <a:tailEnd type="arrow"/>
          </a:ln>
        </p:spPr>
      </p:sp>
      <p:sp>
        <p:nvSpPr>
          <p:cNvPr id="11" name="Shape 9"/>
          <p:cNvSpPr/>
          <p:nvPr/>
        </p:nvSpPr>
        <p:spPr>
          <a:xfrm>
            <a:off x="2807208" y="2377440"/>
            <a:ext cx="1060704" cy="658368"/>
          </a:xfrm>
          <a:prstGeom prst="roundRect">
            <a:avLst>
              <a:gd name="adj" fmla="val 6944"/>
            </a:avLst>
          </a:prstGeom>
          <a:solidFill>
            <a:srgbClr val="FFFFFF"/>
          </a:solidFill>
          <a:ln w="12700">
            <a:solidFill>
              <a:srgbClr val="E2E7ED"/>
            </a:solidFill>
            <a:prstDash val="solid"/>
          </a:ln>
        </p:spPr>
      </p:sp>
      <p:sp>
        <p:nvSpPr>
          <p:cNvPr id="12" name="Text 10"/>
          <p:cNvSpPr/>
          <p:nvPr/>
        </p:nvSpPr>
        <p:spPr>
          <a:xfrm>
            <a:off x="2852928" y="2377440"/>
            <a:ext cx="969264" cy="658368"/>
          </a:xfrm>
          <a:prstGeom prst="rect">
            <a:avLst/>
          </a:prstGeom>
          <a:noFill/>
          <a:ln/>
        </p:spPr>
        <p:txBody>
          <a:bodyPr wrap="square" lIns="0" tIns="0" rIns="0" bIns="0" rtlCol="0" anchor="ctr"/>
          <a:lstStyle/>
          <a:p>
            <a:pPr algn="ctr" indent="0" marL="0">
              <a:lnSpc>
                <a:spcPts val="1100"/>
              </a:lnSpc>
              <a:buNone/>
            </a:pPr>
            <a:r>
              <a:rPr lang="en-US" sz="950" b="1" dirty="0">
                <a:solidFill>
                  <a:srgbClr val="0C1B2E"/>
                </a:solidFill>
                <a:latin typeface="Lato" pitchFamily="34" charset="0"/>
                <a:ea typeface="Lato" pitchFamily="34" charset="-122"/>
                <a:cs typeface="Lato" pitchFamily="34" charset="-120"/>
              </a:rPr>
              <a:t>Source Records</a:t>
            </a:r>
            <a:endParaRPr lang="en-US" sz="950" dirty="0"/>
          </a:p>
        </p:txBody>
      </p:sp>
      <p:sp>
        <p:nvSpPr>
          <p:cNvPr id="13" name="Shape 11"/>
          <p:cNvSpPr/>
          <p:nvPr/>
        </p:nvSpPr>
        <p:spPr>
          <a:xfrm>
            <a:off x="3886200" y="2706624"/>
            <a:ext cx="137160" cy="0"/>
          </a:xfrm>
          <a:prstGeom prst="line">
            <a:avLst/>
          </a:prstGeom>
          <a:noFill/>
          <a:ln w="19050">
            <a:solidFill>
              <a:srgbClr val="1483C8"/>
            </a:solidFill>
            <a:prstDash val="solid"/>
            <a:tailEnd type="arrow"/>
          </a:ln>
        </p:spPr>
      </p:sp>
      <p:sp>
        <p:nvSpPr>
          <p:cNvPr id="14" name="Shape 12"/>
          <p:cNvSpPr/>
          <p:nvPr/>
        </p:nvSpPr>
        <p:spPr>
          <a:xfrm>
            <a:off x="4041648" y="2377440"/>
            <a:ext cx="1060704" cy="658368"/>
          </a:xfrm>
          <a:prstGeom prst="roundRect">
            <a:avLst>
              <a:gd name="adj" fmla="val 6944"/>
            </a:avLst>
          </a:prstGeom>
          <a:solidFill>
            <a:srgbClr val="FFFFFF"/>
          </a:solidFill>
          <a:ln w="12700">
            <a:solidFill>
              <a:srgbClr val="E2E7ED"/>
            </a:solidFill>
            <a:prstDash val="solid"/>
          </a:ln>
        </p:spPr>
      </p:sp>
      <p:sp>
        <p:nvSpPr>
          <p:cNvPr id="15" name="Text 13"/>
          <p:cNvSpPr/>
          <p:nvPr/>
        </p:nvSpPr>
        <p:spPr>
          <a:xfrm>
            <a:off x="4087368" y="2377440"/>
            <a:ext cx="969264" cy="658368"/>
          </a:xfrm>
          <a:prstGeom prst="rect">
            <a:avLst/>
          </a:prstGeom>
          <a:noFill/>
          <a:ln/>
        </p:spPr>
        <p:txBody>
          <a:bodyPr wrap="square" lIns="0" tIns="0" rIns="0" bIns="0" rtlCol="0" anchor="ctr"/>
          <a:lstStyle/>
          <a:p>
            <a:pPr algn="ctr" indent="0" marL="0">
              <a:lnSpc>
                <a:spcPts val="1100"/>
              </a:lnSpc>
              <a:buNone/>
            </a:pPr>
            <a:r>
              <a:rPr lang="en-US" sz="950" b="1" dirty="0">
                <a:solidFill>
                  <a:srgbClr val="0C1B2E"/>
                </a:solidFill>
                <a:latin typeface="Lato" pitchFamily="34" charset="0"/>
                <a:ea typeface="Lato" pitchFamily="34" charset="-122"/>
                <a:cs typeface="Lato" pitchFamily="34" charset="-120"/>
              </a:rPr>
              <a:t>Methodology</a:t>
            </a:r>
            <a:endParaRPr lang="en-US" sz="950" dirty="0"/>
          </a:p>
        </p:txBody>
      </p:sp>
      <p:sp>
        <p:nvSpPr>
          <p:cNvPr id="16" name="Shape 14"/>
          <p:cNvSpPr/>
          <p:nvPr/>
        </p:nvSpPr>
        <p:spPr>
          <a:xfrm>
            <a:off x="5120640" y="2706624"/>
            <a:ext cx="137160" cy="0"/>
          </a:xfrm>
          <a:prstGeom prst="line">
            <a:avLst/>
          </a:prstGeom>
          <a:noFill/>
          <a:ln w="19050">
            <a:solidFill>
              <a:srgbClr val="1483C8"/>
            </a:solidFill>
            <a:prstDash val="solid"/>
            <a:tailEnd type="arrow"/>
          </a:ln>
        </p:spPr>
      </p:sp>
      <p:sp>
        <p:nvSpPr>
          <p:cNvPr id="17" name="Shape 15"/>
          <p:cNvSpPr/>
          <p:nvPr/>
        </p:nvSpPr>
        <p:spPr>
          <a:xfrm>
            <a:off x="5276088" y="2377440"/>
            <a:ext cx="1060704" cy="658368"/>
          </a:xfrm>
          <a:prstGeom prst="roundRect">
            <a:avLst>
              <a:gd name="adj" fmla="val 6944"/>
            </a:avLst>
          </a:prstGeom>
          <a:solidFill>
            <a:srgbClr val="FFFFFF"/>
          </a:solidFill>
          <a:ln w="12700">
            <a:solidFill>
              <a:srgbClr val="E2E7ED"/>
            </a:solidFill>
            <a:prstDash val="solid"/>
          </a:ln>
        </p:spPr>
      </p:sp>
      <p:sp>
        <p:nvSpPr>
          <p:cNvPr id="18" name="Text 16"/>
          <p:cNvSpPr/>
          <p:nvPr/>
        </p:nvSpPr>
        <p:spPr>
          <a:xfrm>
            <a:off x="5321808" y="2377440"/>
            <a:ext cx="969264" cy="658368"/>
          </a:xfrm>
          <a:prstGeom prst="rect">
            <a:avLst/>
          </a:prstGeom>
          <a:noFill/>
          <a:ln/>
        </p:spPr>
        <p:txBody>
          <a:bodyPr wrap="square" lIns="0" tIns="0" rIns="0" bIns="0" rtlCol="0" anchor="ctr"/>
          <a:lstStyle/>
          <a:p>
            <a:pPr algn="ctr" indent="0" marL="0">
              <a:lnSpc>
                <a:spcPts val="1100"/>
              </a:lnSpc>
              <a:buNone/>
            </a:pPr>
            <a:r>
              <a:rPr lang="en-US" sz="950" b="1" dirty="0">
                <a:solidFill>
                  <a:srgbClr val="0C1B2E"/>
                </a:solidFill>
                <a:latin typeface="Lato" pitchFamily="34" charset="0"/>
                <a:ea typeface="Lato" pitchFamily="34" charset="-122"/>
                <a:cs typeface="Lato" pitchFamily="34" charset="-120"/>
              </a:rPr>
              <a:t>Limitations</a:t>
            </a:r>
            <a:endParaRPr lang="en-US" sz="950" dirty="0"/>
          </a:p>
        </p:txBody>
      </p:sp>
      <p:sp>
        <p:nvSpPr>
          <p:cNvPr id="19" name="Shape 17"/>
          <p:cNvSpPr/>
          <p:nvPr/>
        </p:nvSpPr>
        <p:spPr>
          <a:xfrm>
            <a:off x="6355080" y="2706624"/>
            <a:ext cx="137160" cy="0"/>
          </a:xfrm>
          <a:prstGeom prst="line">
            <a:avLst/>
          </a:prstGeom>
          <a:noFill/>
          <a:ln w="19050">
            <a:solidFill>
              <a:srgbClr val="1483C8"/>
            </a:solidFill>
            <a:prstDash val="solid"/>
            <a:tailEnd type="arrow"/>
          </a:ln>
        </p:spPr>
      </p:sp>
      <p:sp>
        <p:nvSpPr>
          <p:cNvPr id="20" name="Shape 18"/>
          <p:cNvSpPr/>
          <p:nvPr/>
        </p:nvSpPr>
        <p:spPr>
          <a:xfrm>
            <a:off x="6510528" y="2377440"/>
            <a:ext cx="1060704" cy="658368"/>
          </a:xfrm>
          <a:prstGeom prst="roundRect">
            <a:avLst>
              <a:gd name="adj" fmla="val 6944"/>
            </a:avLst>
          </a:prstGeom>
          <a:solidFill>
            <a:srgbClr val="FFFFFF"/>
          </a:solidFill>
          <a:ln w="12700">
            <a:solidFill>
              <a:srgbClr val="E2E7ED"/>
            </a:solidFill>
            <a:prstDash val="solid"/>
          </a:ln>
        </p:spPr>
      </p:sp>
      <p:sp>
        <p:nvSpPr>
          <p:cNvPr id="21" name="Text 19"/>
          <p:cNvSpPr/>
          <p:nvPr/>
        </p:nvSpPr>
        <p:spPr>
          <a:xfrm>
            <a:off x="6556248" y="2377440"/>
            <a:ext cx="969264" cy="658368"/>
          </a:xfrm>
          <a:prstGeom prst="rect">
            <a:avLst/>
          </a:prstGeom>
          <a:noFill/>
          <a:ln/>
        </p:spPr>
        <p:txBody>
          <a:bodyPr wrap="square" lIns="0" tIns="0" rIns="0" bIns="0" rtlCol="0" anchor="ctr"/>
          <a:lstStyle/>
          <a:p>
            <a:pPr algn="ctr" indent="0" marL="0">
              <a:lnSpc>
                <a:spcPts val="1100"/>
              </a:lnSpc>
              <a:buNone/>
            </a:pPr>
            <a:r>
              <a:rPr lang="en-US" sz="950" b="1" dirty="0">
                <a:solidFill>
                  <a:srgbClr val="0C1B2E"/>
                </a:solidFill>
                <a:latin typeface="Lato" pitchFamily="34" charset="0"/>
                <a:ea typeface="Lato" pitchFamily="34" charset="-122"/>
                <a:cs typeface="Lato" pitchFamily="34" charset="-120"/>
              </a:rPr>
              <a:t>Analyst Review</a:t>
            </a:r>
            <a:endParaRPr lang="en-US" sz="950" dirty="0"/>
          </a:p>
        </p:txBody>
      </p:sp>
      <p:sp>
        <p:nvSpPr>
          <p:cNvPr id="22" name="Shape 20"/>
          <p:cNvSpPr/>
          <p:nvPr/>
        </p:nvSpPr>
        <p:spPr>
          <a:xfrm>
            <a:off x="7589520" y="2706624"/>
            <a:ext cx="137160" cy="0"/>
          </a:xfrm>
          <a:prstGeom prst="line">
            <a:avLst/>
          </a:prstGeom>
          <a:noFill/>
          <a:ln w="19050">
            <a:solidFill>
              <a:srgbClr val="1483C8"/>
            </a:solidFill>
            <a:prstDash val="solid"/>
            <a:tailEnd type="arrow"/>
          </a:ln>
        </p:spPr>
      </p:sp>
      <p:sp>
        <p:nvSpPr>
          <p:cNvPr id="23" name="Shape 21"/>
          <p:cNvSpPr/>
          <p:nvPr/>
        </p:nvSpPr>
        <p:spPr>
          <a:xfrm>
            <a:off x="7744968" y="2377440"/>
            <a:ext cx="1060704" cy="658368"/>
          </a:xfrm>
          <a:prstGeom prst="roundRect">
            <a:avLst>
              <a:gd name="adj" fmla="val 6944"/>
            </a:avLst>
          </a:prstGeom>
          <a:solidFill>
            <a:srgbClr val="0C1B2E"/>
          </a:solidFill>
          <a:ln w="12700">
            <a:solidFill>
              <a:srgbClr val="0C1B2E"/>
            </a:solidFill>
            <a:prstDash val="solid"/>
          </a:ln>
        </p:spPr>
      </p:sp>
      <p:sp>
        <p:nvSpPr>
          <p:cNvPr id="24" name="Text 22"/>
          <p:cNvSpPr/>
          <p:nvPr/>
        </p:nvSpPr>
        <p:spPr>
          <a:xfrm>
            <a:off x="7790688" y="2377440"/>
            <a:ext cx="969264" cy="658368"/>
          </a:xfrm>
          <a:prstGeom prst="rect">
            <a:avLst/>
          </a:prstGeom>
          <a:noFill/>
          <a:ln/>
        </p:spPr>
        <p:txBody>
          <a:bodyPr wrap="square" lIns="0" tIns="0" rIns="0" bIns="0" rtlCol="0" anchor="ctr"/>
          <a:lstStyle/>
          <a:p>
            <a:pPr algn="ctr" indent="0" marL="0">
              <a:lnSpc>
                <a:spcPts val="1100"/>
              </a:lnSpc>
              <a:buNone/>
            </a:pPr>
            <a:r>
              <a:rPr lang="en-US" sz="950" b="1" dirty="0">
                <a:solidFill>
                  <a:srgbClr val="FFFFFF"/>
                </a:solidFill>
                <a:latin typeface="Lato" pitchFamily="34" charset="0"/>
                <a:ea typeface="Lato" pitchFamily="34" charset="-122"/>
                <a:cs typeface="Lato" pitchFamily="34" charset="-120"/>
              </a:rPr>
              <a:t>Oversight Brief</a:t>
            </a:r>
            <a:endParaRPr lang="en-US" sz="950" dirty="0"/>
          </a:p>
        </p:txBody>
      </p:sp>
      <p:sp>
        <p:nvSpPr>
          <p:cNvPr id="25" name="Shape 23"/>
          <p:cNvSpPr/>
          <p:nvPr/>
        </p:nvSpPr>
        <p:spPr>
          <a:xfrm>
            <a:off x="685800" y="3566160"/>
            <a:ext cx="7772400" cy="777240"/>
          </a:xfrm>
          <a:prstGeom prst="roundRect">
            <a:avLst>
              <a:gd name="adj" fmla="val 5882"/>
            </a:avLst>
          </a:prstGeom>
          <a:solidFill>
            <a:srgbClr val="EEF4FA"/>
          </a:solidFill>
          <a:ln/>
        </p:spPr>
      </p:sp>
      <p:sp>
        <p:nvSpPr>
          <p:cNvPr id="26" name="Text 24"/>
          <p:cNvSpPr/>
          <p:nvPr/>
        </p:nvSpPr>
        <p:spPr>
          <a:xfrm>
            <a:off x="914400" y="3566160"/>
            <a:ext cx="7315200" cy="777240"/>
          </a:xfrm>
          <a:prstGeom prst="rect">
            <a:avLst/>
          </a:prstGeom>
          <a:noFill/>
          <a:ln/>
        </p:spPr>
        <p:txBody>
          <a:bodyPr wrap="square" lIns="0" tIns="0" rIns="0" bIns="0" rtlCol="0" anchor="ctr"/>
          <a:lstStyle/>
          <a:p>
            <a:pPr indent="0" marL="0">
              <a:buNone/>
            </a:pPr>
            <a:r>
              <a:rPr lang="en-US" sz="1250" b="1" dirty="0">
                <a:solidFill>
                  <a:srgbClr val="0C1B2E"/>
                </a:solidFill>
                <a:latin typeface="Lato" pitchFamily="34" charset="0"/>
                <a:ea typeface="Lato" pitchFamily="34" charset="-122"/>
                <a:cs typeface="Lato" pitchFamily="34" charset="-120"/>
              </a:rPr>
              <a:t>Every output ships with:  </a:t>
            </a:r>
            <a:r>
              <a:rPr lang="en-US" sz="1250" b="1" dirty="0">
                <a:solidFill>
                  <a:srgbClr val="1483C8"/>
                </a:solidFill>
                <a:latin typeface="Lato" pitchFamily="34" charset="0"/>
                <a:ea typeface="Lato" pitchFamily="34" charset="-122"/>
                <a:cs typeface="Lato" pitchFamily="34" charset="-120"/>
              </a:rPr>
              <a:t>Data source  ·  Timestamp  ·  Query used  ·  Methodology  ·  Caveats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48640"/>
            <a:ext cx="7772400" cy="274320"/>
          </a:xfrm>
          <a:prstGeom prst="rect">
            <a:avLst/>
          </a:prstGeom>
          <a:noFill/>
          <a:ln/>
        </p:spPr>
        <p:txBody>
          <a:bodyPr wrap="square" lIns="0" tIns="0" rIns="0" bIns="0" rtlCol="0" anchor="ctr"/>
          <a:lstStyle/>
          <a:p>
            <a:pPr indent="0" marL="0">
              <a:buNone/>
            </a:pPr>
            <a:r>
              <a:rPr lang="en-US" sz="1100" b="1" spc="150" kern="0" dirty="0">
                <a:solidFill>
                  <a:srgbClr val="1483C8"/>
                </a:solidFill>
                <a:latin typeface="Lato" pitchFamily="34" charset="0"/>
                <a:ea typeface="Lato" pitchFamily="34" charset="-122"/>
                <a:cs typeface="Lato" pitchFamily="34" charset="-120"/>
              </a:rPr>
              <a:t>DEMONSTRATION</a:t>
            </a:r>
            <a:endParaRPr lang="en-US" sz="1100" dirty="0"/>
          </a:p>
        </p:txBody>
      </p:sp>
      <p:sp>
        <p:nvSpPr>
          <p:cNvPr id="3" name="Text 1"/>
          <p:cNvSpPr/>
          <p:nvPr/>
        </p:nvSpPr>
        <p:spPr>
          <a:xfrm>
            <a:off x="667512" y="822960"/>
            <a:ext cx="7863840" cy="658368"/>
          </a:xfrm>
          <a:prstGeom prst="rect">
            <a:avLst/>
          </a:prstGeom>
          <a:noFill/>
          <a:ln/>
        </p:spPr>
        <p:txBody>
          <a:bodyPr wrap="square" lIns="0" tIns="0" rIns="0" bIns="0" rtlCol="0" anchor="ctr"/>
          <a:lstStyle/>
          <a:p>
            <a:pPr indent="0" marL="0">
              <a:buNone/>
            </a:pPr>
            <a:r>
              <a:rPr lang="en-US" sz="3200" b="1" dirty="0">
                <a:solidFill>
                  <a:srgbClr val="0C1B2E"/>
                </a:solidFill>
                <a:latin typeface="Lato" pitchFamily="34" charset="0"/>
                <a:ea typeface="Lato" pitchFamily="34" charset="-122"/>
                <a:cs typeface="Lato" pitchFamily="34" charset="-120"/>
              </a:rPr>
              <a:t>High-value review indicators.</a:t>
            </a:r>
            <a:endParaRPr lang="en-US" sz="3200" dirty="0"/>
          </a:p>
        </p:txBody>
      </p:sp>
      <p:sp>
        <p:nvSpPr>
          <p:cNvPr id="4" name="Text 2"/>
          <p:cNvSpPr/>
          <p:nvPr/>
        </p:nvSpPr>
        <p:spPr>
          <a:xfrm>
            <a:off x="685800" y="1517904"/>
            <a:ext cx="7589520" cy="548640"/>
          </a:xfrm>
          <a:prstGeom prst="rect">
            <a:avLst/>
          </a:prstGeom>
          <a:noFill/>
          <a:ln/>
        </p:spPr>
        <p:txBody>
          <a:bodyPr wrap="square" lIns="0" tIns="0" rIns="0" bIns="0" rtlCol="0" anchor="ctr"/>
          <a:lstStyle/>
          <a:p>
            <a:pPr indent="0" marL="0">
              <a:lnSpc>
                <a:spcPts val="1900"/>
              </a:lnSpc>
              <a:buNone/>
            </a:pPr>
            <a:r>
              <a:rPr lang="en-US" sz="1350" dirty="0">
                <a:solidFill>
                  <a:srgbClr val="5B6B7B"/>
                </a:solidFill>
                <a:latin typeface="Lato" pitchFamily="34" charset="0"/>
                <a:ea typeface="Lato" pitchFamily="34" charset="-122"/>
                <a:cs typeface="Lato" pitchFamily="34" charset="-120"/>
              </a:rPr>
              <a:t>Prioritized by likelihood, impact, and supporting evidence. Indicators, not findings.</a:t>
            </a:r>
            <a:endParaRPr lang="en-US" sz="1350" dirty="0"/>
          </a:p>
        </p:txBody>
      </p:sp>
      <p:sp>
        <p:nvSpPr>
          <p:cNvPr id="5" name="Shape 3"/>
          <p:cNvSpPr/>
          <p:nvPr/>
        </p:nvSpPr>
        <p:spPr>
          <a:xfrm>
            <a:off x="685800" y="2240280"/>
            <a:ext cx="2542032" cy="2194560"/>
          </a:xfrm>
          <a:prstGeom prst="roundRect">
            <a:avLst>
              <a:gd name="adj" fmla="val 2917"/>
            </a:avLst>
          </a:prstGeom>
          <a:solidFill>
            <a:srgbClr val="FBEFD8"/>
          </a:solidFill>
          <a:ln/>
        </p:spPr>
      </p:sp>
      <p:sp>
        <p:nvSpPr>
          <p:cNvPr id="6" name="Text 4"/>
          <p:cNvSpPr/>
          <p:nvPr/>
        </p:nvSpPr>
        <p:spPr>
          <a:xfrm>
            <a:off x="960120" y="2514600"/>
            <a:ext cx="1993392" cy="274320"/>
          </a:xfrm>
          <a:prstGeom prst="rect">
            <a:avLst/>
          </a:prstGeom>
          <a:noFill/>
          <a:ln/>
        </p:spPr>
        <p:txBody>
          <a:bodyPr wrap="square" lIns="0" tIns="0" rIns="0" bIns="0" rtlCol="0" anchor="ctr"/>
          <a:lstStyle/>
          <a:p>
            <a:pPr indent="0" marL="0">
              <a:buNone/>
            </a:pPr>
            <a:r>
              <a:rPr lang="en-US" sz="1100" b="1" spc="100" kern="0" dirty="0">
                <a:solidFill>
                  <a:srgbClr val="E8681C"/>
                </a:solidFill>
                <a:latin typeface="Lato" pitchFamily="34" charset="0"/>
                <a:ea typeface="Lato" pitchFamily="34" charset="-122"/>
                <a:cs typeface="Lato" pitchFamily="34" charset="-120"/>
              </a:rPr>
              <a:t>FLAG 01</a:t>
            </a:r>
            <a:endParaRPr lang="en-US" sz="1100" dirty="0"/>
          </a:p>
        </p:txBody>
      </p:sp>
      <p:sp>
        <p:nvSpPr>
          <p:cNvPr id="7" name="Text 5"/>
          <p:cNvSpPr/>
          <p:nvPr/>
        </p:nvSpPr>
        <p:spPr>
          <a:xfrm>
            <a:off x="960120" y="2862072"/>
            <a:ext cx="1993392" cy="457200"/>
          </a:xfrm>
          <a:prstGeom prst="rect">
            <a:avLst/>
          </a:prstGeom>
          <a:noFill/>
          <a:ln/>
        </p:spPr>
        <p:txBody>
          <a:bodyPr wrap="square" lIns="0" tIns="0" rIns="0" bIns="0" rtlCol="0" anchor="ctr"/>
          <a:lstStyle/>
          <a:p>
            <a:pPr indent="0" marL="0">
              <a:buNone/>
            </a:pPr>
            <a:r>
              <a:rPr lang="en-US" sz="1600" b="1" dirty="0">
                <a:solidFill>
                  <a:srgbClr val="0C1B2E"/>
                </a:solidFill>
                <a:latin typeface="Lato" pitchFamily="34" charset="0"/>
                <a:ea typeface="Lato" pitchFamily="34" charset="-122"/>
                <a:cs typeface="Lato" pitchFamily="34" charset="-120"/>
              </a:rPr>
              <a:t>Cost-Share Anomaly</a:t>
            </a:r>
            <a:endParaRPr lang="en-US" sz="1600" dirty="0"/>
          </a:p>
        </p:txBody>
      </p:sp>
      <p:sp>
        <p:nvSpPr>
          <p:cNvPr id="8" name="Text 6"/>
          <p:cNvSpPr/>
          <p:nvPr/>
        </p:nvSpPr>
        <p:spPr>
          <a:xfrm>
            <a:off x="960120" y="3410712"/>
            <a:ext cx="1993392" cy="914400"/>
          </a:xfrm>
          <a:prstGeom prst="rect">
            <a:avLst/>
          </a:prstGeom>
          <a:noFill/>
          <a:ln/>
        </p:spPr>
        <p:txBody>
          <a:bodyPr wrap="square" lIns="0" tIns="0" rIns="0" bIns="0" rtlCol="0" anchor="ctr"/>
          <a:lstStyle/>
          <a:p>
            <a:pPr indent="0" marL="0">
              <a:lnSpc>
                <a:spcPts val="1500"/>
              </a:lnSpc>
              <a:buNone/>
            </a:pPr>
            <a:r>
              <a:rPr lang="en-US" sz="1100" dirty="0">
                <a:solidFill>
                  <a:srgbClr val="6B5B47"/>
                </a:solidFill>
                <a:latin typeface="Lato" pitchFamily="34" charset="0"/>
                <a:ea typeface="Lato" pitchFamily="34" charset="-122"/>
                <a:cs typeface="Lato" pitchFamily="34" charset="-120"/>
              </a:rPr>
              <a:t>Federal share differs from expected patterns for comparable Cat G declarations. Warrants analyst review.</a:t>
            </a:r>
            <a:endParaRPr lang="en-US" sz="1100" dirty="0"/>
          </a:p>
        </p:txBody>
      </p:sp>
      <p:sp>
        <p:nvSpPr>
          <p:cNvPr id="9" name="Shape 7"/>
          <p:cNvSpPr/>
          <p:nvPr/>
        </p:nvSpPr>
        <p:spPr>
          <a:xfrm>
            <a:off x="3483864" y="2240280"/>
            <a:ext cx="2542032" cy="2194560"/>
          </a:xfrm>
          <a:prstGeom prst="roundRect">
            <a:avLst>
              <a:gd name="adj" fmla="val 2917"/>
            </a:avLst>
          </a:prstGeom>
          <a:solidFill>
            <a:srgbClr val="FBEFD8"/>
          </a:solidFill>
          <a:ln/>
        </p:spPr>
      </p:sp>
      <p:sp>
        <p:nvSpPr>
          <p:cNvPr id="10" name="Text 8"/>
          <p:cNvSpPr/>
          <p:nvPr/>
        </p:nvSpPr>
        <p:spPr>
          <a:xfrm>
            <a:off x="3758184" y="2514600"/>
            <a:ext cx="1993392" cy="274320"/>
          </a:xfrm>
          <a:prstGeom prst="rect">
            <a:avLst/>
          </a:prstGeom>
          <a:noFill/>
          <a:ln/>
        </p:spPr>
        <p:txBody>
          <a:bodyPr wrap="square" lIns="0" tIns="0" rIns="0" bIns="0" rtlCol="0" anchor="ctr"/>
          <a:lstStyle/>
          <a:p>
            <a:pPr indent="0" marL="0">
              <a:buNone/>
            </a:pPr>
            <a:r>
              <a:rPr lang="en-US" sz="1100" b="1" spc="100" kern="0" dirty="0">
                <a:solidFill>
                  <a:srgbClr val="E8681C"/>
                </a:solidFill>
                <a:latin typeface="Lato" pitchFamily="34" charset="0"/>
                <a:ea typeface="Lato" pitchFamily="34" charset="-122"/>
                <a:cs typeface="Lato" pitchFamily="34" charset="-120"/>
              </a:rPr>
              <a:t>FLAG 02</a:t>
            </a:r>
            <a:endParaRPr lang="en-US" sz="1100" dirty="0"/>
          </a:p>
        </p:txBody>
      </p:sp>
      <p:sp>
        <p:nvSpPr>
          <p:cNvPr id="11" name="Text 9"/>
          <p:cNvSpPr/>
          <p:nvPr/>
        </p:nvSpPr>
        <p:spPr>
          <a:xfrm>
            <a:off x="3758184" y="2862072"/>
            <a:ext cx="1993392" cy="457200"/>
          </a:xfrm>
          <a:prstGeom prst="rect">
            <a:avLst/>
          </a:prstGeom>
          <a:noFill/>
          <a:ln/>
        </p:spPr>
        <p:txBody>
          <a:bodyPr wrap="square" lIns="0" tIns="0" rIns="0" bIns="0" rtlCol="0" anchor="ctr"/>
          <a:lstStyle/>
          <a:p>
            <a:pPr indent="0" marL="0">
              <a:buNone/>
            </a:pPr>
            <a:r>
              <a:rPr lang="en-US" sz="1600" b="1" dirty="0">
                <a:solidFill>
                  <a:srgbClr val="0C1B2E"/>
                </a:solidFill>
                <a:latin typeface="Lato" pitchFamily="34" charset="0"/>
                <a:ea typeface="Lato" pitchFamily="34" charset="-122"/>
                <a:cs typeface="Lato" pitchFamily="34" charset="-120"/>
              </a:rPr>
              <a:t>Fragmentation Pattern</a:t>
            </a:r>
            <a:endParaRPr lang="en-US" sz="1600" dirty="0"/>
          </a:p>
        </p:txBody>
      </p:sp>
      <p:sp>
        <p:nvSpPr>
          <p:cNvPr id="12" name="Text 10"/>
          <p:cNvSpPr/>
          <p:nvPr/>
        </p:nvSpPr>
        <p:spPr>
          <a:xfrm>
            <a:off x="3758184" y="3410712"/>
            <a:ext cx="1993392" cy="914400"/>
          </a:xfrm>
          <a:prstGeom prst="rect">
            <a:avLst/>
          </a:prstGeom>
          <a:noFill/>
          <a:ln/>
        </p:spPr>
        <p:txBody>
          <a:bodyPr wrap="square" lIns="0" tIns="0" rIns="0" bIns="0" rtlCol="0" anchor="ctr"/>
          <a:lstStyle/>
          <a:p>
            <a:pPr indent="0" marL="0">
              <a:lnSpc>
                <a:spcPts val="1500"/>
              </a:lnSpc>
              <a:buNone/>
            </a:pPr>
            <a:r>
              <a:rPr lang="en-US" sz="1100" dirty="0">
                <a:solidFill>
                  <a:srgbClr val="6B5B47"/>
                </a:solidFill>
                <a:latin typeface="Lato" pitchFamily="34" charset="0"/>
                <a:ea typeface="Lato" pitchFamily="34" charset="-122"/>
                <a:cs typeface="Lato" pitchFamily="34" charset="-120"/>
              </a:rPr>
              <a:t>Potential fragmentation of one scope of work across distinct Cat B and Cat E PWs. Requires review.</a:t>
            </a:r>
            <a:endParaRPr lang="en-US" sz="1100" dirty="0"/>
          </a:p>
        </p:txBody>
      </p:sp>
      <p:sp>
        <p:nvSpPr>
          <p:cNvPr id="13" name="Shape 11"/>
          <p:cNvSpPr/>
          <p:nvPr/>
        </p:nvSpPr>
        <p:spPr>
          <a:xfrm>
            <a:off x="6281928" y="2240280"/>
            <a:ext cx="2542032" cy="2194560"/>
          </a:xfrm>
          <a:prstGeom prst="roundRect">
            <a:avLst>
              <a:gd name="adj" fmla="val 2917"/>
            </a:avLst>
          </a:prstGeom>
          <a:solidFill>
            <a:srgbClr val="FBEFD8"/>
          </a:solidFill>
          <a:ln/>
        </p:spPr>
      </p:sp>
      <p:sp>
        <p:nvSpPr>
          <p:cNvPr id="14" name="Text 12"/>
          <p:cNvSpPr/>
          <p:nvPr/>
        </p:nvSpPr>
        <p:spPr>
          <a:xfrm>
            <a:off x="6556248" y="2514600"/>
            <a:ext cx="1993392" cy="274320"/>
          </a:xfrm>
          <a:prstGeom prst="rect">
            <a:avLst/>
          </a:prstGeom>
          <a:noFill/>
          <a:ln/>
        </p:spPr>
        <p:txBody>
          <a:bodyPr wrap="square" lIns="0" tIns="0" rIns="0" bIns="0" rtlCol="0" anchor="ctr"/>
          <a:lstStyle/>
          <a:p>
            <a:pPr indent="0" marL="0">
              <a:buNone/>
            </a:pPr>
            <a:r>
              <a:rPr lang="en-US" sz="1100" b="1" spc="100" kern="0" dirty="0">
                <a:solidFill>
                  <a:srgbClr val="E8681C"/>
                </a:solidFill>
                <a:latin typeface="Lato" pitchFamily="34" charset="0"/>
                <a:ea typeface="Lato" pitchFamily="34" charset="-122"/>
                <a:cs typeface="Lato" pitchFamily="34" charset="-120"/>
              </a:rPr>
              <a:t>FLAG 03</a:t>
            </a:r>
            <a:endParaRPr lang="en-US" sz="1100" dirty="0"/>
          </a:p>
        </p:txBody>
      </p:sp>
      <p:sp>
        <p:nvSpPr>
          <p:cNvPr id="15" name="Text 13"/>
          <p:cNvSpPr/>
          <p:nvPr/>
        </p:nvSpPr>
        <p:spPr>
          <a:xfrm>
            <a:off x="6556248" y="2862072"/>
            <a:ext cx="1993392" cy="457200"/>
          </a:xfrm>
          <a:prstGeom prst="rect">
            <a:avLst/>
          </a:prstGeom>
          <a:noFill/>
          <a:ln/>
        </p:spPr>
        <p:txBody>
          <a:bodyPr wrap="square" lIns="0" tIns="0" rIns="0" bIns="0" rtlCol="0" anchor="ctr"/>
          <a:lstStyle/>
          <a:p>
            <a:pPr indent="0" marL="0">
              <a:buNone/>
            </a:pPr>
            <a:r>
              <a:rPr lang="en-US" sz="1600" b="1" dirty="0">
                <a:solidFill>
                  <a:srgbClr val="0C1B2E"/>
                </a:solidFill>
                <a:latin typeface="Lato" pitchFamily="34" charset="0"/>
                <a:ea typeface="Lato" pitchFamily="34" charset="-122"/>
                <a:cs typeface="Lato" pitchFamily="34" charset="-120"/>
              </a:rPr>
              <a:t>Category Outlier</a:t>
            </a:r>
            <a:endParaRPr lang="en-US" sz="1600" dirty="0"/>
          </a:p>
        </p:txBody>
      </p:sp>
      <p:sp>
        <p:nvSpPr>
          <p:cNvPr id="16" name="Text 14"/>
          <p:cNvSpPr/>
          <p:nvPr/>
        </p:nvSpPr>
        <p:spPr>
          <a:xfrm>
            <a:off x="6556248" y="3410712"/>
            <a:ext cx="1993392" cy="914400"/>
          </a:xfrm>
          <a:prstGeom prst="rect">
            <a:avLst/>
          </a:prstGeom>
          <a:noFill/>
          <a:ln/>
        </p:spPr>
        <p:txBody>
          <a:bodyPr wrap="square" lIns="0" tIns="0" rIns="0" bIns="0" rtlCol="0" anchor="ctr"/>
          <a:lstStyle/>
          <a:p>
            <a:pPr indent="0" marL="0">
              <a:lnSpc>
                <a:spcPts val="1500"/>
              </a:lnSpc>
              <a:buNone/>
            </a:pPr>
            <a:r>
              <a:rPr lang="en-US" sz="1100" dirty="0">
                <a:solidFill>
                  <a:srgbClr val="6B5B47"/>
                </a:solidFill>
                <a:latin typeface="Lato" pitchFamily="34" charset="0"/>
                <a:ea typeface="Lato" pitchFamily="34" charset="-122"/>
                <a:cs typeface="Lato" pitchFamily="34" charset="-120"/>
              </a:rPr>
              <a:t>Section 406 mitigation cost is an outlier relative to peer projects and historical CEF baselines.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48640"/>
            <a:ext cx="7772400" cy="274320"/>
          </a:xfrm>
          <a:prstGeom prst="rect">
            <a:avLst/>
          </a:prstGeom>
          <a:noFill/>
          <a:ln/>
        </p:spPr>
        <p:txBody>
          <a:bodyPr wrap="square" lIns="0" tIns="0" rIns="0" bIns="0" rtlCol="0" anchor="ctr"/>
          <a:lstStyle/>
          <a:p>
            <a:pPr indent="0" marL="0">
              <a:buNone/>
            </a:pPr>
            <a:r>
              <a:rPr lang="en-US" sz="1100" b="1" spc="150" kern="0" dirty="0">
                <a:solidFill>
                  <a:srgbClr val="1483C8"/>
                </a:solidFill>
                <a:latin typeface="Lato" pitchFamily="34" charset="0"/>
                <a:ea typeface="Lato" pitchFamily="34" charset="-122"/>
                <a:cs typeface="Lato" pitchFamily="34" charset="-120"/>
              </a:rPr>
              <a:t>OIG AUDIT EMULATION PERFORMANCE</a:t>
            </a:r>
            <a:endParaRPr lang="en-US" sz="1100" dirty="0"/>
          </a:p>
        </p:txBody>
      </p:sp>
      <p:sp>
        <p:nvSpPr>
          <p:cNvPr id="3" name="Text 1"/>
          <p:cNvSpPr/>
          <p:nvPr/>
        </p:nvSpPr>
        <p:spPr>
          <a:xfrm>
            <a:off x="667512" y="822960"/>
            <a:ext cx="7863840" cy="658368"/>
          </a:xfrm>
          <a:prstGeom prst="rect">
            <a:avLst/>
          </a:prstGeom>
          <a:noFill/>
          <a:ln/>
        </p:spPr>
        <p:txBody>
          <a:bodyPr wrap="square" lIns="0" tIns="0" rIns="0" bIns="0" rtlCol="0" anchor="ctr"/>
          <a:lstStyle/>
          <a:p>
            <a:pPr indent="0" marL="0">
              <a:buNone/>
            </a:pPr>
            <a:r>
              <a:rPr lang="en-US" sz="3200" b="1" dirty="0">
                <a:solidFill>
                  <a:srgbClr val="0C1B2E"/>
                </a:solidFill>
                <a:latin typeface="Lato" pitchFamily="34" charset="0"/>
                <a:ea typeface="Lato" pitchFamily="34" charset="-122"/>
                <a:cs typeface="Lato" pitchFamily="34" charset="-120"/>
              </a:rPr>
              <a:t>Evaluation targets &amp; results.</a:t>
            </a:r>
            <a:endParaRPr lang="en-US" sz="3200" dirty="0"/>
          </a:p>
        </p:txBody>
      </p:sp>
      <p:sp>
        <p:nvSpPr>
          <p:cNvPr id="4" name="Shape 2"/>
          <p:cNvSpPr/>
          <p:nvPr/>
        </p:nvSpPr>
        <p:spPr>
          <a:xfrm>
            <a:off x="685800" y="1874520"/>
            <a:ext cx="4663440" cy="420624"/>
          </a:xfrm>
          <a:prstGeom prst="rect">
            <a:avLst/>
          </a:prstGeom>
          <a:solidFill>
            <a:srgbClr val="0C1B2E"/>
          </a:solidFill>
          <a:ln/>
        </p:spPr>
      </p:sp>
      <p:sp>
        <p:nvSpPr>
          <p:cNvPr id="5" name="Text 3"/>
          <p:cNvSpPr/>
          <p:nvPr/>
        </p:nvSpPr>
        <p:spPr>
          <a:xfrm>
            <a:off x="886968" y="1874520"/>
            <a:ext cx="2984602" cy="420624"/>
          </a:xfrm>
          <a:prstGeom prst="rect">
            <a:avLst/>
          </a:prstGeom>
          <a:noFill/>
          <a:ln/>
        </p:spPr>
        <p:txBody>
          <a:bodyPr wrap="square" lIns="0" tIns="0" rIns="0" bIns="0" rtlCol="0" anchor="ctr"/>
          <a:lstStyle/>
          <a:p>
            <a:pPr indent="0" marL="0">
              <a:buNone/>
            </a:pPr>
            <a:r>
              <a:rPr lang="en-US" sz="1150" b="1" dirty="0">
                <a:solidFill>
                  <a:srgbClr val="FFFFFF"/>
                </a:solidFill>
                <a:latin typeface="Lato" pitchFamily="34" charset="0"/>
                <a:ea typeface="Lato" pitchFamily="34" charset="-122"/>
                <a:cs typeface="Lato" pitchFamily="34" charset="-120"/>
              </a:rPr>
              <a:t>Measure</a:t>
            </a:r>
            <a:endParaRPr lang="en-US" sz="1150" dirty="0"/>
          </a:p>
        </p:txBody>
      </p:sp>
      <p:sp>
        <p:nvSpPr>
          <p:cNvPr id="6" name="Text 4"/>
          <p:cNvSpPr/>
          <p:nvPr/>
        </p:nvSpPr>
        <p:spPr>
          <a:xfrm>
            <a:off x="3670402" y="1874520"/>
            <a:ext cx="1541678" cy="420624"/>
          </a:xfrm>
          <a:prstGeom prst="rect">
            <a:avLst/>
          </a:prstGeom>
          <a:noFill/>
          <a:ln/>
        </p:spPr>
        <p:txBody>
          <a:bodyPr wrap="square" lIns="0" tIns="0" rIns="0" bIns="0" rtlCol="0" anchor="ctr"/>
          <a:lstStyle/>
          <a:p>
            <a:pPr indent="0" marL="0">
              <a:buNone/>
            </a:pPr>
            <a:r>
              <a:rPr lang="en-US" sz="1150" b="1" dirty="0">
                <a:solidFill>
                  <a:srgbClr val="FFFFFF"/>
                </a:solidFill>
                <a:latin typeface="Lato" pitchFamily="34" charset="0"/>
                <a:ea typeface="Lato" pitchFamily="34" charset="-122"/>
                <a:cs typeface="Lato" pitchFamily="34" charset="-120"/>
              </a:rPr>
              <a:t>Target</a:t>
            </a:r>
            <a:endParaRPr lang="en-US" sz="1150" dirty="0"/>
          </a:p>
        </p:txBody>
      </p:sp>
      <p:sp>
        <p:nvSpPr>
          <p:cNvPr id="7" name="Shape 5"/>
          <p:cNvSpPr/>
          <p:nvPr/>
        </p:nvSpPr>
        <p:spPr>
          <a:xfrm>
            <a:off x="685800" y="2295144"/>
            <a:ext cx="4663440" cy="420624"/>
          </a:xfrm>
          <a:prstGeom prst="rect">
            <a:avLst/>
          </a:prstGeom>
          <a:solidFill>
            <a:srgbClr val="FFFFFF"/>
          </a:solidFill>
          <a:ln w="6350">
            <a:solidFill>
              <a:srgbClr val="E2E7ED"/>
            </a:solidFill>
            <a:prstDash val="solid"/>
          </a:ln>
        </p:spPr>
      </p:sp>
      <p:sp>
        <p:nvSpPr>
          <p:cNvPr id="8" name="Text 6"/>
          <p:cNvSpPr/>
          <p:nvPr/>
        </p:nvSpPr>
        <p:spPr>
          <a:xfrm>
            <a:off x="886968" y="2295144"/>
            <a:ext cx="2984602" cy="420624"/>
          </a:xfrm>
          <a:prstGeom prst="rect">
            <a:avLst/>
          </a:prstGeom>
          <a:noFill/>
          <a:ln/>
        </p:spPr>
        <p:txBody>
          <a:bodyPr wrap="square" lIns="0" tIns="0" rIns="0" bIns="0" rtlCol="0" anchor="ctr"/>
          <a:lstStyle/>
          <a:p>
            <a:pPr indent="0" marL="0">
              <a:buNone/>
            </a:pPr>
            <a:r>
              <a:rPr lang="en-US" sz="1100" dirty="0">
                <a:solidFill>
                  <a:srgbClr val="0C1B2E"/>
                </a:solidFill>
                <a:latin typeface="Lato" pitchFamily="34" charset="0"/>
                <a:ea typeface="Lato" pitchFamily="34" charset="-122"/>
                <a:cs typeface="Lato" pitchFamily="34" charset="-120"/>
              </a:rPr>
              <a:t>Retrieval accuracy</a:t>
            </a:r>
            <a:endParaRPr lang="en-US" sz="1100" dirty="0"/>
          </a:p>
        </p:txBody>
      </p:sp>
      <p:sp>
        <p:nvSpPr>
          <p:cNvPr id="9" name="Text 7"/>
          <p:cNvSpPr/>
          <p:nvPr/>
        </p:nvSpPr>
        <p:spPr>
          <a:xfrm>
            <a:off x="3670402" y="2295144"/>
            <a:ext cx="1541678" cy="420624"/>
          </a:xfrm>
          <a:prstGeom prst="rect">
            <a:avLst/>
          </a:prstGeom>
          <a:noFill/>
          <a:ln/>
        </p:spPr>
        <p:txBody>
          <a:bodyPr wrap="square" lIns="0" tIns="0" rIns="0" bIns="0" rtlCol="0" anchor="ctr"/>
          <a:lstStyle/>
          <a:p>
            <a:pPr indent="0" marL="0">
              <a:buNone/>
            </a:pPr>
            <a:r>
              <a:rPr lang="en-US" sz="1200" b="1" dirty="0">
                <a:solidFill>
                  <a:srgbClr val="1483C8"/>
                </a:solidFill>
                <a:latin typeface="Lato" pitchFamily="34" charset="0"/>
                <a:ea typeface="Lato" pitchFamily="34" charset="-122"/>
                <a:cs typeface="Lato" pitchFamily="34" charset="-120"/>
              </a:rPr>
              <a:t>95%+</a:t>
            </a:r>
            <a:endParaRPr lang="en-US" sz="1200" dirty="0"/>
          </a:p>
        </p:txBody>
      </p:sp>
      <p:sp>
        <p:nvSpPr>
          <p:cNvPr id="10" name="Shape 8"/>
          <p:cNvSpPr/>
          <p:nvPr/>
        </p:nvSpPr>
        <p:spPr>
          <a:xfrm>
            <a:off x="685800" y="2715768"/>
            <a:ext cx="4663440" cy="420624"/>
          </a:xfrm>
          <a:prstGeom prst="rect">
            <a:avLst/>
          </a:prstGeom>
          <a:solidFill>
            <a:srgbClr val="EEF4FA"/>
          </a:solidFill>
          <a:ln w="6350">
            <a:solidFill>
              <a:srgbClr val="E2E7ED"/>
            </a:solidFill>
            <a:prstDash val="solid"/>
          </a:ln>
        </p:spPr>
      </p:sp>
      <p:sp>
        <p:nvSpPr>
          <p:cNvPr id="11" name="Text 9"/>
          <p:cNvSpPr/>
          <p:nvPr/>
        </p:nvSpPr>
        <p:spPr>
          <a:xfrm>
            <a:off x="886968" y="2715768"/>
            <a:ext cx="2984602" cy="420624"/>
          </a:xfrm>
          <a:prstGeom prst="rect">
            <a:avLst/>
          </a:prstGeom>
          <a:noFill/>
          <a:ln/>
        </p:spPr>
        <p:txBody>
          <a:bodyPr wrap="square" lIns="0" tIns="0" rIns="0" bIns="0" rtlCol="0" anchor="ctr"/>
          <a:lstStyle/>
          <a:p>
            <a:pPr indent="0" marL="0">
              <a:buNone/>
            </a:pPr>
            <a:r>
              <a:rPr lang="en-US" sz="1100" dirty="0">
                <a:solidFill>
                  <a:srgbClr val="0C1B2E"/>
                </a:solidFill>
                <a:latin typeface="Lato" pitchFamily="34" charset="0"/>
                <a:ea typeface="Lato" pitchFamily="34" charset="-122"/>
                <a:cs typeface="Lato" pitchFamily="34" charset="-120"/>
              </a:rPr>
              <a:t>Citation coverage</a:t>
            </a:r>
            <a:endParaRPr lang="en-US" sz="1100" dirty="0"/>
          </a:p>
        </p:txBody>
      </p:sp>
      <p:sp>
        <p:nvSpPr>
          <p:cNvPr id="12" name="Text 10"/>
          <p:cNvSpPr/>
          <p:nvPr/>
        </p:nvSpPr>
        <p:spPr>
          <a:xfrm>
            <a:off x="3670402" y="2715768"/>
            <a:ext cx="1541678" cy="420624"/>
          </a:xfrm>
          <a:prstGeom prst="rect">
            <a:avLst/>
          </a:prstGeom>
          <a:noFill/>
          <a:ln/>
        </p:spPr>
        <p:txBody>
          <a:bodyPr wrap="square" lIns="0" tIns="0" rIns="0" bIns="0" rtlCol="0" anchor="ctr"/>
          <a:lstStyle/>
          <a:p>
            <a:pPr indent="0" marL="0">
              <a:buNone/>
            </a:pPr>
            <a:r>
              <a:rPr lang="en-US" sz="1200" b="1" dirty="0">
                <a:solidFill>
                  <a:srgbClr val="1483C8"/>
                </a:solidFill>
                <a:latin typeface="Lato" pitchFamily="34" charset="0"/>
                <a:ea typeface="Lato" pitchFamily="34" charset="-122"/>
                <a:cs typeface="Lato" pitchFamily="34" charset="-120"/>
              </a:rPr>
              <a:t>100%</a:t>
            </a:r>
            <a:endParaRPr lang="en-US" sz="1200" dirty="0"/>
          </a:p>
        </p:txBody>
      </p:sp>
      <p:sp>
        <p:nvSpPr>
          <p:cNvPr id="13" name="Shape 11"/>
          <p:cNvSpPr/>
          <p:nvPr/>
        </p:nvSpPr>
        <p:spPr>
          <a:xfrm>
            <a:off x="685800" y="3136392"/>
            <a:ext cx="4663440" cy="420624"/>
          </a:xfrm>
          <a:prstGeom prst="rect">
            <a:avLst/>
          </a:prstGeom>
          <a:solidFill>
            <a:srgbClr val="FFFFFF"/>
          </a:solidFill>
          <a:ln w="6350">
            <a:solidFill>
              <a:srgbClr val="E2E7ED"/>
            </a:solidFill>
            <a:prstDash val="solid"/>
          </a:ln>
        </p:spPr>
      </p:sp>
      <p:sp>
        <p:nvSpPr>
          <p:cNvPr id="14" name="Text 12"/>
          <p:cNvSpPr/>
          <p:nvPr/>
        </p:nvSpPr>
        <p:spPr>
          <a:xfrm>
            <a:off x="886968" y="3136392"/>
            <a:ext cx="2984602" cy="420624"/>
          </a:xfrm>
          <a:prstGeom prst="rect">
            <a:avLst/>
          </a:prstGeom>
          <a:noFill/>
          <a:ln/>
        </p:spPr>
        <p:txBody>
          <a:bodyPr wrap="square" lIns="0" tIns="0" rIns="0" bIns="0" rtlCol="0" anchor="ctr"/>
          <a:lstStyle/>
          <a:p>
            <a:pPr indent="0" marL="0">
              <a:buNone/>
            </a:pPr>
            <a:r>
              <a:rPr lang="en-US" sz="1100" dirty="0">
                <a:solidFill>
                  <a:srgbClr val="0C1B2E"/>
                </a:solidFill>
                <a:latin typeface="Lato" pitchFamily="34" charset="0"/>
                <a:ea typeface="Lato" pitchFamily="34" charset="-122"/>
                <a:cs typeface="Lato" pitchFamily="34" charset="-120"/>
              </a:rPr>
              <a:t>Unsupported claims</a:t>
            </a:r>
            <a:endParaRPr lang="en-US" sz="1100" dirty="0"/>
          </a:p>
        </p:txBody>
      </p:sp>
      <p:sp>
        <p:nvSpPr>
          <p:cNvPr id="15" name="Text 13"/>
          <p:cNvSpPr/>
          <p:nvPr/>
        </p:nvSpPr>
        <p:spPr>
          <a:xfrm>
            <a:off x="3670402" y="3136392"/>
            <a:ext cx="1541678" cy="420624"/>
          </a:xfrm>
          <a:prstGeom prst="rect">
            <a:avLst/>
          </a:prstGeom>
          <a:noFill/>
          <a:ln/>
        </p:spPr>
        <p:txBody>
          <a:bodyPr wrap="square" lIns="0" tIns="0" rIns="0" bIns="0" rtlCol="0" anchor="ctr"/>
          <a:lstStyle/>
          <a:p>
            <a:pPr indent="0" marL="0">
              <a:buNone/>
            </a:pPr>
            <a:r>
              <a:rPr lang="en-US" sz="1200" b="1" dirty="0">
                <a:solidFill>
                  <a:srgbClr val="1483C8"/>
                </a:solidFill>
                <a:latin typeface="Lato" pitchFamily="34" charset="0"/>
                <a:ea typeface="Lato" pitchFamily="34" charset="-122"/>
                <a:cs typeface="Lato" pitchFamily="34" charset="-120"/>
              </a:rPr>
              <a:t>0</a:t>
            </a:r>
            <a:endParaRPr lang="en-US" sz="1200" dirty="0"/>
          </a:p>
        </p:txBody>
      </p:sp>
      <p:sp>
        <p:nvSpPr>
          <p:cNvPr id="16" name="Shape 14"/>
          <p:cNvSpPr/>
          <p:nvPr/>
        </p:nvSpPr>
        <p:spPr>
          <a:xfrm>
            <a:off x="685800" y="3557016"/>
            <a:ext cx="4663440" cy="420624"/>
          </a:xfrm>
          <a:prstGeom prst="rect">
            <a:avLst/>
          </a:prstGeom>
          <a:solidFill>
            <a:srgbClr val="EEF4FA"/>
          </a:solidFill>
          <a:ln w="6350">
            <a:solidFill>
              <a:srgbClr val="E2E7ED"/>
            </a:solidFill>
            <a:prstDash val="solid"/>
          </a:ln>
        </p:spPr>
      </p:sp>
      <p:sp>
        <p:nvSpPr>
          <p:cNvPr id="17" name="Text 15"/>
          <p:cNvSpPr/>
          <p:nvPr/>
        </p:nvSpPr>
        <p:spPr>
          <a:xfrm>
            <a:off x="886968" y="3557016"/>
            <a:ext cx="2984602" cy="420624"/>
          </a:xfrm>
          <a:prstGeom prst="rect">
            <a:avLst/>
          </a:prstGeom>
          <a:noFill/>
          <a:ln/>
        </p:spPr>
        <p:txBody>
          <a:bodyPr wrap="square" lIns="0" tIns="0" rIns="0" bIns="0" rtlCol="0" anchor="ctr"/>
          <a:lstStyle/>
          <a:p>
            <a:pPr indent="0" marL="0">
              <a:buNone/>
            </a:pPr>
            <a:r>
              <a:rPr lang="en-US" sz="1100" dirty="0">
                <a:solidFill>
                  <a:srgbClr val="0C1B2E"/>
                </a:solidFill>
                <a:latin typeface="Lato" pitchFamily="34" charset="0"/>
                <a:ea typeface="Lato" pitchFamily="34" charset="-122"/>
                <a:cs typeface="Lato" pitchFamily="34" charset="-120"/>
              </a:rPr>
              <a:t>Tool-selection accuracy</a:t>
            </a:r>
            <a:endParaRPr lang="en-US" sz="1100" dirty="0"/>
          </a:p>
        </p:txBody>
      </p:sp>
      <p:sp>
        <p:nvSpPr>
          <p:cNvPr id="18" name="Text 16"/>
          <p:cNvSpPr/>
          <p:nvPr/>
        </p:nvSpPr>
        <p:spPr>
          <a:xfrm>
            <a:off x="3670402" y="3557016"/>
            <a:ext cx="1541678" cy="420624"/>
          </a:xfrm>
          <a:prstGeom prst="rect">
            <a:avLst/>
          </a:prstGeom>
          <a:noFill/>
          <a:ln/>
        </p:spPr>
        <p:txBody>
          <a:bodyPr wrap="square" lIns="0" tIns="0" rIns="0" bIns="0" rtlCol="0" anchor="ctr"/>
          <a:lstStyle/>
          <a:p>
            <a:pPr indent="0" marL="0">
              <a:buNone/>
            </a:pPr>
            <a:r>
              <a:rPr lang="en-US" sz="1200" b="1" dirty="0">
                <a:solidFill>
                  <a:srgbClr val="1483C8"/>
                </a:solidFill>
                <a:latin typeface="Lato" pitchFamily="34" charset="0"/>
                <a:ea typeface="Lato" pitchFamily="34" charset="-122"/>
                <a:cs typeface="Lato" pitchFamily="34" charset="-120"/>
              </a:rPr>
              <a:t>95%+</a:t>
            </a:r>
            <a:endParaRPr lang="en-US" sz="1200" dirty="0"/>
          </a:p>
        </p:txBody>
      </p:sp>
      <p:sp>
        <p:nvSpPr>
          <p:cNvPr id="19" name="Shape 17"/>
          <p:cNvSpPr/>
          <p:nvPr/>
        </p:nvSpPr>
        <p:spPr>
          <a:xfrm>
            <a:off x="685800" y="3977640"/>
            <a:ext cx="4663440" cy="420624"/>
          </a:xfrm>
          <a:prstGeom prst="rect">
            <a:avLst/>
          </a:prstGeom>
          <a:solidFill>
            <a:srgbClr val="FFFFFF"/>
          </a:solidFill>
          <a:ln w="6350">
            <a:solidFill>
              <a:srgbClr val="E2E7ED"/>
            </a:solidFill>
            <a:prstDash val="solid"/>
          </a:ln>
        </p:spPr>
      </p:sp>
      <p:sp>
        <p:nvSpPr>
          <p:cNvPr id="20" name="Text 18"/>
          <p:cNvSpPr/>
          <p:nvPr/>
        </p:nvSpPr>
        <p:spPr>
          <a:xfrm>
            <a:off x="886968" y="3977640"/>
            <a:ext cx="2984602" cy="420624"/>
          </a:xfrm>
          <a:prstGeom prst="rect">
            <a:avLst/>
          </a:prstGeom>
          <a:noFill/>
          <a:ln/>
        </p:spPr>
        <p:txBody>
          <a:bodyPr wrap="square" lIns="0" tIns="0" rIns="0" bIns="0" rtlCol="0" anchor="ctr"/>
          <a:lstStyle/>
          <a:p>
            <a:pPr indent="0" marL="0">
              <a:buNone/>
            </a:pPr>
            <a:r>
              <a:rPr lang="en-US" sz="1100" dirty="0">
                <a:solidFill>
                  <a:srgbClr val="0C1B2E"/>
                </a:solidFill>
                <a:latin typeface="Lato" pitchFamily="34" charset="0"/>
                <a:ea typeface="Lato" pitchFamily="34" charset="-122"/>
                <a:cs typeface="Lato" pitchFamily="34" charset="-120"/>
              </a:rPr>
              <a:t>Hallucination rate</a:t>
            </a:r>
            <a:endParaRPr lang="en-US" sz="1100" dirty="0"/>
          </a:p>
        </p:txBody>
      </p:sp>
      <p:sp>
        <p:nvSpPr>
          <p:cNvPr id="21" name="Text 19"/>
          <p:cNvSpPr/>
          <p:nvPr/>
        </p:nvSpPr>
        <p:spPr>
          <a:xfrm>
            <a:off x="3670402" y="3977640"/>
            <a:ext cx="1541678" cy="420624"/>
          </a:xfrm>
          <a:prstGeom prst="rect">
            <a:avLst/>
          </a:prstGeom>
          <a:noFill/>
          <a:ln/>
        </p:spPr>
        <p:txBody>
          <a:bodyPr wrap="square" lIns="0" tIns="0" rIns="0" bIns="0" rtlCol="0" anchor="ctr"/>
          <a:lstStyle/>
          <a:p>
            <a:pPr indent="0" marL="0">
              <a:buNone/>
            </a:pPr>
            <a:r>
              <a:rPr lang="en-US" sz="1200" b="1" dirty="0">
                <a:solidFill>
                  <a:srgbClr val="1483C8"/>
                </a:solidFill>
                <a:latin typeface="Lato" pitchFamily="34" charset="0"/>
                <a:ea typeface="Lato" pitchFamily="34" charset="-122"/>
                <a:cs typeface="Lato" pitchFamily="34" charset="-120"/>
              </a:rPr>
              <a:t>&lt;2%</a:t>
            </a:r>
            <a:endParaRPr lang="en-US" sz="1200" dirty="0"/>
          </a:p>
        </p:txBody>
      </p:sp>
      <p:sp>
        <p:nvSpPr>
          <p:cNvPr id="22" name="Shape 20"/>
          <p:cNvSpPr/>
          <p:nvPr/>
        </p:nvSpPr>
        <p:spPr>
          <a:xfrm>
            <a:off x="5669280" y="1874520"/>
            <a:ext cx="2880360" cy="1051560"/>
          </a:xfrm>
          <a:prstGeom prst="roundRect">
            <a:avLst>
              <a:gd name="adj" fmla="val 4348"/>
            </a:avLst>
          </a:prstGeom>
          <a:solidFill>
            <a:srgbClr val="FFFFFF"/>
          </a:solidFill>
          <a:ln w="12700">
            <a:solidFill>
              <a:srgbClr val="E2E7ED"/>
            </a:solidFill>
            <a:prstDash val="solid"/>
          </a:ln>
        </p:spPr>
      </p:sp>
      <p:sp>
        <p:nvSpPr>
          <p:cNvPr id="23" name="Text 21"/>
          <p:cNvSpPr/>
          <p:nvPr/>
        </p:nvSpPr>
        <p:spPr>
          <a:xfrm>
            <a:off x="5870448" y="1984248"/>
            <a:ext cx="2560320" cy="274320"/>
          </a:xfrm>
          <a:prstGeom prst="rect">
            <a:avLst/>
          </a:prstGeom>
          <a:noFill/>
          <a:ln/>
        </p:spPr>
        <p:txBody>
          <a:bodyPr wrap="square" lIns="0" tIns="0" rIns="0" bIns="0" rtlCol="0" anchor="ctr"/>
          <a:lstStyle/>
          <a:p>
            <a:pPr indent="0" marL="0">
              <a:buNone/>
            </a:pPr>
            <a:r>
              <a:rPr lang="en-US" sz="1000" dirty="0">
                <a:solidFill>
                  <a:srgbClr val="5B6B7B"/>
                </a:solidFill>
                <a:latin typeface="Lato" pitchFamily="34" charset="0"/>
                <a:ea typeface="Lato" pitchFamily="34" charset="-122"/>
                <a:cs typeface="Lato" pitchFamily="34" charset="-120"/>
              </a:rPr>
              <a:t>Before purpose-built tools</a:t>
            </a:r>
            <a:endParaRPr lang="en-US" sz="1000" dirty="0"/>
          </a:p>
        </p:txBody>
      </p:sp>
      <p:sp>
        <p:nvSpPr>
          <p:cNvPr id="24" name="Text 22"/>
          <p:cNvSpPr/>
          <p:nvPr/>
        </p:nvSpPr>
        <p:spPr>
          <a:xfrm>
            <a:off x="5870448" y="2194560"/>
            <a:ext cx="2560320" cy="640080"/>
          </a:xfrm>
          <a:prstGeom prst="rect">
            <a:avLst/>
          </a:prstGeom>
          <a:noFill/>
          <a:ln/>
        </p:spPr>
        <p:txBody>
          <a:bodyPr wrap="square" lIns="0" tIns="0" rIns="0" bIns="0" rtlCol="0" anchor="ctr"/>
          <a:lstStyle/>
          <a:p>
            <a:pPr indent="0" marL="0">
              <a:buNone/>
            </a:pPr>
            <a:r>
              <a:rPr lang="en-US" sz="3400" b="1" dirty="0">
                <a:solidFill>
                  <a:srgbClr val="5B6B7B"/>
                </a:solidFill>
                <a:latin typeface="Lato" pitchFamily="34" charset="0"/>
                <a:ea typeface="Lato" pitchFamily="34" charset="-122"/>
                <a:cs typeface="Lato" pitchFamily="34" charset="-120"/>
              </a:rPr>
              <a:t>82%</a:t>
            </a:r>
            <a:endParaRPr lang="en-US" sz="3400" dirty="0"/>
          </a:p>
        </p:txBody>
      </p:sp>
      <p:sp>
        <p:nvSpPr>
          <p:cNvPr id="25" name="Shape 23"/>
          <p:cNvSpPr/>
          <p:nvPr/>
        </p:nvSpPr>
        <p:spPr>
          <a:xfrm>
            <a:off x="5669280" y="3063240"/>
            <a:ext cx="2880360" cy="1143000"/>
          </a:xfrm>
          <a:prstGeom prst="roundRect">
            <a:avLst>
              <a:gd name="adj" fmla="val 4000"/>
            </a:avLst>
          </a:prstGeom>
          <a:solidFill>
            <a:srgbClr val="0C1B2E"/>
          </a:solidFill>
          <a:ln/>
        </p:spPr>
      </p:sp>
      <p:sp>
        <p:nvSpPr>
          <p:cNvPr id="26" name="Text 24"/>
          <p:cNvSpPr/>
          <p:nvPr/>
        </p:nvSpPr>
        <p:spPr>
          <a:xfrm>
            <a:off x="5870448" y="3182112"/>
            <a:ext cx="2560320" cy="274320"/>
          </a:xfrm>
          <a:prstGeom prst="rect">
            <a:avLst/>
          </a:prstGeom>
          <a:noFill/>
          <a:ln/>
        </p:spPr>
        <p:txBody>
          <a:bodyPr wrap="square" lIns="0" tIns="0" rIns="0" bIns="0" rtlCol="0" anchor="ctr"/>
          <a:lstStyle/>
          <a:p>
            <a:pPr indent="0" marL="0">
              <a:buNone/>
            </a:pPr>
            <a:r>
              <a:rPr lang="en-US" sz="1000" dirty="0">
                <a:solidFill>
                  <a:srgbClr val="4FB0E8"/>
                </a:solidFill>
                <a:latin typeface="Lato" pitchFamily="34" charset="0"/>
                <a:ea typeface="Lato" pitchFamily="34" charset="-122"/>
                <a:cs typeface="Lato" pitchFamily="34" charset="-120"/>
              </a:rPr>
              <a:t>After FEMA-specific tools</a:t>
            </a:r>
            <a:endParaRPr lang="en-US" sz="1000" dirty="0"/>
          </a:p>
        </p:txBody>
      </p:sp>
      <p:sp>
        <p:nvSpPr>
          <p:cNvPr id="27" name="Text 25"/>
          <p:cNvSpPr/>
          <p:nvPr/>
        </p:nvSpPr>
        <p:spPr>
          <a:xfrm>
            <a:off x="5870448" y="3401568"/>
            <a:ext cx="1463040" cy="685800"/>
          </a:xfrm>
          <a:prstGeom prst="rect">
            <a:avLst/>
          </a:prstGeom>
          <a:noFill/>
          <a:ln/>
        </p:spPr>
        <p:txBody>
          <a:bodyPr wrap="square" lIns="0" tIns="0" rIns="0" bIns="0" rtlCol="0" anchor="ctr"/>
          <a:lstStyle/>
          <a:p>
            <a:pPr indent="0" marL="0">
              <a:buNone/>
            </a:pPr>
            <a:r>
              <a:rPr lang="en-US" sz="3800" b="1" dirty="0">
                <a:solidFill>
                  <a:srgbClr val="FFFFFF"/>
                </a:solidFill>
                <a:latin typeface="Lato" pitchFamily="34" charset="0"/>
                <a:ea typeface="Lato" pitchFamily="34" charset="-122"/>
                <a:cs typeface="Lato" pitchFamily="34" charset="-120"/>
              </a:rPr>
              <a:t>97%</a:t>
            </a:r>
            <a:endParaRPr lang="en-US" sz="3800" dirty="0"/>
          </a:p>
        </p:txBody>
      </p:sp>
      <p:sp>
        <p:nvSpPr>
          <p:cNvPr id="28" name="Text 26"/>
          <p:cNvSpPr/>
          <p:nvPr/>
        </p:nvSpPr>
        <p:spPr>
          <a:xfrm>
            <a:off x="7360920" y="3520440"/>
            <a:ext cx="1097280" cy="548640"/>
          </a:xfrm>
          <a:prstGeom prst="rect">
            <a:avLst/>
          </a:prstGeom>
          <a:noFill/>
          <a:ln/>
        </p:spPr>
        <p:txBody>
          <a:bodyPr wrap="square" lIns="0" tIns="0" rIns="0" bIns="0" rtlCol="0" anchor="ctr"/>
          <a:lstStyle/>
          <a:p>
            <a:pPr indent="0" marL="0">
              <a:lnSpc>
                <a:spcPts val="1000"/>
              </a:lnSpc>
              <a:buNone/>
            </a:pPr>
            <a:r>
              <a:rPr lang="en-US" sz="850" dirty="0">
                <a:solidFill>
                  <a:srgbClr val="4FB0E8"/>
                </a:solidFill>
                <a:latin typeface="Lato" pitchFamily="34" charset="0"/>
                <a:ea typeface="Lato" pitchFamily="34" charset="-122"/>
                <a:cs typeface="Lato" pitchFamily="34" charset="-120"/>
              </a:rPr>
              <a:t>retrieval</a:t>
            </a:r>
            <a:endParaRPr lang="en-US" sz="850" dirty="0"/>
          </a:p>
          <a:p>
            <a:pPr indent="0" marL="0">
              <a:lnSpc>
                <a:spcPts val="1000"/>
              </a:lnSpc>
              <a:buNone/>
            </a:pPr>
            <a:r>
              <a:rPr lang="en-US" sz="850" dirty="0">
                <a:solidFill>
                  <a:srgbClr val="4FB0E8"/>
                </a:solidFill>
                <a:latin typeface="Lato" pitchFamily="34" charset="0"/>
                <a:ea typeface="Lato" pitchFamily="34" charset="-122"/>
                <a:cs typeface="Lato" pitchFamily="34" charset="-120"/>
              </a:rPr>
              <a:t>accuracy</a:t>
            </a:r>
            <a:endParaRPr lang="en-US" sz="850" dirty="0"/>
          </a:p>
        </p:txBody>
      </p:sp>
      <p:sp>
        <p:nvSpPr>
          <p:cNvPr id="29" name="Text 27"/>
          <p:cNvSpPr/>
          <p:nvPr/>
        </p:nvSpPr>
        <p:spPr>
          <a:xfrm>
            <a:off x="685800" y="4370832"/>
            <a:ext cx="7863840" cy="365760"/>
          </a:xfrm>
          <a:prstGeom prst="rect">
            <a:avLst/>
          </a:prstGeom>
          <a:noFill/>
          <a:ln/>
        </p:spPr>
        <p:txBody>
          <a:bodyPr wrap="square" lIns="0" tIns="0" rIns="0" bIns="0" rtlCol="0" anchor="ctr"/>
          <a:lstStyle/>
          <a:p>
            <a:pPr indent="0" marL="0">
              <a:buNone/>
            </a:pPr>
            <a:r>
              <a:rPr lang="en-US" sz="900" i="1" dirty="0">
                <a:solidFill>
                  <a:srgbClr val="E8681C"/>
                </a:solidFill>
                <a:latin typeface="Lato" pitchFamily="34" charset="0"/>
                <a:ea typeface="Lato" pitchFamily="34" charset="-122"/>
                <a:cs typeface="Lato" pitchFamily="34" charset="-120"/>
              </a:rPr>
              <a:t>Targets reflect the OIG-audit emulation plan. Replace the before/after with your measured 100-question run against the five tools before submission.</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48640"/>
            <a:ext cx="7772400" cy="274320"/>
          </a:xfrm>
          <a:prstGeom prst="rect">
            <a:avLst/>
          </a:prstGeom>
          <a:noFill/>
          <a:ln/>
        </p:spPr>
        <p:txBody>
          <a:bodyPr wrap="square" lIns="0" tIns="0" rIns="0" bIns="0" rtlCol="0" anchor="ctr"/>
          <a:lstStyle/>
          <a:p>
            <a:pPr indent="0" marL="0">
              <a:buNone/>
            </a:pPr>
            <a:r>
              <a:rPr lang="en-US" sz="1100" b="1" spc="150" kern="0" dirty="0">
                <a:solidFill>
                  <a:srgbClr val="1483C8"/>
                </a:solidFill>
                <a:latin typeface="Lato" pitchFamily="34" charset="0"/>
                <a:ea typeface="Lato" pitchFamily="34" charset="-122"/>
                <a:cs typeface="Lato" pitchFamily="34" charset="-120"/>
              </a:rPr>
              <a:t>WHAT IS NOVEL</a:t>
            </a:r>
            <a:endParaRPr lang="en-US" sz="1100" dirty="0"/>
          </a:p>
        </p:txBody>
      </p:sp>
      <p:sp>
        <p:nvSpPr>
          <p:cNvPr id="3" name="Text 1"/>
          <p:cNvSpPr/>
          <p:nvPr/>
        </p:nvSpPr>
        <p:spPr>
          <a:xfrm>
            <a:off x="667512" y="822960"/>
            <a:ext cx="7863840" cy="658368"/>
          </a:xfrm>
          <a:prstGeom prst="rect">
            <a:avLst/>
          </a:prstGeom>
          <a:noFill/>
          <a:ln/>
        </p:spPr>
        <p:txBody>
          <a:bodyPr wrap="square" lIns="0" tIns="0" rIns="0" bIns="0" rtlCol="0" anchor="ctr"/>
          <a:lstStyle/>
          <a:p>
            <a:pPr indent="0" marL="0">
              <a:buNone/>
            </a:pPr>
            <a:r>
              <a:rPr lang="en-US" sz="3200" b="1" dirty="0">
                <a:solidFill>
                  <a:srgbClr val="0C1B2E"/>
                </a:solidFill>
                <a:latin typeface="Lato" pitchFamily="34" charset="0"/>
                <a:ea typeface="Lato" pitchFamily="34" charset="-122"/>
                <a:cs typeface="Lato" pitchFamily="34" charset="-120"/>
              </a:rPr>
              <a:t>Not API access. Encoded oversight.</a:t>
            </a:r>
            <a:endParaRPr lang="en-US" sz="3200" dirty="0"/>
          </a:p>
        </p:txBody>
      </p:sp>
      <p:sp>
        <p:nvSpPr>
          <p:cNvPr id="4" name="Text 2"/>
          <p:cNvSpPr/>
          <p:nvPr/>
        </p:nvSpPr>
        <p:spPr>
          <a:xfrm>
            <a:off x="685800" y="1517904"/>
            <a:ext cx="7589520" cy="548640"/>
          </a:xfrm>
          <a:prstGeom prst="rect">
            <a:avLst/>
          </a:prstGeom>
          <a:noFill/>
          <a:ln/>
        </p:spPr>
        <p:txBody>
          <a:bodyPr wrap="square" lIns="0" tIns="0" rIns="0" bIns="0" rtlCol="0" anchor="ctr"/>
          <a:lstStyle/>
          <a:p>
            <a:pPr indent="0" marL="0">
              <a:lnSpc>
                <a:spcPts val="1900"/>
              </a:lnSpc>
              <a:buNone/>
            </a:pPr>
            <a:r>
              <a:rPr lang="en-US" sz="1350" dirty="0">
                <a:solidFill>
                  <a:srgbClr val="5B6B7B"/>
                </a:solidFill>
                <a:latin typeface="Lato" pitchFamily="34" charset="0"/>
                <a:ea typeface="Lato" pitchFamily="34" charset="-122"/>
                <a:cs typeface="Lato" pitchFamily="34" charset="-120"/>
              </a:rPr>
              <a:t>Most MCP servers wrap an endpoint. Ours encodes FEMA oversight expertise end to end.</a:t>
            </a:r>
            <a:endParaRPr lang="en-US" sz="1350" dirty="0"/>
          </a:p>
        </p:txBody>
      </p:sp>
      <p:sp>
        <p:nvSpPr>
          <p:cNvPr id="5" name="Text 3"/>
          <p:cNvSpPr/>
          <p:nvPr/>
        </p:nvSpPr>
        <p:spPr>
          <a:xfrm>
            <a:off x="685800" y="2011680"/>
            <a:ext cx="7315200" cy="256032"/>
          </a:xfrm>
          <a:prstGeom prst="rect">
            <a:avLst/>
          </a:prstGeom>
          <a:noFill/>
          <a:ln/>
        </p:spPr>
        <p:txBody>
          <a:bodyPr wrap="square" lIns="0" tIns="0" rIns="0" bIns="0" rtlCol="0" anchor="ctr"/>
          <a:lstStyle/>
          <a:p>
            <a:pPr indent="0" marL="0">
              <a:buNone/>
            </a:pPr>
            <a:r>
              <a:rPr lang="en-US" sz="1000" b="1" spc="100" kern="0" dirty="0">
                <a:solidFill>
                  <a:srgbClr val="5B6B7B"/>
                </a:solidFill>
                <a:latin typeface="Lato" pitchFamily="34" charset="0"/>
                <a:ea typeface="Lato" pitchFamily="34" charset="-122"/>
                <a:cs typeface="Lato" pitchFamily="34" charset="-120"/>
              </a:rPr>
              <a:t>MOST MCP SERVERS</a:t>
            </a:r>
            <a:endParaRPr lang="en-US" sz="1000" dirty="0"/>
          </a:p>
        </p:txBody>
      </p:sp>
      <p:sp>
        <p:nvSpPr>
          <p:cNvPr id="6" name="Shape 4"/>
          <p:cNvSpPr/>
          <p:nvPr/>
        </p:nvSpPr>
        <p:spPr>
          <a:xfrm>
            <a:off x="685800" y="2286000"/>
            <a:ext cx="1554480" cy="548640"/>
          </a:xfrm>
          <a:prstGeom prst="roundRect">
            <a:avLst>
              <a:gd name="adj" fmla="val 8333"/>
            </a:avLst>
          </a:prstGeom>
          <a:solidFill>
            <a:srgbClr val="EEF1F4"/>
          </a:solidFill>
          <a:ln w="12700">
            <a:solidFill>
              <a:srgbClr val="C7D0D9"/>
            </a:solidFill>
            <a:prstDash val="solid"/>
          </a:ln>
        </p:spPr>
      </p:sp>
      <p:sp>
        <p:nvSpPr>
          <p:cNvPr id="7" name="Text 5"/>
          <p:cNvSpPr/>
          <p:nvPr/>
        </p:nvSpPr>
        <p:spPr>
          <a:xfrm>
            <a:off x="685800" y="2286000"/>
            <a:ext cx="1554480" cy="548640"/>
          </a:xfrm>
          <a:prstGeom prst="rect">
            <a:avLst/>
          </a:prstGeom>
          <a:noFill/>
          <a:ln/>
        </p:spPr>
        <p:txBody>
          <a:bodyPr wrap="square" lIns="0" tIns="0" rIns="0" bIns="0" rtlCol="0" anchor="ctr"/>
          <a:lstStyle/>
          <a:p>
            <a:pPr algn="ctr" indent="0" marL="0">
              <a:buNone/>
            </a:pPr>
            <a:r>
              <a:rPr lang="en-US" sz="1200" b="1" dirty="0">
                <a:solidFill>
                  <a:srgbClr val="5B6B7B"/>
                </a:solidFill>
                <a:latin typeface="Lato" pitchFamily="34" charset="0"/>
                <a:ea typeface="Lato" pitchFamily="34" charset="-122"/>
                <a:cs typeface="Lato" pitchFamily="34" charset="-120"/>
              </a:rPr>
              <a:t>Question</a:t>
            </a:r>
            <a:endParaRPr lang="en-US" sz="1200" dirty="0"/>
          </a:p>
        </p:txBody>
      </p:sp>
      <p:sp>
        <p:nvSpPr>
          <p:cNvPr id="8" name="Shape 6"/>
          <p:cNvSpPr/>
          <p:nvPr/>
        </p:nvSpPr>
        <p:spPr>
          <a:xfrm>
            <a:off x="2286000" y="2560320"/>
            <a:ext cx="320040" cy="0"/>
          </a:xfrm>
          <a:prstGeom prst="line">
            <a:avLst/>
          </a:prstGeom>
          <a:noFill/>
          <a:ln w="19050">
            <a:solidFill>
              <a:srgbClr val="9AA7B8"/>
            </a:solidFill>
            <a:prstDash val="solid"/>
            <a:tailEnd type="arrow"/>
          </a:ln>
        </p:spPr>
      </p:sp>
      <p:sp>
        <p:nvSpPr>
          <p:cNvPr id="9" name="Shape 7"/>
          <p:cNvSpPr/>
          <p:nvPr/>
        </p:nvSpPr>
        <p:spPr>
          <a:xfrm>
            <a:off x="2651760" y="2286000"/>
            <a:ext cx="1554480" cy="548640"/>
          </a:xfrm>
          <a:prstGeom prst="roundRect">
            <a:avLst>
              <a:gd name="adj" fmla="val 8333"/>
            </a:avLst>
          </a:prstGeom>
          <a:solidFill>
            <a:srgbClr val="EEF1F4"/>
          </a:solidFill>
          <a:ln w="12700">
            <a:solidFill>
              <a:srgbClr val="C7D0D9"/>
            </a:solidFill>
            <a:prstDash val="solid"/>
          </a:ln>
        </p:spPr>
      </p:sp>
      <p:sp>
        <p:nvSpPr>
          <p:cNvPr id="10" name="Text 8"/>
          <p:cNvSpPr/>
          <p:nvPr/>
        </p:nvSpPr>
        <p:spPr>
          <a:xfrm>
            <a:off x="2651760" y="2286000"/>
            <a:ext cx="1554480" cy="548640"/>
          </a:xfrm>
          <a:prstGeom prst="rect">
            <a:avLst/>
          </a:prstGeom>
          <a:noFill/>
          <a:ln/>
        </p:spPr>
        <p:txBody>
          <a:bodyPr wrap="square" lIns="0" tIns="0" rIns="0" bIns="0" rtlCol="0" anchor="ctr"/>
          <a:lstStyle/>
          <a:p>
            <a:pPr algn="ctr" indent="0" marL="0">
              <a:buNone/>
            </a:pPr>
            <a:r>
              <a:rPr lang="en-US" sz="1200" b="1" dirty="0">
                <a:solidFill>
                  <a:srgbClr val="5B6B7B"/>
                </a:solidFill>
                <a:latin typeface="Lato" pitchFamily="34" charset="0"/>
                <a:ea typeface="Lato" pitchFamily="34" charset="-122"/>
                <a:cs typeface="Lato" pitchFamily="34" charset="-120"/>
              </a:rPr>
              <a:t>API</a:t>
            </a:r>
            <a:endParaRPr lang="en-US" sz="1200" dirty="0"/>
          </a:p>
        </p:txBody>
      </p:sp>
      <p:sp>
        <p:nvSpPr>
          <p:cNvPr id="11" name="Text 9"/>
          <p:cNvSpPr/>
          <p:nvPr/>
        </p:nvSpPr>
        <p:spPr>
          <a:xfrm>
            <a:off x="685800" y="3108960"/>
            <a:ext cx="7315200" cy="256032"/>
          </a:xfrm>
          <a:prstGeom prst="rect">
            <a:avLst/>
          </a:prstGeom>
          <a:noFill/>
          <a:ln/>
        </p:spPr>
        <p:txBody>
          <a:bodyPr wrap="square" lIns="0" tIns="0" rIns="0" bIns="0" rtlCol="0" anchor="ctr"/>
          <a:lstStyle/>
          <a:p>
            <a:pPr indent="0" marL="0">
              <a:buNone/>
            </a:pPr>
            <a:r>
              <a:rPr lang="en-US" sz="1000" b="1" spc="100" kern="0" dirty="0">
                <a:solidFill>
                  <a:srgbClr val="1483C8"/>
                </a:solidFill>
                <a:latin typeface="Lato" pitchFamily="34" charset="0"/>
                <a:ea typeface="Lato" pitchFamily="34" charset="-122"/>
                <a:cs typeface="Lato" pitchFamily="34" charset="-120"/>
              </a:rPr>
              <a:t>OUR OVERSIGHT MCP</a:t>
            </a:r>
            <a:endParaRPr lang="en-US" sz="1000" dirty="0"/>
          </a:p>
        </p:txBody>
      </p:sp>
      <p:sp>
        <p:nvSpPr>
          <p:cNvPr id="12" name="Shape 10"/>
          <p:cNvSpPr/>
          <p:nvPr/>
        </p:nvSpPr>
        <p:spPr>
          <a:xfrm>
            <a:off x="685800" y="3383280"/>
            <a:ext cx="1517904" cy="658368"/>
          </a:xfrm>
          <a:prstGeom prst="roundRect">
            <a:avLst>
              <a:gd name="adj" fmla="val 6944"/>
            </a:avLst>
          </a:prstGeom>
          <a:solidFill>
            <a:srgbClr val="FFFFFF"/>
          </a:solidFill>
          <a:ln w="12700">
            <a:solidFill>
              <a:srgbClr val="1483C8"/>
            </a:solidFill>
            <a:prstDash val="solid"/>
          </a:ln>
        </p:spPr>
      </p:sp>
      <p:sp>
        <p:nvSpPr>
          <p:cNvPr id="13" name="Text 11"/>
          <p:cNvSpPr/>
          <p:nvPr/>
        </p:nvSpPr>
        <p:spPr>
          <a:xfrm>
            <a:off x="731520" y="3383280"/>
            <a:ext cx="1426464" cy="658368"/>
          </a:xfrm>
          <a:prstGeom prst="rect">
            <a:avLst/>
          </a:prstGeom>
          <a:noFill/>
          <a:ln/>
        </p:spPr>
        <p:txBody>
          <a:bodyPr wrap="square" lIns="0" tIns="0" rIns="0" bIns="0" rtlCol="0" anchor="ctr"/>
          <a:lstStyle/>
          <a:p>
            <a:pPr algn="ctr" indent="0" marL="0">
              <a:lnSpc>
                <a:spcPts val="1100"/>
              </a:lnSpc>
              <a:buNone/>
            </a:pPr>
            <a:r>
              <a:rPr lang="en-US" sz="950" b="1" dirty="0">
                <a:solidFill>
                  <a:srgbClr val="0C1B2E"/>
                </a:solidFill>
                <a:latin typeface="Lato" pitchFamily="34" charset="0"/>
                <a:ea typeface="Lato" pitchFamily="34" charset="-122"/>
                <a:cs typeface="Lato" pitchFamily="34" charset="-120"/>
              </a:rPr>
              <a:t>Question</a:t>
            </a:r>
            <a:endParaRPr lang="en-US" sz="950" dirty="0"/>
          </a:p>
        </p:txBody>
      </p:sp>
      <p:sp>
        <p:nvSpPr>
          <p:cNvPr id="14" name="Shape 12"/>
          <p:cNvSpPr/>
          <p:nvPr/>
        </p:nvSpPr>
        <p:spPr>
          <a:xfrm>
            <a:off x="2231136" y="3712464"/>
            <a:ext cx="146304" cy="0"/>
          </a:xfrm>
          <a:prstGeom prst="line">
            <a:avLst/>
          </a:prstGeom>
          <a:noFill/>
          <a:ln w="19050">
            <a:solidFill>
              <a:srgbClr val="1483C8"/>
            </a:solidFill>
            <a:prstDash val="solid"/>
            <a:tailEnd type="arrow"/>
          </a:ln>
        </p:spPr>
      </p:sp>
      <p:sp>
        <p:nvSpPr>
          <p:cNvPr id="15" name="Shape 13"/>
          <p:cNvSpPr/>
          <p:nvPr/>
        </p:nvSpPr>
        <p:spPr>
          <a:xfrm>
            <a:off x="2423160" y="3383280"/>
            <a:ext cx="1517904" cy="658368"/>
          </a:xfrm>
          <a:prstGeom prst="roundRect">
            <a:avLst>
              <a:gd name="adj" fmla="val 6944"/>
            </a:avLst>
          </a:prstGeom>
          <a:solidFill>
            <a:srgbClr val="0C1B2E"/>
          </a:solidFill>
          <a:ln w="12700">
            <a:solidFill>
              <a:srgbClr val="0C1B2E"/>
            </a:solidFill>
            <a:prstDash val="solid"/>
          </a:ln>
        </p:spPr>
      </p:sp>
      <p:sp>
        <p:nvSpPr>
          <p:cNvPr id="16" name="Text 14"/>
          <p:cNvSpPr/>
          <p:nvPr/>
        </p:nvSpPr>
        <p:spPr>
          <a:xfrm>
            <a:off x="2468880" y="3383280"/>
            <a:ext cx="1426464" cy="658368"/>
          </a:xfrm>
          <a:prstGeom prst="rect">
            <a:avLst/>
          </a:prstGeom>
          <a:noFill/>
          <a:ln/>
        </p:spPr>
        <p:txBody>
          <a:bodyPr wrap="square" lIns="0" tIns="0" rIns="0" bIns="0" rtlCol="0" anchor="ctr"/>
          <a:lstStyle/>
          <a:p>
            <a:pPr algn="ctr" indent="0" marL="0">
              <a:lnSpc>
                <a:spcPts val="1100"/>
              </a:lnSpc>
              <a:buNone/>
            </a:pPr>
            <a:r>
              <a:rPr lang="en-US" sz="950" b="1" dirty="0">
                <a:solidFill>
                  <a:srgbClr val="FFFFFF"/>
                </a:solidFill>
                <a:latin typeface="Lato" pitchFamily="34" charset="0"/>
                <a:ea typeface="Lato" pitchFamily="34" charset="-122"/>
                <a:cs typeface="Lato" pitchFamily="34" charset="-120"/>
              </a:rPr>
              <a:t>FEMA Domain Logic</a:t>
            </a:r>
            <a:endParaRPr lang="en-US" sz="950" dirty="0"/>
          </a:p>
        </p:txBody>
      </p:sp>
      <p:sp>
        <p:nvSpPr>
          <p:cNvPr id="17" name="Shape 15"/>
          <p:cNvSpPr/>
          <p:nvPr/>
        </p:nvSpPr>
        <p:spPr>
          <a:xfrm>
            <a:off x="3968496" y="3712464"/>
            <a:ext cx="146304" cy="0"/>
          </a:xfrm>
          <a:prstGeom prst="line">
            <a:avLst/>
          </a:prstGeom>
          <a:noFill/>
          <a:ln w="19050">
            <a:solidFill>
              <a:srgbClr val="1483C8"/>
            </a:solidFill>
            <a:prstDash val="solid"/>
            <a:tailEnd type="arrow"/>
          </a:ln>
        </p:spPr>
      </p:sp>
      <p:sp>
        <p:nvSpPr>
          <p:cNvPr id="18" name="Shape 16"/>
          <p:cNvSpPr/>
          <p:nvPr/>
        </p:nvSpPr>
        <p:spPr>
          <a:xfrm>
            <a:off x="4160520" y="3383280"/>
            <a:ext cx="1517904" cy="658368"/>
          </a:xfrm>
          <a:prstGeom prst="roundRect">
            <a:avLst>
              <a:gd name="adj" fmla="val 6944"/>
            </a:avLst>
          </a:prstGeom>
          <a:solidFill>
            <a:srgbClr val="FFFFFF"/>
          </a:solidFill>
          <a:ln w="12700">
            <a:solidFill>
              <a:srgbClr val="1483C8"/>
            </a:solidFill>
            <a:prstDash val="solid"/>
          </a:ln>
        </p:spPr>
      </p:sp>
      <p:sp>
        <p:nvSpPr>
          <p:cNvPr id="19" name="Text 17"/>
          <p:cNvSpPr/>
          <p:nvPr/>
        </p:nvSpPr>
        <p:spPr>
          <a:xfrm>
            <a:off x="4206240" y="3383280"/>
            <a:ext cx="1426464" cy="658368"/>
          </a:xfrm>
          <a:prstGeom prst="rect">
            <a:avLst/>
          </a:prstGeom>
          <a:noFill/>
          <a:ln/>
        </p:spPr>
        <p:txBody>
          <a:bodyPr wrap="square" lIns="0" tIns="0" rIns="0" bIns="0" rtlCol="0" anchor="ctr"/>
          <a:lstStyle/>
          <a:p>
            <a:pPr algn="ctr" indent="0" marL="0">
              <a:lnSpc>
                <a:spcPts val="1100"/>
              </a:lnSpc>
              <a:buNone/>
            </a:pPr>
            <a:r>
              <a:rPr lang="en-US" sz="950" b="1" dirty="0">
                <a:solidFill>
                  <a:srgbClr val="0C1B2E"/>
                </a:solidFill>
                <a:latin typeface="Lato" pitchFamily="34" charset="0"/>
                <a:ea typeface="Lato" pitchFamily="34" charset="-122"/>
                <a:cs typeface="Lato" pitchFamily="34" charset="-120"/>
              </a:rPr>
              <a:t>Evidence Validation</a:t>
            </a:r>
            <a:endParaRPr lang="en-US" sz="950" dirty="0"/>
          </a:p>
        </p:txBody>
      </p:sp>
      <p:sp>
        <p:nvSpPr>
          <p:cNvPr id="20" name="Shape 18"/>
          <p:cNvSpPr/>
          <p:nvPr/>
        </p:nvSpPr>
        <p:spPr>
          <a:xfrm>
            <a:off x="5705856" y="3712464"/>
            <a:ext cx="146304" cy="0"/>
          </a:xfrm>
          <a:prstGeom prst="line">
            <a:avLst/>
          </a:prstGeom>
          <a:noFill/>
          <a:ln w="19050">
            <a:solidFill>
              <a:srgbClr val="1483C8"/>
            </a:solidFill>
            <a:prstDash val="solid"/>
            <a:tailEnd type="arrow"/>
          </a:ln>
        </p:spPr>
      </p:sp>
      <p:sp>
        <p:nvSpPr>
          <p:cNvPr id="21" name="Shape 19"/>
          <p:cNvSpPr/>
          <p:nvPr/>
        </p:nvSpPr>
        <p:spPr>
          <a:xfrm>
            <a:off x="5897880" y="3383280"/>
            <a:ext cx="1517904" cy="658368"/>
          </a:xfrm>
          <a:prstGeom prst="roundRect">
            <a:avLst>
              <a:gd name="adj" fmla="val 6944"/>
            </a:avLst>
          </a:prstGeom>
          <a:solidFill>
            <a:srgbClr val="FFFFFF"/>
          </a:solidFill>
          <a:ln w="12700">
            <a:solidFill>
              <a:srgbClr val="1483C8"/>
            </a:solidFill>
            <a:prstDash val="solid"/>
          </a:ln>
        </p:spPr>
      </p:sp>
      <p:sp>
        <p:nvSpPr>
          <p:cNvPr id="22" name="Text 20"/>
          <p:cNvSpPr/>
          <p:nvPr/>
        </p:nvSpPr>
        <p:spPr>
          <a:xfrm>
            <a:off x="5943600" y="3383280"/>
            <a:ext cx="1426464" cy="658368"/>
          </a:xfrm>
          <a:prstGeom prst="rect">
            <a:avLst/>
          </a:prstGeom>
          <a:noFill/>
          <a:ln/>
        </p:spPr>
        <p:txBody>
          <a:bodyPr wrap="square" lIns="0" tIns="0" rIns="0" bIns="0" rtlCol="0" anchor="ctr"/>
          <a:lstStyle/>
          <a:p>
            <a:pPr algn="ctr" indent="0" marL="0">
              <a:lnSpc>
                <a:spcPts val="1100"/>
              </a:lnSpc>
              <a:buNone/>
            </a:pPr>
            <a:r>
              <a:rPr lang="en-US" sz="950" b="1" dirty="0">
                <a:solidFill>
                  <a:srgbClr val="0C1B2E"/>
                </a:solidFill>
                <a:latin typeface="Lato" pitchFamily="34" charset="0"/>
                <a:ea typeface="Lato" pitchFamily="34" charset="-122"/>
                <a:cs typeface="Lato" pitchFamily="34" charset="-120"/>
              </a:rPr>
              <a:t>Human Review</a:t>
            </a:r>
            <a:endParaRPr lang="en-US" sz="950" dirty="0"/>
          </a:p>
        </p:txBody>
      </p:sp>
      <p:sp>
        <p:nvSpPr>
          <p:cNvPr id="23" name="Shape 21"/>
          <p:cNvSpPr/>
          <p:nvPr/>
        </p:nvSpPr>
        <p:spPr>
          <a:xfrm>
            <a:off x="7443216" y="3712464"/>
            <a:ext cx="146304" cy="0"/>
          </a:xfrm>
          <a:prstGeom prst="line">
            <a:avLst/>
          </a:prstGeom>
          <a:noFill/>
          <a:ln w="19050">
            <a:solidFill>
              <a:srgbClr val="1483C8"/>
            </a:solidFill>
            <a:prstDash val="solid"/>
            <a:tailEnd type="arrow"/>
          </a:ln>
        </p:spPr>
      </p:sp>
      <p:sp>
        <p:nvSpPr>
          <p:cNvPr id="24" name="Shape 22"/>
          <p:cNvSpPr/>
          <p:nvPr/>
        </p:nvSpPr>
        <p:spPr>
          <a:xfrm>
            <a:off x="7635240" y="3383280"/>
            <a:ext cx="1517904" cy="658368"/>
          </a:xfrm>
          <a:prstGeom prst="roundRect">
            <a:avLst>
              <a:gd name="adj" fmla="val 6944"/>
            </a:avLst>
          </a:prstGeom>
          <a:solidFill>
            <a:srgbClr val="0C1B2E"/>
          </a:solidFill>
          <a:ln w="12700">
            <a:solidFill>
              <a:srgbClr val="0C1B2E"/>
            </a:solidFill>
            <a:prstDash val="solid"/>
          </a:ln>
        </p:spPr>
      </p:sp>
      <p:sp>
        <p:nvSpPr>
          <p:cNvPr id="25" name="Text 23"/>
          <p:cNvSpPr/>
          <p:nvPr/>
        </p:nvSpPr>
        <p:spPr>
          <a:xfrm>
            <a:off x="7680960" y="3383280"/>
            <a:ext cx="1426464" cy="658368"/>
          </a:xfrm>
          <a:prstGeom prst="rect">
            <a:avLst/>
          </a:prstGeom>
          <a:noFill/>
          <a:ln/>
        </p:spPr>
        <p:txBody>
          <a:bodyPr wrap="square" lIns="0" tIns="0" rIns="0" bIns="0" rtlCol="0" anchor="ctr"/>
          <a:lstStyle/>
          <a:p>
            <a:pPr algn="ctr" indent="0" marL="0">
              <a:lnSpc>
                <a:spcPts val="1100"/>
              </a:lnSpc>
              <a:buNone/>
            </a:pPr>
            <a:r>
              <a:rPr lang="en-US" sz="950" b="1" dirty="0">
                <a:solidFill>
                  <a:srgbClr val="FFFFFF"/>
                </a:solidFill>
                <a:latin typeface="Lato" pitchFamily="34" charset="0"/>
                <a:ea typeface="Lato" pitchFamily="34" charset="-122"/>
                <a:cs typeface="Lato" pitchFamily="34" charset="-120"/>
              </a:rPr>
              <a:t>Oversight Brief</a:t>
            </a:r>
            <a:endParaRPr lang="en-US" sz="950" dirty="0"/>
          </a:p>
        </p:txBody>
      </p:sp>
      <p:sp>
        <p:nvSpPr>
          <p:cNvPr id="26" name="Text 24"/>
          <p:cNvSpPr/>
          <p:nvPr/>
        </p:nvSpPr>
        <p:spPr>
          <a:xfrm>
            <a:off x="685800" y="4315968"/>
            <a:ext cx="7863840" cy="320040"/>
          </a:xfrm>
          <a:prstGeom prst="rect">
            <a:avLst/>
          </a:prstGeom>
          <a:noFill/>
          <a:ln/>
        </p:spPr>
        <p:txBody>
          <a:bodyPr wrap="square" lIns="0" tIns="0" rIns="0" bIns="0" rtlCol="0" anchor="ctr"/>
          <a:lstStyle/>
          <a:p>
            <a:pPr indent="0" marL="0">
              <a:buNone/>
            </a:pPr>
            <a:r>
              <a:rPr lang="en-US" sz="1300" b="1" dirty="0">
                <a:solidFill>
                  <a:srgbClr val="1483C8"/>
                </a:solidFill>
                <a:latin typeface="Lato" pitchFamily="34" charset="0"/>
                <a:ea typeface="Lato" pitchFamily="34" charset="-122"/>
                <a:cs typeface="Lato" pitchFamily="34" charset="-120"/>
              </a:rPr>
              <a:t>We encoded FEMA oversight expertise, not merely API access.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48640"/>
            <a:ext cx="7772400" cy="274320"/>
          </a:xfrm>
          <a:prstGeom prst="rect">
            <a:avLst/>
          </a:prstGeom>
          <a:noFill/>
          <a:ln/>
        </p:spPr>
        <p:txBody>
          <a:bodyPr wrap="square" lIns="0" tIns="0" rIns="0" bIns="0" rtlCol="0" anchor="ctr"/>
          <a:lstStyle/>
          <a:p>
            <a:pPr indent="0" marL="0">
              <a:buNone/>
            </a:pPr>
            <a:r>
              <a:rPr lang="en-US" sz="1100" b="1" spc="150" kern="0" dirty="0">
                <a:solidFill>
                  <a:srgbClr val="1483C8"/>
                </a:solidFill>
                <a:latin typeface="Lato" pitchFamily="34" charset="0"/>
                <a:ea typeface="Lato" pitchFamily="34" charset="-122"/>
                <a:cs typeface="Lato" pitchFamily="34" charset="-120"/>
              </a:rPr>
              <a:t>SECURITY &amp; GOVERNANCE</a:t>
            </a:r>
            <a:endParaRPr lang="en-US" sz="1100" dirty="0"/>
          </a:p>
        </p:txBody>
      </p:sp>
      <p:sp>
        <p:nvSpPr>
          <p:cNvPr id="3" name="Text 1"/>
          <p:cNvSpPr/>
          <p:nvPr/>
        </p:nvSpPr>
        <p:spPr>
          <a:xfrm>
            <a:off x="667512" y="822960"/>
            <a:ext cx="7863840" cy="658368"/>
          </a:xfrm>
          <a:prstGeom prst="rect">
            <a:avLst/>
          </a:prstGeom>
          <a:noFill/>
          <a:ln/>
        </p:spPr>
        <p:txBody>
          <a:bodyPr wrap="square" lIns="0" tIns="0" rIns="0" bIns="0" rtlCol="0" anchor="ctr"/>
          <a:lstStyle/>
          <a:p>
            <a:pPr indent="0" marL="0">
              <a:buNone/>
            </a:pPr>
            <a:r>
              <a:rPr lang="en-US" sz="3200" b="1" dirty="0">
                <a:solidFill>
                  <a:srgbClr val="0C1B2E"/>
                </a:solidFill>
                <a:latin typeface="Lato" pitchFamily="34" charset="0"/>
                <a:ea typeface="Lato" pitchFamily="34" charset="-122"/>
                <a:cs typeface="Lato" pitchFamily="34" charset="-120"/>
              </a:rPr>
              <a:t>Zero-trust architecture.</a:t>
            </a:r>
            <a:endParaRPr lang="en-US" sz="3200" dirty="0"/>
          </a:p>
        </p:txBody>
      </p:sp>
      <p:sp>
        <p:nvSpPr>
          <p:cNvPr id="4" name="Text 2"/>
          <p:cNvSpPr/>
          <p:nvPr/>
        </p:nvSpPr>
        <p:spPr>
          <a:xfrm>
            <a:off x="685800" y="1517904"/>
            <a:ext cx="7589520" cy="548640"/>
          </a:xfrm>
          <a:prstGeom prst="rect">
            <a:avLst/>
          </a:prstGeom>
          <a:noFill/>
          <a:ln/>
        </p:spPr>
        <p:txBody>
          <a:bodyPr wrap="square" lIns="0" tIns="0" rIns="0" bIns="0" rtlCol="0" anchor="ctr"/>
          <a:lstStyle/>
          <a:p>
            <a:pPr indent="0" marL="0">
              <a:lnSpc>
                <a:spcPts val="1900"/>
              </a:lnSpc>
              <a:buNone/>
            </a:pPr>
            <a:r>
              <a:rPr lang="en-US" sz="1350" dirty="0">
                <a:solidFill>
                  <a:srgbClr val="5B6B7B"/>
                </a:solidFill>
                <a:latin typeface="Lato" pitchFamily="34" charset="0"/>
                <a:ea typeface="Lato" pitchFamily="34" charset="-122"/>
                <a:cs typeface="Lato" pitchFamily="34" charset="-120"/>
              </a:rPr>
              <a:t>Approved tools only, auditable outputs, and human accountability.</a:t>
            </a:r>
            <a:endParaRPr lang="en-US" sz="1350" dirty="0"/>
          </a:p>
        </p:txBody>
      </p:sp>
      <p:sp>
        <p:nvSpPr>
          <p:cNvPr id="5" name="Text 3"/>
          <p:cNvSpPr/>
          <p:nvPr/>
        </p:nvSpPr>
        <p:spPr>
          <a:xfrm>
            <a:off x="685800" y="2011680"/>
            <a:ext cx="7589520" cy="274320"/>
          </a:xfrm>
          <a:prstGeom prst="rect">
            <a:avLst/>
          </a:prstGeom>
          <a:noFill/>
          <a:ln/>
        </p:spPr>
        <p:txBody>
          <a:bodyPr wrap="square" lIns="0" tIns="0" rIns="0" bIns="0" rtlCol="0" anchor="ctr"/>
          <a:lstStyle/>
          <a:p>
            <a:pPr indent="0" marL="0">
              <a:buNone/>
            </a:pPr>
            <a:r>
              <a:rPr lang="en-US" sz="1350" b="1" dirty="0">
                <a:solidFill>
                  <a:srgbClr val="0C1B2E"/>
                </a:solidFill>
                <a:latin typeface="Lato" pitchFamily="34" charset="0"/>
                <a:ea typeface="Lato" pitchFamily="34" charset="-122"/>
                <a:cs typeface="Lato" pitchFamily="34" charset="-120"/>
              </a:rPr>
              <a:t>Deterministic Tool Selection</a:t>
            </a:r>
            <a:endParaRPr lang="en-US" sz="1350" dirty="0"/>
          </a:p>
        </p:txBody>
      </p:sp>
      <p:sp>
        <p:nvSpPr>
          <p:cNvPr id="6" name="Text 4"/>
          <p:cNvSpPr/>
          <p:nvPr/>
        </p:nvSpPr>
        <p:spPr>
          <a:xfrm>
            <a:off x="685800" y="2286000"/>
            <a:ext cx="7589520" cy="256032"/>
          </a:xfrm>
          <a:prstGeom prst="rect">
            <a:avLst/>
          </a:prstGeom>
          <a:noFill/>
          <a:ln/>
        </p:spPr>
        <p:txBody>
          <a:bodyPr wrap="square" lIns="0" tIns="0" rIns="0" bIns="0" rtlCol="0" anchor="ctr"/>
          <a:lstStyle/>
          <a:p>
            <a:pPr indent="0" marL="0">
              <a:buNone/>
            </a:pPr>
            <a:r>
              <a:rPr lang="en-US" sz="1150" dirty="0">
                <a:solidFill>
                  <a:srgbClr val="5B6B7B"/>
                </a:solidFill>
                <a:latin typeface="Lato" pitchFamily="34" charset="0"/>
                <a:ea typeface="Lato" pitchFamily="34" charset="-122"/>
                <a:cs typeface="Lato" pitchFamily="34" charset="-120"/>
              </a:rPr>
              <a:t>Agents pick from approved tools. No open SQL generation.</a:t>
            </a:r>
            <a:endParaRPr lang="en-US" sz="1150" dirty="0"/>
          </a:p>
        </p:txBody>
      </p:sp>
      <p:sp>
        <p:nvSpPr>
          <p:cNvPr id="7" name="Text 5"/>
          <p:cNvSpPr/>
          <p:nvPr/>
        </p:nvSpPr>
        <p:spPr>
          <a:xfrm>
            <a:off x="685800" y="2633472"/>
            <a:ext cx="7589520" cy="274320"/>
          </a:xfrm>
          <a:prstGeom prst="rect">
            <a:avLst/>
          </a:prstGeom>
          <a:noFill/>
          <a:ln/>
        </p:spPr>
        <p:txBody>
          <a:bodyPr wrap="square" lIns="0" tIns="0" rIns="0" bIns="0" rtlCol="0" anchor="ctr"/>
          <a:lstStyle/>
          <a:p>
            <a:pPr indent="0" marL="0">
              <a:buNone/>
            </a:pPr>
            <a:r>
              <a:rPr lang="en-US" sz="1350" b="1" dirty="0">
                <a:solidFill>
                  <a:srgbClr val="0C1B2E"/>
                </a:solidFill>
                <a:latin typeface="Lato" pitchFamily="34" charset="0"/>
                <a:ea typeface="Lato" pitchFamily="34" charset="-122"/>
                <a:cs typeface="Lato" pitchFamily="34" charset="-120"/>
              </a:rPr>
              <a:t>Public Data Sandbox</a:t>
            </a:r>
            <a:endParaRPr lang="en-US" sz="1350" dirty="0"/>
          </a:p>
        </p:txBody>
      </p:sp>
      <p:sp>
        <p:nvSpPr>
          <p:cNvPr id="8" name="Text 6"/>
          <p:cNvSpPr/>
          <p:nvPr/>
        </p:nvSpPr>
        <p:spPr>
          <a:xfrm>
            <a:off x="685800" y="2907792"/>
            <a:ext cx="7589520" cy="256032"/>
          </a:xfrm>
          <a:prstGeom prst="rect">
            <a:avLst/>
          </a:prstGeom>
          <a:noFill/>
          <a:ln/>
        </p:spPr>
        <p:txBody>
          <a:bodyPr wrap="square" lIns="0" tIns="0" rIns="0" bIns="0" rtlCol="0" anchor="ctr"/>
          <a:lstStyle/>
          <a:p>
            <a:pPr indent="0" marL="0">
              <a:buNone/>
            </a:pPr>
            <a:r>
              <a:rPr lang="en-US" sz="1150" dirty="0">
                <a:solidFill>
                  <a:srgbClr val="5B6B7B"/>
                </a:solidFill>
                <a:latin typeface="Lato" pitchFamily="34" charset="0"/>
                <a:ea typeface="Lato" pitchFamily="34" charset="-122"/>
                <a:cs typeface="Lato" pitchFamily="34" charset="-120"/>
              </a:rPr>
              <a:t>FEMA open data only. No PII exposure.</a:t>
            </a:r>
            <a:endParaRPr lang="en-US" sz="1150" dirty="0"/>
          </a:p>
        </p:txBody>
      </p:sp>
      <p:sp>
        <p:nvSpPr>
          <p:cNvPr id="9" name="Text 7"/>
          <p:cNvSpPr/>
          <p:nvPr/>
        </p:nvSpPr>
        <p:spPr>
          <a:xfrm>
            <a:off x="685800" y="3255264"/>
            <a:ext cx="7589520" cy="274320"/>
          </a:xfrm>
          <a:prstGeom prst="rect">
            <a:avLst/>
          </a:prstGeom>
          <a:noFill/>
          <a:ln/>
        </p:spPr>
        <p:txBody>
          <a:bodyPr wrap="square" lIns="0" tIns="0" rIns="0" bIns="0" rtlCol="0" anchor="ctr"/>
          <a:lstStyle/>
          <a:p>
            <a:pPr indent="0" marL="0">
              <a:buNone/>
            </a:pPr>
            <a:r>
              <a:rPr lang="en-US" sz="1350" b="1" dirty="0">
                <a:solidFill>
                  <a:srgbClr val="0C1B2E"/>
                </a:solidFill>
                <a:latin typeface="Lato" pitchFamily="34" charset="0"/>
                <a:ea typeface="Lato" pitchFamily="34" charset="-122"/>
                <a:cs typeface="Lato" pitchFamily="34" charset="-120"/>
              </a:rPr>
              <a:t>Human Review Required</a:t>
            </a:r>
            <a:endParaRPr lang="en-US" sz="1350" dirty="0"/>
          </a:p>
        </p:txBody>
      </p:sp>
      <p:sp>
        <p:nvSpPr>
          <p:cNvPr id="10" name="Text 8"/>
          <p:cNvSpPr/>
          <p:nvPr/>
        </p:nvSpPr>
        <p:spPr>
          <a:xfrm>
            <a:off x="685800" y="3529584"/>
            <a:ext cx="7589520" cy="256032"/>
          </a:xfrm>
          <a:prstGeom prst="rect">
            <a:avLst/>
          </a:prstGeom>
          <a:noFill/>
          <a:ln/>
        </p:spPr>
        <p:txBody>
          <a:bodyPr wrap="square" lIns="0" tIns="0" rIns="0" bIns="0" rtlCol="0" anchor="ctr"/>
          <a:lstStyle/>
          <a:p>
            <a:pPr indent="0" marL="0">
              <a:buNone/>
            </a:pPr>
            <a:r>
              <a:rPr lang="en-US" sz="1150" dirty="0">
                <a:solidFill>
                  <a:srgbClr val="5B6B7B"/>
                </a:solidFill>
                <a:latin typeface="Lato" pitchFamily="34" charset="0"/>
                <a:ea typeface="Lato" pitchFamily="34" charset="-122"/>
                <a:cs typeface="Lato" pitchFamily="34" charset="-120"/>
              </a:rPr>
              <a:t>No automated investigations; a person decides.</a:t>
            </a:r>
            <a:endParaRPr lang="en-US" sz="1150" dirty="0"/>
          </a:p>
        </p:txBody>
      </p:sp>
      <p:sp>
        <p:nvSpPr>
          <p:cNvPr id="11" name="Text 9"/>
          <p:cNvSpPr/>
          <p:nvPr/>
        </p:nvSpPr>
        <p:spPr>
          <a:xfrm>
            <a:off x="685800" y="3877056"/>
            <a:ext cx="7589520" cy="274320"/>
          </a:xfrm>
          <a:prstGeom prst="rect">
            <a:avLst/>
          </a:prstGeom>
          <a:noFill/>
          <a:ln/>
        </p:spPr>
        <p:txBody>
          <a:bodyPr wrap="square" lIns="0" tIns="0" rIns="0" bIns="0" rtlCol="0" anchor="ctr"/>
          <a:lstStyle/>
          <a:p>
            <a:pPr indent="0" marL="0">
              <a:buNone/>
            </a:pPr>
            <a:r>
              <a:rPr lang="en-US" sz="1350" b="1" dirty="0">
                <a:solidFill>
                  <a:srgbClr val="0C1B2E"/>
                </a:solidFill>
                <a:latin typeface="Lato" pitchFamily="34" charset="0"/>
                <a:ea typeface="Lato" pitchFamily="34" charset="-122"/>
                <a:cs typeface="Lato" pitchFamily="34" charset="-120"/>
              </a:rPr>
              <a:t>Not-a-Finding Guardrail</a:t>
            </a:r>
            <a:endParaRPr lang="en-US" sz="1350" dirty="0"/>
          </a:p>
        </p:txBody>
      </p:sp>
      <p:sp>
        <p:nvSpPr>
          <p:cNvPr id="12" name="Text 10"/>
          <p:cNvSpPr/>
          <p:nvPr/>
        </p:nvSpPr>
        <p:spPr>
          <a:xfrm>
            <a:off x="685800" y="4151376"/>
            <a:ext cx="7589520" cy="256032"/>
          </a:xfrm>
          <a:prstGeom prst="rect">
            <a:avLst/>
          </a:prstGeom>
          <a:noFill/>
          <a:ln/>
        </p:spPr>
        <p:txBody>
          <a:bodyPr wrap="square" lIns="0" tIns="0" rIns="0" bIns="0" rtlCol="0" anchor="ctr"/>
          <a:lstStyle/>
          <a:p>
            <a:pPr indent="0" marL="0">
              <a:buNone/>
            </a:pPr>
            <a:r>
              <a:rPr lang="en-US" sz="1150" dirty="0">
                <a:solidFill>
                  <a:srgbClr val="5B6B7B"/>
                </a:solidFill>
                <a:latin typeface="Lato" pitchFamily="34" charset="0"/>
                <a:ea typeface="Lato" pitchFamily="34" charset="-122"/>
                <a:cs typeface="Lato" pitchFamily="34" charset="-120"/>
              </a:rPr>
              <a:t>Every output explicitly tagged a review indicator.</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48640"/>
            <a:ext cx="7772400" cy="274320"/>
          </a:xfrm>
          <a:prstGeom prst="rect">
            <a:avLst/>
          </a:prstGeom>
          <a:noFill/>
          <a:ln/>
        </p:spPr>
        <p:txBody>
          <a:bodyPr wrap="square" lIns="0" tIns="0" rIns="0" bIns="0" rtlCol="0" anchor="ctr"/>
          <a:lstStyle/>
          <a:p>
            <a:pPr indent="0" marL="0">
              <a:buNone/>
            </a:pPr>
            <a:r>
              <a:rPr lang="en-US" sz="1100" b="1" spc="150" kern="0" dirty="0">
                <a:solidFill>
                  <a:srgbClr val="1483C8"/>
                </a:solidFill>
                <a:latin typeface="Lato" pitchFamily="34" charset="0"/>
                <a:ea typeface="Lato" pitchFamily="34" charset="-122"/>
                <a:cs typeface="Lato" pitchFamily="34" charset="-120"/>
              </a:rPr>
              <a:t>SCALABLE FEMA VISION</a:t>
            </a:r>
            <a:endParaRPr lang="en-US" sz="1100" dirty="0"/>
          </a:p>
        </p:txBody>
      </p:sp>
      <p:sp>
        <p:nvSpPr>
          <p:cNvPr id="3" name="Text 1"/>
          <p:cNvSpPr/>
          <p:nvPr/>
        </p:nvSpPr>
        <p:spPr>
          <a:xfrm>
            <a:off x="667512" y="822960"/>
            <a:ext cx="7863840" cy="658368"/>
          </a:xfrm>
          <a:prstGeom prst="rect">
            <a:avLst/>
          </a:prstGeom>
          <a:noFill/>
          <a:ln/>
        </p:spPr>
        <p:txBody>
          <a:bodyPr wrap="square" lIns="0" tIns="0" rIns="0" bIns="0" rtlCol="0" anchor="ctr"/>
          <a:lstStyle/>
          <a:p>
            <a:pPr indent="0" marL="0">
              <a:buNone/>
            </a:pPr>
            <a:r>
              <a:rPr lang="en-US" sz="3200" b="1" dirty="0">
                <a:solidFill>
                  <a:srgbClr val="0C1B2E"/>
                </a:solidFill>
                <a:latin typeface="Lato" pitchFamily="34" charset="0"/>
                <a:ea typeface="Lato" pitchFamily="34" charset="-122"/>
                <a:cs typeface="Lato" pitchFamily="34" charset="-120"/>
              </a:rPr>
              <a:t>The 'bazooka-less' grant issuer.</a:t>
            </a:r>
            <a:endParaRPr lang="en-US" sz="3200" dirty="0"/>
          </a:p>
        </p:txBody>
      </p:sp>
      <p:sp>
        <p:nvSpPr>
          <p:cNvPr id="4" name="Text 2"/>
          <p:cNvSpPr/>
          <p:nvPr/>
        </p:nvSpPr>
        <p:spPr>
          <a:xfrm>
            <a:off x="685800" y="1517904"/>
            <a:ext cx="7589520" cy="548640"/>
          </a:xfrm>
          <a:prstGeom prst="rect">
            <a:avLst/>
          </a:prstGeom>
          <a:noFill/>
          <a:ln/>
        </p:spPr>
        <p:txBody>
          <a:bodyPr wrap="square" lIns="0" tIns="0" rIns="0" bIns="0" rtlCol="0" anchor="ctr"/>
          <a:lstStyle/>
          <a:p>
            <a:pPr indent="0" marL="0">
              <a:lnSpc>
                <a:spcPts val="1900"/>
              </a:lnSpc>
              <a:buNone/>
            </a:pPr>
            <a:r>
              <a:rPr lang="en-US" sz="1350" dirty="0">
                <a:solidFill>
                  <a:srgbClr val="5B6B7B"/>
                </a:solidFill>
                <a:latin typeface="Lato" pitchFamily="34" charset="0"/>
                <a:ea typeface="Lato" pitchFamily="34" charset="-122"/>
                <a:cs typeface="Lato" pitchFamily="34" charset="-120"/>
              </a:rPr>
              <a:t>Analysts remain decision-makers. AI accelerates review, consistency, and evidence collection.</a:t>
            </a:r>
            <a:endParaRPr lang="en-US" sz="1350" dirty="0"/>
          </a:p>
        </p:txBody>
      </p:sp>
      <p:sp>
        <p:nvSpPr>
          <p:cNvPr id="5" name="Shape 3"/>
          <p:cNvSpPr/>
          <p:nvPr/>
        </p:nvSpPr>
        <p:spPr>
          <a:xfrm>
            <a:off x="685800" y="2286000"/>
            <a:ext cx="2542032" cy="2103120"/>
          </a:xfrm>
          <a:prstGeom prst="roundRect">
            <a:avLst>
              <a:gd name="adj" fmla="val 2174"/>
            </a:avLst>
          </a:prstGeom>
          <a:solidFill>
            <a:srgbClr val="FFFFFF"/>
          </a:solidFill>
          <a:ln w="12700">
            <a:solidFill>
              <a:srgbClr val="E2E7ED"/>
            </a:solidFill>
            <a:prstDash val="solid"/>
          </a:ln>
          <a:effectLst>
            <a:outerShdw sx="100000" sy="100000" kx="0" ky="0" algn="bl" rotWithShape="0" blurRad="50800" dist="25400" dir="5400000">
              <a:srgbClr val="B8C2CE">
                <a:alpha val="20000"/>
              </a:srgbClr>
            </a:outerShdw>
          </a:effectLst>
        </p:spPr>
      </p:sp>
      <p:sp>
        <p:nvSpPr>
          <p:cNvPr id="6" name="Shape 4"/>
          <p:cNvSpPr/>
          <p:nvPr/>
        </p:nvSpPr>
        <p:spPr>
          <a:xfrm>
            <a:off x="685800" y="2286000"/>
            <a:ext cx="2542032" cy="64008"/>
          </a:xfrm>
          <a:prstGeom prst="rect">
            <a:avLst/>
          </a:prstGeom>
          <a:solidFill>
            <a:srgbClr val="E2E7ED"/>
          </a:solidFill>
          <a:ln/>
        </p:spPr>
      </p:sp>
      <p:sp>
        <p:nvSpPr>
          <p:cNvPr id="7" name="Text 5"/>
          <p:cNvSpPr/>
          <p:nvPr/>
        </p:nvSpPr>
        <p:spPr>
          <a:xfrm>
            <a:off x="941832" y="2606040"/>
            <a:ext cx="2029968" cy="365760"/>
          </a:xfrm>
          <a:prstGeom prst="rect">
            <a:avLst/>
          </a:prstGeom>
          <a:noFill/>
          <a:ln/>
        </p:spPr>
        <p:txBody>
          <a:bodyPr wrap="square" lIns="0" tIns="0" rIns="0" bIns="0" rtlCol="0" anchor="ctr"/>
          <a:lstStyle/>
          <a:p>
            <a:pPr indent="0" marL="0">
              <a:buNone/>
            </a:pPr>
            <a:r>
              <a:rPr lang="en-US" sz="1350" b="1" dirty="0">
                <a:solidFill>
                  <a:srgbClr val="0C1B2E"/>
                </a:solidFill>
                <a:latin typeface="Lato" pitchFamily="34" charset="0"/>
                <a:ea typeface="Lato" pitchFamily="34" charset="-122"/>
                <a:cs typeface="Lato" pitchFamily="34" charset="-120"/>
              </a:rPr>
              <a:t>NODE 1: RESEARCH</a:t>
            </a:r>
            <a:endParaRPr lang="en-US" sz="1350" dirty="0"/>
          </a:p>
        </p:txBody>
      </p:sp>
      <p:sp>
        <p:nvSpPr>
          <p:cNvPr id="8" name="Text 6"/>
          <p:cNvSpPr/>
          <p:nvPr/>
        </p:nvSpPr>
        <p:spPr>
          <a:xfrm>
            <a:off x="941832" y="3154680"/>
            <a:ext cx="2029968" cy="1097280"/>
          </a:xfrm>
          <a:prstGeom prst="rect">
            <a:avLst/>
          </a:prstGeom>
          <a:noFill/>
          <a:ln/>
        </p:spPr>
        <p:txBody>
          <a:bodyPr wrap="square" lIns="0" tIns="0" rIns="0" bIns="0" rtlCol="0" anchor="ctr"/>
          <a:lstStyle/>
          <a:p>
            <a:pPr indent="0" marL="0">
              <a:lnSpc>
                <a:spcPts val="1600"/>
              </a:lnSpc>
              <a:buNone/>
            </a:pPr>
            <a:r>
              <a:rPr lang="en-US" sz="1150" dirty="0">
                <a:solidFill>
                  <a:srgbClr val="5B6B7B"/>
                </a:solidFill>
                <a:latin typeface="Lato" pitchFamily="34" charset="0"/>
                <a:ea typeface="Lato" pitchFamily="34" charset="-122"/>
                <a:cs typeface="Lato" pitchFamily="34" charset="-120"/>
              </a:rPr>
              <a:t>LLM evaluates eligibility via read-only Delta tables. Zero financial access.</a:t>
            </a:r>
            <a:endParaRPr lang="en-US" sz="1150" dirty="0"/>
          </a:p>
        </p:txBody>
      </p:sp>
      <p:sp>
        <p:nvSpPr>
          <p:cNvPr id="9" name="Shape 7"/>
          <p:cNvSpPr/>
          <p:nvPr/>
        </p:nvSpPr>
        <p:spPr>
          <a:xfrm>
            <a:off x="3264408" y="3337560"/>
            <a:ext cx="146304" cy="0"/>
          </a:xfrm>
          <a:prstGeom prst="line">
            <a:avLst/>
          </a:prstGeom>
          <a:noFill/>
          <a:ln w="19050">
            <a:solidFill>
              <a:srgbClr val="0C1B2E"/>
            </a:solidFill>
            <a:prstDash val="solid"/>
            <a:tailEnd type="arrow"/>
          </a:ln>
        </p:spPr>
      </p:sp>
      <p:sp>
        <p:nvSpPr>
          <p:cNvPr id="10" name="Shape 8"/>
          <p:cNvSpPr/>
          <p:nvPr/>
        </p:nvSpPr>
        <p:spPr>
          <a:xfrm>
            <a:off x="3483864" y="2286000"/>
            <a:ext cx="2542032" cy="2103120"/>
          </a:xfrm>
          <a:prstGeom prst="roundRect">
            <a:avLst>
              <a:gd name="adj" fmla="val 2174"/>
            </a:avLst>
          </a:prstGeom>
          <a:solidFill>
            <a:srgbClr val="FFFFFF"/>
          </a:solidFill>
          <a:ln w="12700">
            <a:solidFill>
              <a:srgbClr val="E2E7ED"/>
            </a:solidFill>
            <a:prstDash val="solid"/>
          </a:ln>
          <a:effectLst>
            <a:outerShdw sx="100000" sy="100000" kx="0" ky="0" algn="bl" rotWithShape="0" blurRad="50800" dist="25400" dir="5400000">
              <a:srgbClr val="B8C2CE">
                <a:alpha val="20000"/>
              </a:srgbClr>
            </a:outerShdw>
          </a:effectLst>
        </p:spPr>
      </p:sp>
      <p:sp>
        <p:nvSpPr>
          <p:cNvPr id="11" name="Shape 9"/>
          <p:cNvSpPr/>
          <p:nvPr/>
        </p:nvSpPr>
        <p:spPr>
          <a:xfrm>
            <a:off x="3483864" y="2286000"/>
            <a:ext cx="2542032" cy="64008"/>
          </a:xfrm>
          <a:prstGeom prst="rect">
            <a:avLst/>
          </a:prstGeom>
          <a:solidFill>
            <a:srgbClr val="1483C8"/>
          </a:solidFill>
          <a:ln/>
        </p:spPr>
      </p:sp>
      <p:sp>
        <p:nvSpPr>
          <p:cNvPr id="12" name="Text 10"/>
          <p:cNvSpPr/>
          <p:nvPr/>
        </p:nvSpPr>
        <p:spPr>
          <a:xfrm>
            <a:off x="3739896" y="2606040"/>
            <a:ext cx="2029968" cy="365760"/>
          </a:xfrm>
          <a:prstGeom prst="rect">
            <a:avLst/>
          </a:prstGeom>
          <a:noFill/>
          <a:ln/>
        </p:spPr>
        <p:txBody>
          <a:bodyPr wrap="square" lIns="0" tIns="0" rIns="0" bIns="0" rtlCol="0" anchor="ctr"/>
          <a:lstStyle/>
          <a:p>
            <a:pPr indent="0" marL="0">
              <a:buNone/>
            </a:pPr>
            <a:r>
              <a:rPr lang="en-US" sz="1350" b="1" dirty="0">
                <a:solidFill>
                  <a:srgbClr val="0C1B2E"/>
                </a:solidFill>
                <a:latin typeface="Lato" pitchFamily="34" charset="0"/>
                <a:ea typeface="Lato" pitchFamily="34" charset="-122"/>
                <a:cs typeface="Lato" pitchFamily="34" charset="-120"/>
              </a:rPr>
              <a:t>NODE 2: HUMAN PAUSE</a:t>
            </a:r>
            <a:endParaRPr lang="en-US" sz="1350" dirty="0"/>
          </a:p>
        </p:txBody>
      </p:sp>
      <p:sp>
        <p:nvSpPr>
          <p:cNvPr id="13" name="Text 11"/>
          <p:cNvSpPr/>
          <p:nvPr/>
        </p:nvSpPr>
        <p:spPr>
          <a:xfrm>
            <a:off x="3739896" y="3154680"/>
            <a:ext cx="2029968" cy="1097280"/>
          </a:xfrm>
          <a:prstGeom prst="rect">
            <a:avLst/>
          </a:prstGeom>
          <a:noFill/>
          <a:ln/>
        </p:spPr>
        <p:txBody>
          <a:bodyPr wrap="square" lIns="0" tIns="0" rIns="0" bIns="0" rtlCol="0" anchor="ctr"/>
          <a:lstStyle/>
          <a:p>
            <a:pPr indent="0" marL="0">
              <a:lnSpc>
                <a:spcPts val="1600"/>
              </a:lnSpc>
              <a:buNone/>
            </a:pPr>
            <a:r>
              <a:rPr lang="en-US" sz="1150" dirty="0">
                <a:solidFill>
                  <a:srgbClr val="5B6B7B"/>
                </a:solidFill>
                <a:latin typeface="Lato" pitchFamily="34" charset="0"/>
                <a:ea typeface="Lato" pitchFamily="34" charset="-122"/>
                <a:cs typeface="Lato" pitchFamily="34" charset="-120"/>
              </a:rPr>
              <a:t>Orchestrator fires a Jira webhook. Workflow sleeps pending analyst approval.</a:t>
            </a:r>
            <a:endParaRPr lang="en-US" sz="1150" dirty="0"/>
          </a:p>
        </p:txBody>
      </p:sp>
      <p:sp>
        <p:nvSpPr>
          <p:cNvPr id="14" name="Shape 12"/>
          <p:cNvSpPr/>
          <p:nvPr/>
        </p:nvSpPr>
        <p:spPr>
          <a:xfrm>
            <a:off x="6062472" y="3337560"/>
            <a:ext cx="146304" cy="0"/>
          </a:xfrm>
          <a:prstGeom prst="line">
            <a:avLst/>
          </a:prstGeom>
          <a:noFill/>
          <a:ln w="19050">
            <a:solidFill>
              <a:srgbClr val="0C1B2E"/>
            </a:solidFill>
            <a:prstDash val="solid"/>
            <a:tailEnd type="arrow"/>
          </a:ln>
        </p:spPr>
      </p:sp>
      <p:sp>
        <p:nvSpPr>
          <p:cNvPr id="15" name="Shape 13"/>
          <p:cNvSpPr/>
          <p:nvPr/>
        </p:nvSpPr>
        <p:spPr>
          <a:xfrm>
            <a:off x="6281928" y="2286000"/>
            <a:ext cx="2542032" cy="2103120"/>
          </a:xfrm>
          <a:prstGeom prst="roundRect">
            <a:avLst>
              <a:gd name="adj" fmla="val 2174"/>
            </a:avLst>
          </a:prstGeom>
          <a:solidFill>
            <a:srgbClr val="FFFFFF"/>
          </a:solidFill>
          <a:ln w="12700">
            <a:solidFill>
              <a:srgbClr val="E2E7ED"/>
            </a:solidFill>
            <a:prstDash val="solid"/>
          </a:ln>
          <a:effectLst>
            <a:outerShdw sx="100000" sy="100000" kx="0" ky="0" algn="bl" rotWithShape="0" blurRad="50800" dist="25400" dir="5400000">
              <a:srgbClr val="B8C2CE">
                <a:alpha val="20000"/>
              </a:srgbClr>
            </a:outerShdw>
          </a:effectLst>
        </p:spPr>
      </p:sp>
      <p:sp>
        <p:nvSpPr>
          <p:cNvPr id="16" name="Shape 14"/>
          <p:cNvSpPr/>
          <p:nvPr/>
        </p:nvSpPr>
        <p:spPr>
          <a:xfrm>
            <a:off x="6281928" y="2286000"/>
            <a:ext cx="2542032" cy="64008"/>
          </a:xfrm>
          <a:prstGeom prst="rect">
            <a:avLst/>
          </a:prstGeom>
          <a:solidFill>
            <a:srgbClr val="1E9E55"/>
          </a:solidFill>
          <a:ln/>
        </p:spPr>
      </p:sp>
      <p:sp>
        <p:nvSpPr>
          <p:cNvPr id="17" name="Text 15"/>
          <p:cNvSpPr/>
          <p:nvPr/>
        </p:nvSpPr>
        <p:spPr>
          <a:xfrm>
            <a:off x="6537960" y="2606040"/>
            <a:ext cx="2029968" cy="365760"/>
          </a:xfrm>
          <a:prstGeom prst="rect">
            <a:avLst/>
          </a:prstGeom>
          <a:noFill/>
          <a:ln/>
        </p:spPr>
        <p:txBody>
          <a:bodyPr wrap="square" lIns="0" tIns="0" rIns="0" bIns="0" rtlCol="0" anchor="ctr"/>
          <a:lstStyle/>
          <a:p>
            <a:pPr indent="0" marL="0">
              <a:buNone/>
            </a:pPr>
            <a:r>
              <a:rPr lang="en-US" sz="1350" b="1" dirty="0">
                <a:solidFill>
                  <a:srgbClr val="0C1B2E"/>
                </a:solidFill>
                <a:latin typeface="Lato" pitchFamily="34" charset="0"/>
                <a:ea typeface="Lato" pitchFamily="34" charset="-122"/>
                <a:cs typeface="Lato" pitchFamily="34" charset="-120"/>
              </a:rPr>
              <a:t>NODE 3: EXECUTION</a:t>
            </a:r>
            <a:endParaRPr lang="en-US" sz="1350" dirty="0"/>
          </a:p>
        </p:txBody>
      </p:sp>
      <p:sp>
        <p:nvSpPr>
          <p:cNvPr id="18" name="Text 16"/>
          <p:cNvSpPr/>
          <p:nvPr/>
        </p:nvSpPr>
        <p:spPr>
          <a:xfrm>
            <a:off x="6537960" y="3154680"/>
            <a:ext cx="2029968" cy="1097280"/>
          </a:xfrm>
          <a:prstGeom prst="rect">
            <a:avLst/>
          </a:prstGeom>
          <a:noFill/>
          <a:ln/>
        </p:spPr>
        <p:txBody>
          <a:bodyPr wrap="square" lIns="0" tIns="0" rIns="0" bIns="0" rtlCol="0" anchor="ctr"/>
          <a:lstStyle/>
          <a:p>
            <a:pPr indent="0" marL="0">
              <a:lnSpc>
                <a:spcPts val="1600"/>
              </a:lnSpc>
              <a:buNone/>
            </a:pPr>
            <a:r>
              <a:rPr lang="en-US" sz="1150" dirty="0">
                <a:solidFill>
                  <a:srgbClr val="5B6B7B"/>
                </a:solidFill>
                <a:latin typeface="Lato" pitchFamily="34" charset="0"/>
                <a:ea typeface="Lato" pitchFamily="34" charset="-122"/>
                <a:cs typeface="Lato" pitchFamily="34" charset="-120"/>
              </a:rPr>
              <a:t>Deterministic script pulls the API key from Secrets at runtime. Transfers funds. No LLM reasoning.</a:t>
            </a:r>
            <a:endParaRPr lang="en-US" sz="1150" dirty="0"/>
          </a:p>
        </p:txBody>
      </p:sp>
      <p:sp>
        <p:nvSpPr>
          <p:cNvPr id="19" name="Text 17"/>
          <p:cNvSpPr/>
          <p:nvPr/>
        </p:nvSpPr>
        <p:spPr>
          <a:xfrm>
            <a:off x="685800" y="4526280"/>
            <a:ext cx="7863840" cy="292608"/>
          </a:xfrm>
          <a:prstGeom prst="rect">
            <a:avLst/>
          </a:prstGeom>
          <a:noFill/>
          <a:ln/>
        </p:spPr>
        <p:txBody>
          <a:bodyPr wrap="square" lIns="0" tIns="0" rIns="0" bIns="0" rtlCol="0" anchor="ctr"/>
          <a:lstStyle/>
          <a:p>
            <a:pPr indent="0" marL="0">
              <a:buNone/>
            </a:pPr>
            <a:r>
              <a:rPr lang="en-US" sz="1000" i="1" dirty="0">
                <a:solidFill>
                  <a:srgbClr val="1483C8"/>
                </a:solidFill>
                <a:latin typeface="Lato" pitchFamily="34" charset="0"/>
                <a:ea typeface="Lato" pitchFamily="34" charset="-122"/>
                <a:cs typeface="Lato" pitchFamily="34" charset="-120"/>
              </a:rPr>
              <a:t>The AI is an untrusted consultant. A human authorizes. Deterministic code moves the money. That is how it passes a security audit.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48640"/>
            <a:ext cx="7772400" cy="274320"/>
          </a:xfrm>
          <a:prstGeom prst="rect">
            <a:avLst/>
          </a:prstGeom>
          <a:noFill/>
          <a:ln/>
        </p:spPr>
        <p:txBody>
          <a:bodyPr wrap="square" lIns="0" tIns="0" rIns="0" bIns="0" rtlCol="0" anchor="ctr"/>
          <a:lstStyle/>
          <a:p>
            <a:pPr indent="0" marL="0">
              <a:buNone/>
            </a:pPr>
            <a:r>
              <a:rPr lang="en-US" sz="1100" b="1" spc="150" kern="0" dirty="0">
                <a:solidFill>
                  <a:srgbClr val="1483C8"/>
                </a:solidFill>
                <a:latin typeface="Lato" pitchFamily="34" charset="0"/>
                <a:ea typeface="Lato" pitchFamily="34" charset="-122"/>
                <a:cs typeface="Lato" pitchFamily="34" charset="-120"/>
              </a:rPr>
              <a:t>GOVERNMENT-WIDE REUSE</a:t>
            </a:r>
            <a:endParaRPr lang="en-US" sz="1100" dirty="0"/>
          </a:p>
        </p:txBody>
      </p:sp>
      <p:sp>
        <p:nvSpPr>
          <p:cNvPr id="3" name="Text 1"/>
          <p:cNvSpPr/>
          <p:nvPr/>
        </p:nvSpPr>
        <p:spPr>
          <a:xfrm>
            <a:off x="667512" y="822960"/>
            <a:ext cx="7863840" cy="658368"/>
          </a:xfrm>
          <a:prstGeom prst="rect">
            <a:avLst/>
          </a:prstGeom>
          <a:noFill/>
          <a:ln/>
        </p:spPr>
        <p:txBody>
          <a:bodyPr wrap="square" lIns="0" tIns="0" rIns="0" bIns="0" rtlCol="0" anchor="ctr"/>
          <a:lstStyle/>
          <a:p>
            <a:pPr indent="0" marL="0">
              <a:buNone/>
            </a:pPr>
            <a:r>
              <a:rPr lang="en-US" sz="3200" b="1" dirty="0">
                <a:solidFill>
                  <a:srgbClr val="0C1B2E"/>
                </a:solidFill>
                <a:latin typeface="Lato" pitchFamily="34" charset="0"/>
                <a:ea typeface="Lato" pitchFamily="34" charset="-122"/>
                <a:cs typeface="Lato" pitchFamily="34" charset="-120"/>
              </a:rPr>
              <a:t>Beyond FEMA.</a:t>
            </a:r>
            <a:endParaRPr lang="en-US" sz="3200" dirty="0"/>
          </a:p>
        </p:txBody>
      </p:sp>
      <p:sp>
        <p:nvSpPr>
          <p:cNvPr id="4" name="Text 2"/>
          <p:cNvSpPr/>
          <p:nvPr/>
        </p:nvSpPr>
        <p:spPr>
          <a:xfrm>
            <a:off x="685800" y="1517904"/>
            <a:ext cx="7589520" cy="548640"/>
          </a:xfrm>
          <a:prstGeom prst="rect">
            <a:avLst/>
          </a:prstGeom>
          <a:noFill/>
          <a:ln/>
        </p:spPr>
        <p:txBody>
          <a:bodyPr wrap="square" lIns="0" tIns="0" rIns="0" bIns="0" rtlCol="0" anchor="ctr"/>
          <a:lstStyle/>
          <a:p>
            <a:pPr indent="0" marL="0">
              <a:lnSpc>
                <a:spcPts val="1900"/>
              </a:lnSpc>
              <a:buNone/>
            </a:pPr>
            <a:r>
              <a:rPr lang="en-US" sz="1350" dirty="0">
                <a:solidFill>
                  <a:srgbClr val="5B6B7B"/>
                </a:solidFill>
                <a:latin typeface="Lato" pitchFamily="34" charset="0"/>
                <a:ea typeface="Lato" pitchFamily="34" charset="-122"/>
                <a:cs typeface="Lato" pitchFamily="34" charset="-120"/>
              </a:rPr>
              <a:t>One oversight pattern. Every federal grant program with public obligation data.</a:t>
            </a:r>
            <a:endParaRPr lang="en-US" sz="1350" dirty="0"/>
          </a:p>
        </p:txBody>
      </p:sp>
      <p:sp>
        <p:nvSpPr>
          <p:cNvPr id="5" name="Shape 3"/>
          <p:cNvSpPr/>
          <p:nvPr/>
        </p:nvSpPr>
        <p:spPr>
          <a:xfrm>
            <a:off x="548640" y="2331720"/>
            <a:ext cx="1499616" cy="1737360"/>
          </a:xfrm>
          <a:prstGeom prst="roundRect">
            <a:avLst>
              <a:gd name="adj" fmla="val 3659"/>
            </a:avLst>
          </a:prstGeom>
          <a:solidFill>
            <a:srgbClr val="FFFFFF"/>
          </a:solidFill>
          <a:ln w="12700">
            <a:solidFill>
              <a:srgbClr val="E2E7ED"/>
            </a:solidFill>
            <a:prstDash val="solid"/>
          </a:ln>
          <a:effectLst>
            <a:outerShdw sx="100000" sy="100000" kx="0" ky="0" algn="bl" rotWithShape="0" blurRad="50800" dist="25400" dir="5400000">
              <a:srgbClr val="B8C2CE">
                <a:alpha val="20000"/>
              </a:srgbClr>
            </a:outerShdw>
          </a:effectLst>
        </p:spPr>
      </p:sp>
      <p:sp>
        <p:nvSpPr>
          <p:cNvPr id="6" name="Shape 4"/>
          <p:cNvSpPr/>
          <p:nvPr/>
        </p:nvSpPr>
        <p:spPr>
          <a:xfrm>
            <a:off x="978408" y="2569464"/>
            <a:ext cx="640080" cy="640080"/>
          </a:xfrm>
          <a:prstGeom prst="ellipse">
            <a:avLst/>
          </a:prstGeom>
          <a:solidFill>
            <a:srgbClr val="0C1B2E"/>
          </a:solidFill>
          <a:ln/>
        </p:spPr>
      </p:sp>
      <p:pic>
        <p:nvPicPr>
          <p:cNvPr id="7" name="Image 0" descr="ic_ysuqlwpdxlk.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4712" y="2715768"/>
            <a:ext cx="347472" cy="347472"/>
          </a:xfrm>
          <a:prstGeom prst="rect">
            <a:avLst/>
          </a:prstGeom>
        </p:spPr>
      </p:pic>
      <p:sp>
        <p:nvSpPr>
          <p:cNvPr id="8" name="Text 5"/>
          <p:cNvSpPr/>
          <p:nvPr/>
        </p:nvSpPr>
        <p:spPr>
          <a:xfrm>
            <a:off x="640080" y="3319272"/>
            <a:ext cx="1316736" cy="329184"/>
          </a:xfrm>
          <a:prstGeom prst="rect">
            <a:avLst/>
          </a:prstGeom>
          <a:noFill/>
          <a:ln/>
        </p:spPr>
        <p:txBody>
          <a:bodyPr wrap="square" lIns="0" tIns="0" rIns="0" bIns="0" rtlCol="0" anchor="ctr"/>
          <a:lstStyle/>
          <a:p>
            <a:pPr algn="ctr" indent="0" marL="0">
              <a:buNone/>
            </a:pPr>
            <a:r>
              <a:rPr lang="en-US" sz="1600" b="1" dirty="0">
                <a:solidFill>
                  <a:srgbClr val="1483C8"/>
                </a:solidFill>
                <a:latin typeface="Lato" pitchFamily="34" charset="0"/>
                <a:ea typeface="Lato" pitchFamily="34" charset="-122"/>
                <a:cs typeface="Lato" pitchFamily="34" charset="-120"/>
              </a:rPr>
              <a:t>HUD</a:t>
            </a:r>
            <a:endParaRPr lang="en-US" sz="1600" dirty="0"/>
          </a:p>
        </p:txBody>
      </p:sp>
      <p:sp>
        <p:nvSpPr>
          <p:cNvPr id="9" name="Text 6"/>
          <p:cNvSpPr/>
          <p:nvPr/>
        </p:nvSpPr>
        <p:spPr>
          <a:xfrm>
            <a:off x="640080" y="3648456"/>
            <a:ext cx="1316736" cy="365760"/>
          </a:xfrm>
          <a:prstGeom prst="rect">
            <a:avLst/>
          </a:prstGeom>
          <a:noFill/>
          <a:ln/>
        </p:spPr>
        <p:txBody>
          <a:bodyPr wrap="square" lIns="0" tIns="0" rIns="0" bIns="0" rtlCol="0" anchor="ctr"/>
          <a:lstStyle/>
          <a:p>
            <a:pPr algn="ctr" indent="0" marL="0">
              <a:lnSpc>
                <a:spcPts val="1100"/>
              </a:lnSpc>
              <a:buNone/>
            </a:pPr>
            <a:r>
              <a:rPr lang="en-US" sz="900" dirty="0">
                <a:solidFill>
                  <a:srgbClr val="5B6B7B"/>
                </a:solidFill>
                <a:latin typeface="Lato" pitchFamily="34" charset="0"/>
                <a:ea typeface="Lato" pitchFamily="34" charset="-122"/>
                <a:cs typeface="Lato" pitchFamily="34" charset="-120"/>
              </a:rPr>
              <a:t>Housing &amp; community grants</a:t>
            </a:r>
            <a:endParaRPr lang="en-US" sz="900" dirty="0"/>
          </a:p>
        </p:txBody>
      </p:sp>
      <p:sp>
        <p:nvSpPr>
          <p:cNvPr id="10" name="Shape 7"/>
          <p:cNvSpPr/>
          <p:nvPr/>
        </p:nvSpPr>
        <p:spPr>
          <a:xfrm>
            <a:off x="2212848" y="2331720"/>
            <a:ext cx="1499616" cy="1737360"/>
          </a:xfrm>
          <a:prstGeom prst="roundRect">
            <a:avLst>
              <a:gd name="adj" fmla="val 3659"/>
            </a:avLst>
          </a:prstGeom>
          <a:solidFill>
            <a:srgbClr val="FFFFFF"/>
          </a:solidFill>
          <a:ln w="12700">
            <a:solidFill>
              <a:srgbClr val="E2E7ED"/>
            </a:solidFill>
            <a:prstDash val="solid"/>
          </a:ln>
          <a:effectLst>
            <a:outerShdw sx="100000" sy="100000" kx="0" ky="0" algn="bl" rotWithShape="0" blurRad="50800" dist="25400" dir="5400000">
              <a:srgbClr val="B8C2CE">
                <a:alpha val="20000"/>
              </a:srgbClr>
            </a:outerShdw>
          </a:effectLst>
        </p:spPr>
      </p:sp>
      <p:sp>
        <p:nvSpPr>
          <p:cNvPr id="11" name="Shape 8"/>
          <p:cNvSpPr/>
          <p:nvPr/>
        </p:nvSpPr>
        <p:spPr>
          <a:xfrm>
            <a:off x="2642616" y="2569464"/>
            <a:ext cx="640080" cy="640080"/>
          </a:xfrm>
          <a:prstGeom prst="ellipse">
            <a:avLst/>
          </a:prstGeom>
          <a:solidFill>
            <a:srgbClr val="0C1B2E"/>
          </a:solidFill>
          <a:ln/>
        </p:spPr>
      </p:sp>
      <p:pic>
        <p:nvPicPr>
          <p:cNvPr id="12" name="Image 1" descr="ic_ssggitplvu.sv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788920" y="2715768"/>
            <a:ext cx="347472" cy="347472"/>
          </a:xfrm>
          <a:prstGeom prst="rect">
            <a:avLst/>
          </a:prstGeom>
        </p:spPr>
      </p:pic>
      <p:sp>
        <p:nvSpPr>
          <p:cNvPr id="13" name="Text 9"/>
          <p:cNvSpPr/>
          <p:nvPr/>
        </p:nvSpPr>
        <p:spPr>
          <a:xfrm>
            <a:off x="2304288" y="3319272"/>
            <a:ext cx="1316736" cy="329184"/>
          </a:xfrm>
          <a:prstGeom prst="rect">
            <a:avLst/>
          </a:prstGeom>
          <a:noFill/>
          <a:ln/>
        </p:spPr>
        <p:txBody>
          <a:bodyPr wrap="square" lIns="0" tIns="0" rIns="0" bIns="0" rtlCol="0" anchor="ctr"/>
          <a:lstStyle/>
          <a:p>
            <a:pPr algn="ctr" indent="0" marL="0">
              <a:buNone/>
            </a:pPr>
            <a:r>
              <a:rPr lang="en-US" sz="1600" b="1" dirty="0">
                <a:solidFill>
                  <a:srgbClr val="1483C8"/>
                </a:solidFill>
                <a:latin typeface="Lato" pitchFamily="34" charset="0"/>
                <a:ea typeface="Lato" pitchFamily="34" charset="-122"/>
                <a:cs typeface="Lato" pitchFamily="34" charset="-120"/>
              </a:rPr>
              <a:t>USDA</a:t>
            </a:r>
            <a:endParaRPr lang="en-US" sz="1600" dirty="0"/>
          </a:p>
        </p:txBody>
      </p:sp>
      <p:sp>
        <p:nvSpPr>
          <p:cNvPr id="14" name="Text 10"/>
          <p:cNvSpPr/>
          <p:nvPr/>
        </p:nvSpPr>
        <p:spPr>
          <a:xfrm>
            <a:off x="2304288" y="3648456"/>
            <a:ext cx="1316736" cy="365760"/>
          </a:xfrm>
          <a:prstGeom prst="rect">
            <a:avLst/>
          </a:prstGeom>
          <a:noFill/>
          <a:ln/>
        </p:spPr>
        <p:txBody>
          <a:bodyPr wrap="square" lIns="0" tIns="0" rIns="0" bIns="0" rtlCol="0" anchor="ctr"/>
          <a:lstStyle/>
          <a:p>
            <a:pPr algn="ctr" indent="0" marL="0">
              <a:lnSpc>
                <a:spcPts val="1100"/>
              </a:lnSpc>
              <a:buNone/>
            </a:pPr>
            <a:r>
              <a:rPr lang="en-US" sz="900" dirty="0">
                <a:solidFill>
                  <a:srgbClr val="5B6B7B"/>
                </a:solidFill>
                <a:latin typeface="Lato" pitchFamily="34" charset="0"/>
                <a:ea typeface="Lato" pitchFamily="34" charset="-122"/>
                <a:cs typeface="Lato" pitchFamily="34" charset="-120"/>
              </a:rPr>
              <a:t>Rural &amp; farm programs</a:t>
            </a:r>
            <a:endParaRPr lang="en-US" sz="900" dirty="0"/>
          </a:p>
        </p:txBody>
      </p:sp>
      <p:sp>
        <p:nvSpPr>
          <p:cNvPr id="15" name="Shape 11"/>
          <p:cNvSpPr/>
          <p:nvPr/>
        </p:nvSpPr>
        <p:spPr>
          <a:xfrm>
            <a:off x="3877056" y="2331720"/>
            <a:ext cx="1499616" cy="1737360"/>
          </a:xfrm>
          <a:prstGeom prst="roundRect">
            <a:avLst>
              <a:gd name="adj" fmla="val 3659"/>
            </a:avLst>
          </a:prstGeom>
          <a:solidFill>
            <a:srgbClr val="FFFFFF"/>
          </a:solidFill>
          <a:ln w="12700">
            <a:solidFill>
              <a:srgbClr val="E2E7ED"/>
            </a:solidFill>
            <a:prstDash val="solid"/>
          </a:ln>
          <a:effectLst>
            <a:outerShdw sx="100000" sy="100000" kx="0" ky="0" algn="bl" rotWithShape="0" blurRad="50800" dist="25400" dir="5400000">
              <a:srgbClr val="B8C2CE">
                <a:alpha val="20000"/>
              </a:srgbClr>
            </a:outerShdw>
          </a:effectLst>
        </p:spPr>
      </p:sp>
      <p:sp>
        <p:nvSpPr>
          <p:cNvPr id="16" name="Shape 12"/>
          <p:cNvSpPr/>
          <p:nvPr/>
        </p:nvSpPr>
        <p:spPr>
          <a:xfrm>
            <a:off x="4306824" y="2569464"/>
            <a:ext cx="640080" cy="640080"/>
          </a:xfrm>
          <a:prstGeom prst="ellipse">
            <a:avLst/>
          </a:prstGeom>
          <a:solidFill>
            <a:srgbClr val="0C1B2E"/>
          </a:solidFill>
          <a:ln/>
        </p:spPr>
      </p:sp>
      <p:pic>
        <p:nvPicPr>
          <p:cNvPr id="17" name="Image 2" descr="ic_a6t4grbsj3c.sv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453128" y="2715768"/>
            <a:ext cx="347472" cy="347472"/>
          </a:xfrm>
          <a:prstGeom prst="rect">
            <a:avLst/>
          </a:prstGeom>
        </p:spPr>
      </p:pic>
      <p:sp>
        <p:nvSpPr>
          <p:cNvPr id="18" name="Text 13"/>
          <p:cNvSpPr/>
          <p:nvPr/>
        </p:nvSpPr>
        <p:spPr>
          <a:xfrm>
            <a:off x="3968496" y="3319272"/>
            <a:ext cx="1316736" cy="329184"/>
          </a:xfrm>
          <a:prstGeom prst="rect">
            <a:avLst/>
          </a:prstGeom>
          <a:noFill/>
          <a:ln/>
        </p:spPr>
        <p:txBody>
          <a:bodyPr wrap="square" lIns="0" tIns="0" rIns="0" bIns="0" rtlCol="0" anchor="ctr"/>
          <a:lstStyle/>
          <a:p>
            <a:pPr algn="ctr" indent="0" marL="0">
              <a:buNone/>
            </a:pPr>
            <a:r>
              <a:rPr lang="en-US" sz="1600" b="1" dirty="0">
                <a:solidFill>
                  <a:srgbClr val="1483C8"/>
                </a:solidFill>
                <a:latin typeface="Lato" pitchFamily="34" charset="0"/>
                <a:ea typeface="Lato" pitchFamily="34" charset="-122"/>
                <a:cs typeface="Lato" pitchFamily="34" charset="-120"/>
              </a:rPr>
              <a:t>SBA</a:t>
            </a:r>
            <a:endParaRPr lang="en-US" sz="1600" dirty="0"/>
          </a:p>
        </p:txBody>
      </p:sp>
      <p:sp>
        <p:nvSpPr>
          <p:cNvPr id="19" name="Text 14"/>
          <p:cNvSpPr/>
          <p:nvPr/>
        </p:nvSpPr>
        <p:spPr>
          <a:xfrm>
            <a:off x="3968496" y="3648456"/>
            <a:ext cx="1316736" cy="365760"/>
          </a:xfrm>
          <a:prstGeom prst="rect">
            <a:avLst/>
          </a:prstGeom>
          <a:noFill/>
          <a:ln/>
        </p:spPr>
        <p:txBody>
          <a:bodyPr wrap="square" lIns="0" tIns="0" rIns="0" bIns="0" rtlCol="0" anchor="ctr"/>
          <a:lstStyle/>
          <a:p>
            <a:pPr algn="ctr" indent="0" marL="0">
              <a:lnSpc>
                <a:spcPts val="1100"/>
              </a:lnSpc>
              <a:buNone/>
            </a:pPr>
            <a:r>
              <a:rPr lang="en-US" sz="900" dirty="0">
                <a:solidFill>
                  <a:srgbClr val="5B6B7B"/>
                </a:solidFill>
                <a:latin typeface="Lato" pitchFamily="34" charset="0"/>
                <a:ea typeface="Lato" pitchFamily="34" charset="-122"/>
                <a:cs typeface="Lato" pitchFamily="34" charset="-120"/>
              </a:rPr>
              <a:t>Disaster assistance loans</a:t>
            </a:r>
            <a:endParaRPr lang="en-US" sz="900" dirty="0"/>
          </a:p>
        </p:txBody>
      </p:sp>
      <p:sp>
        <p:nvSpPr>
          <p:cNvPr id="20" name="Shape 15"/>
          <p:cNvSpPr/>
          <p:nvPr/>
        </p:nvSpPr>
        <p:spPr>
          <a:xfrm>
            <a:off x="5541264" y="2331720"/>
            <a:ext cx="1499616" cy="1737360"/>
          </a:xfrm>
          <a:prstGeom prst="roundRect">
            <a:avLst>
              <a:gd name="adj" fmla="val 3659"/>
            </a:avLst>
          </a:prstGeom>
          <a:solidFill>
            <a:srgbClr val="FFFFFF"/>
          </a:solidFill>
          <a:ln w="12700">
            <a:solidFill>
              <a:srgbClr val="E2E7ED"/>
            </a:solidFill>
            <a:prstDash val="solid"/>
          </a:ln>
          <a:effectLst>
            <a:outerShdw sx="100000" sy="100000" kx="0" ky="0" algn="bl" rotWithShape="0" blurRad="50800" dist="25400" dir="5400000">
              <a:srgbClr val="B8C2CE">
                <a:alpha val="20000"/>
              </a:srgbClr>
            </a:outerShdw>
          </a:effectLst>
        </p:spPr>
      </p:sp>
      <p:sp>
        <p:nvSpPr>
          <p:cNvPr id="21" name="Shape 16"/>
          <p:cNvSpPr/>
          <p:nvPr/>
        </p:nvSpPr>
        <p:spPr>
          <a:xfrm>
            <a:off x="5971032" y="2569464"/>
            <a:ext cx="640080" cy="640080"/>
          </a:xfrm>
          <a:prstGeom prst="ellipse">
            <a:avLst/>
          </a:prstGeom>
          <a:solidFill>
            <a:srgbClr val="0C1B2E"/>
          </a:solidFill>
          <a:ln/>
        </p:spPr>
      </p:sp>
      <p:pic>
        <p:nvPicPr>
          <p:cNvPr id="22" name="Image 3" descr="ic_7d043me4m1u.sv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117336" y="2715768"/>
            <a:ext cx="347472" cy="347472"/>
          </a:xfrm>
          <a:prstGeom prst="rect">
            <a:avLst/>
          </a:prstGeom>
        </p:spPr>
      </p:pic>
      <p:sp>
        <p:nvSpPr>
          <p:cNvPr id="23" name="Text 17"/>
          <p:cNvSpPr/>
          <p:nvPr/>
        </p:nvSpPr>
        <p:spPr>
          <a:xfrm>
            <a:off x="5632704" y="3319272"/>
            <a:ext cx="1316736" cy="329184"/>
          </a:xfrm>
          <a:prstGeom prst="rect">
            <a:avLst/>
          </a:prstGeom>
          <a:noFill/>
          <a:ln/>
        </p:spPr>
        <p:txBody>
          <a:bodyPr wrap="square" lIns="0" tIns="0" rIns="0" bIns="0" rtlCol="0" anchor="ctr"/>
          <a:lstStyle/>
          <a:p>
            <a:pPr algn="ctr" indent="0" marL="0">
              <a:buNone/>
            </a:pPr>
            <a:r>
              <a:rPr lang="en-US" sz="1600" b="1" dirty="0">
                <a:solidFill>
                  <a:srgbClr val="1483C8"/>
                </a:solidFill>
                <a:latin typeface="Lato" pitchFamily="34" charset="0"/>
                <a:ea typeface="Lato" pitchFamily="34" charset="-122"/>
                <a:cs typeface="Lato" pitchFamily="34" charset="-120"/>
              </a:rPr>
              <a:t>EPA</a:t>
            </a:r>
            <a:endParaRPr lang="en-US" sz="1600" dirty="0"/>
          </a:p>
        </p:txBody>
      </p:sp>
      <p:sp>
        <p:nvSpPr>
          <p:cNvPr id="24" name="Text 18"/>
          <p:cNvSpPr/>
          <p:nvPr/>
        </p:nvSpPr>
        <p:spPr>
          <a:xfrm>
            <a:off x="5632704" y="3648456"/>
            <a:ext cx="1316736" cy="365760"/>
          </a:xfrm>
          <a:prstGeom prst="rect">
            <a:avLst/>
          </a:prstGeom>
          <a:noFill/>
          <a:ln/>
        </p:spPr>
        <p:txBody>
          <a:bodyPr wrap="square" lIns="0" tIns="0" rIns="0" bIns="0" rtlCol="0" anchor="ctr"/>
          <a:lstStyle/>
          <a:p>
            <a:pPr algn="ctr" indent="0" marL="0">
              <a:lnSpc>
                <a:spcPts val="1100"/>
              </a:lnSpc>
              <a:buNone/>
            </a:pPr>
            <a:r>
              <a:rPr lang="en-US" sz="900" dirty="0">
                <a:solidFill>
                  <a:srgbClr val="5B6B7B"/>
                </a:solidFill>
                <a:latin typeface="Lato" pitchFamily="34" charset="0"/>
                <a:ea typeface="Lato" pitchFamily="34" charset="-122"/>
                <a:cs typeface="Lato" pitchFamily="34" charset="-120"/>
              </a:rPr>
              <a:t>Environmental grants</a:t>
            </a:r>
            <a:endParaRPr lang="en-US" sz="900" dirty="0"/>
          </a:p>
        </p:txBody>
      </p:sp>
      <p:sp>
        <p:nvSpPr>
          <p:cNvPr id="25" name="Shape 19"/>
          <p:cNvSpPr/>
          <p:nvPr/>
        </p:nvSpPr>
        <p:spPr>
          <a:xfrm>
            <a:off x="7205472" y="2331720"/>
            <a:ext cx="1499616" cy="1737360"/>
          </a:xfrm>
          <a:prstGeom prst="roundRect">
            <a:avLst>
              <a:gd name="adj" fmla="val 3659"/>
            </a:avLst>
          </a:prstGeom>
          <a:solidFill>
            <a:srgbClr val="FFFFFF"/>
          </a:solidFill>
          <a:ln w="12700">
            <a:solidFill>
              <a:srgbClr val="E2E7ED"/>
            </a:solidFill>
            <a:prstDash val="solid"/>
          </a:ln>
          <a:effectLst>
            <a:outerShdw sx="100000" sy="100000" kx="0" ky="0" algn="bl" rotWithShape="0" blurRad="50800" dist="25400" dir="5400000">
              <a:srgbClr val="B8C2CE">
                <a:alpha val="20000"/>
              </a:srgbClr>
            </a:outerShdw>
          </a:effectLst>
        </p:spPr>
      </p:sp>
      <p:sp>
        <p:nvSpPr>
          <p:cNvPr id="26" name="Shape 20"/>
          <p:cNvSpPr/>
          <p:nvPr/>
        </p:nvSpPr>
        <p:spPr>
          <a:xfrm>
            <a:off x="7635240" y="2569464"/>
            <a:ext cx="640080" cy="640080"/>
          </a:xfrm>
          <a:prstGeom prst="ellipse">
            <a:avLst/>
          </a:prstGeom>
          <a:solidFill>
            <a:srgbClr val="0C1B2E"/>
          </a:solidFill>
          <a:ln/>
        </p:spPr>
      </p:sp>
      <p:pic>
        <p:nvPicPr>
          <p:cNvPr id="27" name="Image 4" descr="ic_erl1uketu8p.sv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781544" y="2715768"/>
            <a:ext cx="347472" cy="347472"/>
          </a:xfrm>
          <a:prstGeom prst="rect">
            <a:avLst/>
          </a:prstGeom>
        </p:spPr>
      </p:pic>
      <p:sp>
        <p:nvSpPr>
          <p:cNvPr id="28" name="Text 21"/>
          <p:cNvSpPr/>
          <p:nvPr/>
        </p:nvSpPr>
        <p:spPr>
          <a:xfrm>
            <a:off x="7296912" y="3319272"/>
            <a:ext cx="1316736" cy="329184"/>
          </a:xfrm>
          <a:prstGeom prst="rect">
            <a:avLst/>
          </a:prstGeom>
          <a:noFill/>
          <a:ln/>
        </p:spPr>
        <p:txBody>
          <a:bodyPr wrap="square" lIns="0" tIns="0" rIns="0" bIns="0" rtlCol="0" anchor="ctr"/>
          <a:lstStyle/>
          <a:p>
            <a:pPr algn="ctr" indent="0" marL="0">
              <a:buNone/>
            </a:pPr>
            <a:r>
              <a:rPr lang="en-US" sz="1600" b="1" dirty="0">
                <a:solidFill>
                  <a:srgbClr val="1483C8"/>
                </a:solidFill>
                <a:latin typeface="Lato" pitchFamily="34" charset="0"/>
                <a:ea typeface="Lato" pitchFamily="34" charset="-122"/>
                <a:cs typeface="Lato" pitchFamily="34" charset="-120"/>
              </a:rPr>
              <a:t>DOT</a:t>
            </a:r>
            <a:endParaRPr lang="en-US" sz="1600" dirty="0"/>
          </a:p>
        </p:txBody>
      </p:sp>
      <p:sp>
        <p:nvSpPr>
          <p:cNvPr id="29" name="Text 22"/>
          <p:cNvSpPr/>
          <p:nvPr/>
        </p:nvSpPr>
        <p:spPr>
          <a:xfrm>
            <a:off x="7296912" y="3648456"/>
            <a:ext cx="1316736" cy="365760"/>
          </a:xfrm>
          <a:prstGeom prst="rect">
            <a:avLst/>
          </a:prstGeom>
          <a:noFill/>
          <a:ln/>
        </p:spPr>
        <p:txBody>
          <a:bodyPr wrap="square" lIns="0" tIns="0" rIns="0" bIns="0" rtlCol="0" anchor="ctr"/>
          <a:lstStyle/>
          <a:p>
            <a:pPr algn="ctr" indent="0" marL="0">
              <a:lnSpc>
                <a:spcPts val="1100"/>
              </a:lnSpc>
              <a:buNone/>
            </a:pPr>
            <a:r>
              <a:rPr lang="en-US" sz="900" dirty="0">
                <a:solidFill>
                  <a:srgbClr val="5B6B7B"/>
                </a:solidFill>
                <a:latin typeface="Lato" pitchFamily="34" charset="0"/>
                <a:ea typeface="Lato" pitchFamily="34" charset="-122"/>
                <a:cs typeface="Lato" pitchFamily="34" charset="-120"/>
              </a:rPr>
              <a:t>Infrastructure projects</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48640"/>
            <a:ext cx="7772400" cy="274320"/>
          </a:xfrm>
          <a:prstGeom prst="rect">
            <a:avLst/>
          </a:prstGeom>
          <a:noFill/>
          <a:ln/>
        </p:spPr>
        <p:txBody>
          <a:bodyPr wrap="square" lIns="0" tIns="0" rIns="0" bIns="0" rtlCol="0" anchor="ctr"/>
          <a:lstStyle/>
          <a:p>
            <a:pPr indent="0" marL="0">
              <a:buNone/>
            </a:pPr>
            <a:r>
              <a:rPr lang="en-US" sz="1100" b="1" spc="150" kern="0" dirty="0">
                <a:solidFill>
                  <a:srgbClr val="1483C8"/>
                </a:solidFill>
                <a:latin typeface="Lato" pitchFamily="34" charset="0"/>
                <a:ea typeface="Lato" pitchFamily="34" charset="-122"/>
                <a:cs typeface="Lato" pitchFamily="34" charset="-120"/>
              </a:rPr>
              <a:t>TARGET ADOPTERS</a:t>
            </a:r>
            <a:endParaRPr lang="en-US" sz="1100" dirty="0"/>
          </a:p>
        </p:txBody>
      </p:sp>
      <p:sp>
        <p:nvSpPr>
          <p:cNvPr id="3" name="Text 1"/>
          <p:cNvSpPr/>
          <p:nvPr/>
        </p:nvSpPr>
        <p:spPr>
          <a:xfrm>
            <a:off x="667512" y="822960"/>
            <a:ext cx="7863840" cy="658368"/>
          </a:xfrm>
          <a:prstGeom prst="rect">
            <a:avLst/>
          </a:prstGeom>
          <a:noFill/>
          <a:ln/>
        </p:spPr>
        <p:txBody>
          <a:bodyPr wrap="square" lIns="0" tIns="0" rIns="0" bIns="0" rtlCol="0" anchor="ctr"/>
          <a:lstStyle/>
          <a:p>
            <a:pPr indent="0" marL="0">
              <a:buNone/>
            </a:pPr>
            <a:r>
              <a:rPr lang="en-US" sz="3200" b="1" dirty="0">
                <a:solidFill>
                  <a:srgbClr val="0C1B2E"/>
                </a:solidFill>
                <a:latin typeface="Lato" pitchFamily="34" charset="0"/>
                <a:ea typeface="Lato" pitchFamily="34" charset="-122"/>
                <a:cs typeface="Lato" pitchFamily="34" charset="-120"/>
              </a:rPr>
              <a:t>Who uses this first.</a:t>
            </a:r>
            <a:endParaRPr lang="en-US" sz="3200" dirty="0"/>
          </a:p>
        </p:txBody>
      </p:sp>
      <p:sp>
        <p:nvSpPr>
          <p:cNvPr id="4" name="Text 2"/>
          <p:cNvSpPr/>
          <p:nvPr/>
        </p:nvSpPr>
        <p:spPr>
          <a:xfrm>
            <a:off x="685800" y="1517904"/>
            <a:ext cx="7589520" cy="548640"/>
          </a:xfrm>
          <a:prstGeom prst="rect">
            <a:avLst/>
          </a:prstGeom>
          <a:noFill/>
          <a:ln/>
        </p:spPr>
        <p:txBody>
          <a:bodyPr wrap="square" lIns="0" tIns="0" rIns="0" bIns="0" rtlCol="0" anchor="ctr"/>
          <a:lstStyle/>
          <a:p>
            <a:pPr indent="0" marL="0">
              <a:lnSpc>
                <a:spcPts val="1900"/>
              </a:lnSpc>
              <a:buNone/>
            </a:pPr>
            <a:r>
              <a:rPr lang="en-US" sz="1350" dirty="0">
                <a:solidFill>
                  <a:srgbClr val="5B6B7B"/>
                </a:solidFill>
                <a:latin typeface="Lato" pitchFamily="34" charset="0"/>
                <a:ea typeface="Lato" pitchFamily="34" charset="-122"/>
                <a:cs typeface="Lato" pitchFamily="34" charset="-120"/>
              </a:rPr>
              <a:t>Ranked by mission overlap, data authority, and likelihood of running an agentic query tool.</a:t>
            </a:r>
            <a:endParaRPr lang="en-US" sz="1350" dirty="0"/>
          </a:p>
        </p:txBody>
      </p:sp>
      <p:sp>
        <p:nvSpPr>
          <p:cNvPr id="5" name="Text 3"/>
          <p:cNvSpPr/>
          <p:nvPr/>
        </p:nvSpPr>
        <p:spPr>
          <a:xfrm>
            <a:off x="868680" y="2148840"/>
            <a:ext cx="3749040" cy="256032"/>
          </a:xfrm>
          <a:prstGeom prst="rect">
            <a:avLst/>
          </a:prstGeom>
          <a:noFill/>
          <a:ln/>
        </p:spPr>
        <p:txBody>
          <a:bodyPr wrap="square" lIns="0" tIns="0" rIns="0" bIns="0" rtlCol="0" anchor="ctr"/>
          <a:lstStyle/>
          <a:p>
            <a:pPr indent="0" marL="0">
              <a:buNone/>
            </a:pPr>
            <a:r>
              <a:rPr lang="en-US" sz="1050" b="1" spc="100" kern="0" dirty="0">
                <a:solidFill>
                  <a:srgbClr val="1483C8"/>
                </a:solidFill>
                <a:latin typeface="Lato" pitchFamily="34" charset="0"/>
                <a:ea typeface="Lato" pitchFamily="34" charset="-122"/>
                <a:cs typeface="Lato" pitchFamily="34" charset="-120"/>
              </a:rPr>
              <a:t>TIER 1 · CORE PA OVERSIGHT</a:t>
            </a:r>
            <a:endParaRPr lang="en-US" sz="1050" dirty="0"/>
          </a:p>
        </p:txBody>
      </p:sp>
      <p:sp>
        <p:nvSpPr>
          <p:cNvPr id="6" name="Text 4"/>
          <p:cNvSpPr/>
          <p:nvPr/>
        </p:nvSpPr>
        <p:spPr>
          <a:xfrm>
            <a:off x="868680" y="2450592"/>
            <a:ext cx="3657600" cy="1828800"/>
          </a:xfrm>
          <a:prstGeom prst="rect">
            <a:avLst/>
          </a:prstGeom>
          <a:noFill/>
          <a:ln/>
        </p:spPr>
        <p:txBody>
          <a:bodyPr wrap="square" lIns="0" tIns="0" rIns="0" bIns="0" rtlCol="0" anchor="ctr"/>
          <a:lstStyle/>
          <a:p>
            <a:pPr indent="0" marL="0">
              <a:lnSpc>
                <a:spcPts val="1500"/>
              </a:lnSpc>
              <a:spcAft>
                <a:spcPts val="700"/>
              </a:spcAft>
              <a:buNone/>
            </a:pPr>
            <a:r>
              <a:rPr lang="en-US" sz="1150" dirty="0">
                <a:solidFill>
                  <a:srgbClr val="0C1B2E"/>
                </a:solidFill>
                <a:latin typeface="Lato" pitchFamily="34" charset="0"/>
                <a:ea typeface="Lato" pitchFamily="34" charset="-122"/>
                <a:cs typeface="Lato" pitchFamily="34" charset="-120"/>
              </a:rPr>
              <a:t>1.  DHS Office of Inspector General</a:t>
            </a:r>
            <a:endParaRPr lang="en-US" sz="1150" dirty="0"/>
          </a:p>
          <a:p>
            <a:pPr indent="0" marL="0">
              <a:lnSpc>
                <a:spcPts val="1500"/>
              </a:lnSpc>
              <a:spcAft>
                <a:spcPts val="700"/>
              </a:spcAft>
              <a:buNone/>
            </a:pPr>
            <a:r>
              <a:rPr lang="en-US" sz="1150" dirty="0">
                <a:solidFill>
                  <a:srgbClr val="0C1B2E"/>
                </a:solidFill>
                <a:latin typeface="Lato" pitchFamily="34" charset="0"/>
                <a:ea typeface="Lato" pitchFamily="34" charset="-122"/>
                <a:cs typeface="Lato" pitchFamily="34" charset="-120"/>
              </a:rPr>
              <a:t>2.  Government Accountability Office</a:t>
            </a:r>
            <a:endParaRPr lang="en-US" sz="1150" dirty="0"/>
          </a:p>
          <a:p>
            <a:pPr indent="0" marL="0">
              <a:lnSpc>
                <a:spcPts val="1500"/>
              </a:lnSpc>
              <a:spcAft>
                <a:spcPts val="700"/>
              </a:spcAft>
              <a:buNone/>
            </a:pPr>
            <a:r>
              <a:rPr lang="en-US" sz="1150" dirty="0">
                <a:solidFill>
                  <a:srgbClr val="0C1B2E"/>
                </a:solidFill>
                <a:latin typeface="Lato" pitchFamily="34" charset="0"/>
                <a:ea typeface="Lato" pitchFamily="34" charset="-122"/>
                <a:cs typeface="Lato" pitchFamily="34" charset="-120"/>
              </a:rPr>
              <a:t>3.  FEMA Recovery — PA Division</a:t>
            </a:r>
            <a:endParaRPr lang="en-US" sz="1150" dirty="0"/>
          </a:p>
          <a:p>
            <a:pPr indent="0" marL="0">
              <a:lnSpc>
                <a:spcPts val="1500"/>
              </a:lnSpc>
              <a:spcAft>
                <a:spcPts val="700"/>
              </a:spcAft>
              <a:buNone/>
            </a:pPr>
            <a:r>
              <a:rPr lang="en-US" sz="1150" dirty="0">
                <a:solidFill>
                  <a:srgbClr val="0C1B2E"/>
                </a:solidFill>
                <a:latin typeface="Lato" pitchFamily="34" charset="0"/>
                <a:ea typeface="Lato" pitchFamily="34" charset="-122"/>
                <a:cs typeface="Lato" pitchFamily="34" charset="-120"/>
              </a:rPr>
              <a:t>4.  FEMA Consolidated Resource Centers</a:t>
            </a:r>
            <a:endParaRPr lang="en-US" sz="1150" dirty="0"/>
          </a:p>
          <a:p>
            <a:pPr indent="0" marL="0">
              <a:lnSpc>
                <a:spcPts val="1500"/>
              </a:lnSpc>
              <a:spcAft>
                <a:spcPts val="700"/>
              </a:spcAft>
              <a:buNone/>
            </a:pPr>
            <a:r>
              <a:rPr lang="en-US" sz="1150" dirty="0">
                <a:solidFill>
                  <a:srgbClr val="0C1B2E"/>
                </a:solidFill>
                <a:latin typeface="Lato" pitchFamily="34" charset="0"/>
                <a:ea typeface="Lato" pitchFamily="34" charset="-122"/>
                <a:cs typeface="Lato" pitchFamily="34" charset="-120"/>
              </a:rPr>
              <a:t>5.  FEMA Regions 1–10 (ten offices)</a:t>
            </a:r>
            <a:endParaRPr lang="en-US" sz="1150" dirty="0"/>
          </a:p>
          <a:p>
            <a:pPr indent="0" marL="0">
              <a:lnSpc>
                <a:spcPts val="1500"/>
              </a:lnSpc>
              <a:spcAft>
                <a:spcPts val="700"/>
              </a:spcAft>
              <a:buNone/>
            </a:pPr>
            <a:r>
              <a:rPr lang="en-US" sz="1150" dirty="0">
                <a:solidFill>
                  <a:srgbClr val="0C1B2E"/>
                </a:solidFill>
                <a:latin typeface="Lato" pitchFamily="34" charset="0"/>
                <a:ea typeface="Lato" pitchFamily="34" charset="-122"/>
                <a:cs typeface="Lato" pitchFamily="34" charset="-120"/>
              </a:rPr>
              <a:t>6.  PRAC / CIGIE oversight.gov</a:t>
            </a:r>
            <a:endParaRPr lang="en-US" sz="1150" dirty="0"/>
          </a:p>
        </p:txBody>
      </p:sp>
      <p:sp>
        <p:nvSpPr>
          <p:cNvPr id="7" name="Text 5"/>
          <p:cNvSpPr/>
          <p:nvPr/>
        </p:nvSpPr>
        <p:spPr>
          <a:xfrm>
            <a:off x="4892040" y="2148840"/>
            <a:ext cx="3749040" cy="256032"/>
          </a:xfrm>
          <a:prstGeom prst="rect">
            <a:avLst/>
          </a:prstGeom>
          <a:noFill/>
          <a:ln/>
        </p:spPr>
        <p:txBody>
          <a:bodyPr wrap="square" lIns="0" tIns="0" rIns="0" bIns="0" rtlCol="0" anchor="ctr"/>
          <a:lstStyle/>
          <a:p>
            <a:pPr indent="0" marL="0">
              <a:buNone/>
            </a:pPr>
            <a:r>
              <a:rPr lang="en-US" sz="1050" b="1" spc="100" kern="0" dirty="0">
                <a:solidFill>
                  <a:srgbClr val="1483C8"/>
                </a:solidFill>
                <a:latin typeface="Lato" pitchFamily="34" charset="0"/>
                <a:ea typeface="Lato" pitchFamily="34" charset="-122"/>
                <a:cs typeface="Lato" pitchFamily="34" charset="-120"/>
              </a:rPr>
              <a:t>TIER 2 · BUDGET &amp; LEGISLATIVE</a:t>
            </a:r>
            <a:endParaRPr lang="en-US" sz="1050" dirty="0"/>
          </a:p>
        </p:txBody>
      </p:sp>
      <p:sp>
        <p:nvSpPr>
          <p:cNvPr id="8" name="Text 6"/>
          <p:cNvSpPr/>
          <p:nvPr/>
        </p:nvSpPr>
        <p:spPr>
          <a:xfrm>
            <a:off x="4892040" y="2450592"/>
            <a:ext cx="3749040" cy="1828800"/>
          </a:xfrm>
          <a:prstGeom prst="rect">
            <a:avLst/>
          </a:prstGeom>
          <a:noFill/>
          <a:ln/>
        </p:spPr>
        <p:txBody>
          <a:bodyPr wrap="square" lIns="0" tIns="0" rIns="0" bIns="0" rtlCol="0" anchor="ctr"/>
          <a:lstStyle/>
          <a:p>
            <a:pPr indent="0" marL="0">
              <a:lnSpc>
                <a:spcPts val="1500"/>
              </a:lnSpc>
              <a:spcAft>
                <a:spcPts val="700"/>
              </a:spcAft>
              <a:buNone/>
            </a:pPr>
            <a:r>
              <a:rPr lang="en-US" sz="1150" dirty="0">
                <a:solidFill>
                  <a:srgbClr val="0C1B2E"/>
                </a:solidFill>
                <a:latin typeface="Lato" pitchFamily="34" charset="0"/>
                <a:ea typeface="Lato" pitchFamily="34" charset="-122"/>
                <a:cs typeface="Lato" pitchFamily="34" charset="-120"/>
              </a:rPr>
              <a:t>7.   OMB (payment-integrity mandate)</a:t>
            </a:r>
            <a:endParaRPr lang="en-US" sz="1150" dirty="0"/>
          </a:p>
          <a:p>
            <a:pPr indent="0" marL="0">
              <a:lnSpc>
                <a:spcPts val="1500"/>
              </a:lnSpc>
              <a:spcAft>
                <a:spcPts val="700"/>
              </a:spcAft>
              <a:buNone/>
            </a:pPr>
            <a:r>
              <a:rPr lang="en-US" sz="1150" dirty="0">
                <a:solidFill>
                  <a:srgbClr val="0C1B2E"/>
                </a:solidFill>
                <a:latin typeface="Lato" pitchFamily="34" charset="0"/>
                <a:ea typeface="Lato" pitchFamily="34" charset="-122"/>
                <a:cs typeface="Lato" pitchFamily="34" charset="-120"/>
              </a:rPr>
              <a:t>8.   Treasury — Do Not Pay / Fiscal Service</a:t>
            </a:r>
            <a:endParaRPr lang="en-US" sz="1150" dirty="0"/>
          </a:p>
          <a:p>
            <a:pPr indent="0" marL="0">
              <a:lnSpc>
                <a:spcPts val="1500"/>
              </a:lnSpc>
              <a:spcAft>
                <a:spcPts val="700"/>
              </a:spcAft>
              <a:buNone/>
            </a:pPr>
            <a:r>
              <a:rPr lang="en-US" sz="1150" dirty="0">
                <a:solidFill>
                  <a:srgbClr val="0C1B2E"/>
                </a:solidFill>
                <a:latin typeface="Lato" pitchFamily="34" charset="0"/>
                <a:ea typeface="Lato" pitchFamily="34" charset="-122"/>
                <a:cs typeface="Lato" pitchFamily="34" charset="-120"/>
              </a:rPr>
              <a:t>9.   House Transportation &amp; Infrastructure</a:t>
            </a:r>
            <a:endParaRPr lang="en-US" sz="1150" dirty="0"/>
          </a:p>
          <a:p>
            <a:pPr indent="0" marL="0">
              <a:lnSpc>
                <a:spcPts val="1500"/>
              </a:lnSpc>
              <a:spcAft>
                <a:spcPts val="700"/>
              </a:spcAft>
              <a:buNone/>
            </a:pPr>
            <a:r>
              <a:rPr lang="en-US" sz="1150" dirty="0">
                <a:solidFill>
                  <a:srgbClr val="0C1B2E"/>
                </a:solidFill>
                <a:latin typeface="Lato" pitchFamily="34" charset="0"/>
                <a:ea typeface="Lato" pitchFamily="34" charset="-122"/>
                <a:cs typeface="Lato" pitchFamily="34" charset="-120"/>
              </a:rPr>
              <a:t>10.  House &amp; Senate Homeland Security</a:t>
            </a:r>
            <a:endParaRPr lang="en-US" sz="1150" dirty="0"/>
          </a:p>
          <a:p>
            <a:pPr indent="0" marL="0">
              <a:lnSpc>
                <a:spcPts val="1500"/>
              </a:lnSpc>
              <a:spcAft>
                <a:spcPts val="700"/>
              </a:spcAft>
              <a:buNone/>
            </a:pPr>
            <a:r>
              <a:rPr lang="en-US" sz="1150" dirty="0">
                <a:solidFill>
                  <a:srgbClr val="0C1B2E"/>
                </a:solidFill>
                <a:latin typeface="Lato" pitchFamily="34" charset="0"/>
                <a:ea typeface="Lato" pitchFamily="34" charset="-122"/>
                <a:cs typeface="Lato" pitchFamily="34" charset="-120"/>
              </a:rPr>
              <a:t>11.  Appropriations (Homeland subcmtes)</a:t>
            </a:r>
            <a:endParaRPr lang="en-US" sz="1150" dirty="0"/>
          </a:p>
          <a:p>
            <a:pPr indent="0" marL="0">
              <a:lnSpc>
                <a:spcPts val="1500"/>
              </a:lnSpc>
              <a:spcAft>
                <a:spcPts val="700"/>
              </a:spcAft>
              <a:buNone/>
            </a:pPr>
            <a:r>
              <a:rPr lang="en-US" sz="1150" dirty="0">
                <a:solidFill>
                  <a:srgbClr val="0C1B2E"/>
                </a:solidFill>
                <a:latin typeface="Lato" pitchFamily="34" charset="0"/>
                <a:ea typeface="Lato" pitchFamily="34" charset="-122"/>
                <a:cs typeface="Lato" pitchFamily="34" charset="-120"/>
              </a:rPr>
              <a:t>12.  CRS &amp; CBO analysts</a:t>
            </a:r>
            <a:endParaRPr lang="en-US" sz="1150" dirty="0"/>
          </a:p>
        </p:txBody>
      </p:sp>
      <p:sp>
        <p:nvSpPr>
          <p:cNvPr id="9" name="Shape 7"/>
          <p:cNvSpPr/>
          <p:nvPr/>
        </p:nvSpPr>
        <p:spPr>
          <a:xfrm>
            <a:off x="685800" y="4315968"/>
            <a:ext cx="7772400" cy="384048"/>
          </a:xfrm>
          <a:prstGeom prst="rect">
            <a:avLst/>
          </a:prstGeom>
          <a:solidFill>
            <a:srgbClr val="EEF4FA"/>
          </a:solidFill>
          <a:ln/>
        </p:spPr>
      </p:sp>
      <p:sp>
        <p:nvSpPr>
          <p:cNvPr id="10" name="Text 8"/>
          <p:cNvSpPr/>
          <p:nvPr/>
        </p:nvSpPr>
        <p:spPr>
          <a:xfrm>
            <a:off x="868680" y="4315968"/>
            <a:ext cx="7406640" cy="384048"/>
          </a:xfrm>
          <a:prstGeom prst="rect">
            <a:avLst/>
          </a:prstGeom>
          <a:noFill/>
          <a:ln/>
        </p:spPr>
        <p:txBody>
          <a:bodyPr wrap="square" lIns="0" tIns="0" rIns="0" bIns="0" rtlCol="0" anchor="ctr"/>
          <a:lstStyle/>
          <a:p>
            <a:pPr indent="0" marL="0">
              <a:buNone/>
            </a:pPr>
            <a:r>
              <a:rPr lang="en-US" sz="950" i="1" dirty="0">
                <a:solidFill>
                  <a:srgbClr val="0C1B2E"/>
                </a:solidFill>
                <a:latin typeface="Lato" pitchFamily="34" charset="0"/>
                <a:ea typeface="Lato" pitchFamily="34" charset="-122"/>
                <a:cs typeface="Lato" pitchFamily="34" charset="-120"/>
              </a:rPr>
              <a:t>Scales to 100+ through recipients: 50 state EM agencies, 6 territories, and 500+ federally recognized tribes that receive PA directly.</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48640"/>
            <a:ext cx="7772400" cy="274320"/>
          </a:xfrm>
          <a:prstGeom prst="rect">
            <a:avLst/>
          </a:prstGeom>
          <a:noFill/>
          <a:ln/>
        </p:spPr>
        <p:txBody>
          <a:bodyPr wrap="square" lIns="0" tIns="0" rIns="0" bIns="0" rtlCol="0" anchor="ctr"/>
          <a:lstStyle/>
          <a:p>
            <a:pPr indent="0" marL="0">
              <a:buNone/>
            </a:pPr>
            <a:r>
              <a:rPr lang="en-US" sz="1100" b="1" spc="150" kern="0" dirty="0">
                <a:solidFill>
                  <a:srgbClr val="1483C8"/>
                </a:solidFill>
                <a:latin typeface="Lato" pitchFamily="34" charset="0"/>
                <a:ea typeface="Lato" pitchFamily="34" charset="-122"/>
                <a:cs typeface="Lato" pitchFamily="34" charset="-120"/>
              </a:rPr>
              <a:t>USE CASES</a:t>
            </a:r>
            <a:endParaRPr lang="en-US" sz="1100" dirty="0"/>
          </a:p>
        </p:txBody>
      </p:sp>
      <p:sp>
        <p:nvSpPr>
          <p:cNvPr id="3" name="Text 1"/>
          <p:cNvSpPr/>
          <p:nvPr/>
        </p:nvSpPr>
        <p:spPr>
          <a:xfrm>
            <a:off x="667512" y="822960"/>
            <a:ext cx="7863840" cy="658368"/>
          </a:xfrm>
          <a:prstGeom prst="rect">
            <a:avLst/>
          </a:prstGeom>
          <a:noFill/>
          <a:ln/>
        </p:spPr>
        <p:txBody>
          <a:bodyPr wrap="square" lIns="0" tIns="0" rIns="0" bIns="0" rtlCol="0" anchor="ctr"/>
          <a:lstStyle/>
          <a:p>
            <a:pPr indent="0" marL="0">
              <a:buNone/>
            </a:pPr>
            <a:r>
              <a:rPr lang="en-US" sz="3200" b="1" dirty="0">
                <a:solidFill>
                  <a:srgbClr val="0C1B2E"/>
                </a:solidFill>
                <a:latin typeface="Lato" pitchFamily="34" charset="0"/>
                <a:ea typeface="Lato" pitchFamily="34" charset="-122"/>
                <a:cs typeface="Lato" pitchFamily="34" charset="-120"/>
              </a:rPr>
              <a:t>Same five tools, three jobs.</a:t>
            </a:r>
            <a:endParaRPr lang="en-US" sz="3200" dirty="0"/>
          </a:p>
        </p:txBody>
      </p:sp>
      <p:sp>
        <p:nvSpPr>
          <p:cNvPr id="4" name="Text 2"/>
          <p:cNvSpPr/>
          <p:nvPr/>
        </p:nvSpPr>
        <p:spPr>
          <a:xfrm>
            <a:off x="685800" y="1517904"/>
            <a:ext cx="7589520" cy="548640"/>
          </a:xfrm>
          <a:prstGeom prst="rect">
            <a:avLst/>
          </a:prstGeom>
          <a:noFill/>
          <a:ln/>
        </p:spPr>
        <p:txBody>
          <a:bodyPr wrap="square" lIns="0" tIns="0" rIns="0" bIns="0" rtlCol="0" anchor="ctr"/>
          <a:lstStyle/>
          <a:p>
            <a:pPr indent="0" marL="0">
              <a:lnSpc>
                <a:spcPts val="1900"/>
              </a:lnSpc>
              <a:buNone/>
            </a:pPr>
            <a:r>
              <a:rPr lang="en-US" sz="1350" dirty="0">
                <a:solidFill>
                  <a:srgbClr val="5B6B7B"/>
                </a:solidFill>
                <a:latin typeface="Lato" pitchFamily="34" charset="0"/>
                <a:ea typeface="Lato" pitchFamily="34" charset="-122"/>
                <a:cs typeface="Lato" pitchFamily="34" charset="-120"/>
              </a:rPr>
              <a:t>What each adopter group asks, and which tool answers it.</a:t>
            </a:r>
            <a:endParaRPr lang="en-US" sz="1350" dirty="0"/>
          </a:p>
        </p:txBody>
      </p:sp>
      <p:sp>
        <p:nvSpPr>
          <p:cNvPr id="5" name="Shape 3"/>
          <p:cNvSpPr/>
          <p:nvPr/>
        </p:nvSpPr>
        <p:spPr>
          <a:xfrm>
            <a:off x="685800" y="2286000"/>
            <a:ext cx="2679192" cy="2331720"/>
          </a:xfrm>
          <a:prstGeom prst="roundRect">
            <a:avLst>
              <a:gd name="adj" fmla="val 1961"/>
            </a:avLst>
          </a:prstGeom>
          <a:solidFill>
            <a:srgbClr val="FFFFFF"/>
          </a:solidFill>
          <a:ln w="12700">
            <a:solidFill>
              <a:srgbClr val="E2E7ED"/>
            </a:solidFill>
            <a:prstDash val="solid"/>
          </a:ln>
          <a:effectLst>
            <a:outerShdw sx="100000" sy="100000" kx="0" ky="0" algn="bl" rotWithShape="0" blurRad="50800" dist="25400" dir="5400000">
              <a:srgbClr val="B8C2CE">
                <a:alpha val="20000"/>
              </a:srgbClr>
            </a:outerShdw>
          </a:effectLst>
        </p:spPr>
      </p:sp>
      <p:sp>
        <p:nvSpPr>
          <p:cNvPr id="6" name="Shape 4"/>
          <p:cNvSpPr/>
          <p:nvPr/>
        </p:nvSpPr>
        <p:spPr>
          <a:xfrm>
            <a:off x="685800" y="2286000"/>
            <a:ext cx="2679192" cy="54864"/>
          </a:xfrm>
          <a:prstGeom prst="rect">
            <a:avLst/>
          </a:prstGeom>
          <a:solidFill>
            <a:srgbClr val="1483C8"/>
          </a:solidFill>
          <a:ln/>
        </p:spPr>
      </p:sp>
      <p:sp>
        <p:nvSpPr>
          <p:cNvPr id="7" name="Shape 5"/>
          <p:cNvSpPr/>
          <p:nvPr/>
        </p:nvSpPr>
        <p:spPr>
          <a:xfrm>
            <a:off x="914400" y="2514600"/>
            <a:ext cx="512064" cy="512064"/>
          </a:xfrm>
          <a:prstGeom prst="ellipse">
            <a:avLst/>
          </a:prstGeom>
          <a:solidFill>
            <a:srgbClr val="0C1B2E"/>
          </a:solidFill>
          <a:ln/>
        </p:spPr>
      </p:sp>
      <p:pic>
        <p:nvPicPr>
          <p:cNvPr id="8" name="Image 0" descr="ic_q7ub0r88hi.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42416" y="2642616"/>
            <a:ext cx="256032" cy="256032"/>
          </a:xfrm>
          <a:prstGeom prst="rect">
            <a:avLst/>
          </a:prstGeom>
        </p:spPr>
      </p:pic>
      <p:sp>
        <p:nvSpPr>
          <p:cNvPr id="9" name="Text 6"/>
          <p:cNvSpPr/>
          <p:nvPr/>
        </p:nvSpPr>
        <p:spPr>
          <a:xfrm>
            <a:off x="1527048" y="2542032"/>
            <a:ext cx="1719072" cy="237744"/>
          </a:xfrm>
          <a:prstGeom prst="rect">
            <a:avLst/>
          </a:prstGeom>
          <a:noFill/>
          <a:ln/>
        </p:spPr>
        <p:txBody>
          <a:bodyPr wrap="square" lIns="0" tIns="0" rIns="0" bIns="0" rtlCol="0" anchor="ctr"/>
          <a:lstStyle/>
          <a:p>
            <a:pPr indent="0" marL="0">
              <a:buNone/>
            </a:pPr>
            <a:r>
              <a:rPr lang="en-US" sz="1150" b="1" spc="50" kern="0" dirty="0">
                <a:solidFill>
                  <a:srgbClr val="0C1B2E"/>
                </a:solidFill>
                <a:latin typeface="Lato" pitchFamily="34" charset="0"/>
                <a:ea typeface="Lato" pitchFamily="34" charset="-122"/>
                <a:cs typeface="Lato" pitchFamily="34" charset="-120"/>
              </a:rPr>
              <a:t>AUDITORS</a:t>
            </a:r>
            <a:endParaRPr lang="en-US" sz="1150" dirty="0"/>
          </a:p>
        </p:txBody>
      </p:sp>
      <p:sp>
        <p:nvSpPr>
          <p:cNvPr id="10" name="Text 7"/>
          <p:cNvSpPr/>
          <p:nvPr/>
        </p:nvSpPr>
        <p:spPr>
          <a:xfrm>
            <a:off x="1527048" y="2779776"/>
            <a:ext cx="1719072" cy="237744"/>
          </a:xfrm>
          <a:prstGeom prst="rect">
            <a:avLst/>
          </a:prstGeom>
          <a:noFill/>
          <a:ln/>
        </p:spPr>
        <p:txBody>
          <a:bodyPr wrap="square" lIns="0" tIns="0" rIns="0" bIns="0" rtlCol="0" anchor="ctr"/>
          <a:lstStyle/>
          <a:p>
            <a:pPr indent="0" marL="0">
              <a:buNone/>
            </a:pPr>
            <a:r>
              <a:rPr lang="en-US" sz="800" dirty="0">
                <a:solidFill>
                  <a:srgbClr val="5B6B7B"/>
                </a:solidFill>
                <a:latin typeface="Lato" pitchFamily="34" charset="0"/>
                <a:ea typeface="Lato" pitchFamily="34" charset="-122"/>
                <a:cs typeface="Lato" pitchFamily="34" charset="-120"/>
              </a:rPr>
              <a:t>OIG · GAO · State IGs</a:t>
            </a:r>
            <a:endParaRPr lang="en-US" sz="800" dirty="0"/>
          </a:p>
        </p:txBody>
      </p:sp>
      <p:sp>
        <p:nvSpPr>
          <p:cNvPr id="11" name="Text 8"/>
          <p:cNvSpPr/>
          <p:nvPr/>
        </p:nvSpPr>
        <p:spPr>
          <a:xfrm>
            <a:off x="914400" y="3154680"/>
            <a:ext cx="2221992" cy="548640"/>
          </a:xfrm>
          <a:prstGeom prst="rect">
            <a:avLst/>
          </a:prstGeom>
          <a:noFill/>
          <a:ln/>
        </p:spPr>
        <p:txBody>
          <a:bodyPr wrap="square" lIns="0" tIns="0" rIns="0" bIns="0" rtlCol="0" anchor="ctr"/>
          <a:lstStyle/>
          <a:p>
            <a:pPr indent="0" marL="0">
              <a:lnSpc>
                <a:spcPts val="1300"/>
              </a:lnSpc>
              <a:buNone/>
            </a:pPr>
            <a:r>
              <a:rPr lang="en-US" sz="1000" i="1" dirty="0">
                <a:solidFill>
                  <a:srgbClr val="1483C8"/>
                </a:solidFill>
                <a:latin typeface="Lato" pitchFamily="34" charset="0"/>
                <a:ea typeface="Lato" pitchFamily="34" charset="-122"/>
                <a:cs typeface="Lato" pitchFamily="34" charset="-120"/>
              </a:rPr>
              <a:t>“Which obligations warrant review, and can I cite why?”</a:t>
            </a:r>
            <a:endParaRPr lang="en-US" sz="1000" dirty="0"/>
          </a:p>
        </p:txBody>
      </p:sp>
      <p:sp>
        <p:nvSpPr>
          <p:cNvPr id="12" name="Text 9"/>
          <p:cNvSpPr/>
          <p:nvPr/>
        </p:nvSpPr>
        <p:spPr>
          <a:xfrm>
            <a:off x="914400" y="3712464"/>
            <a:ext cx="2221992" cy="658368"/>
          </a:xfrm>
          <a:prstGeom prst="rect">
            <a:avLst/>
          </a:prstGeom>
          <a:noFill/>
          <a:ln/>
        </p:spPr>
        <p:txBody>
          <a:bodyPr wrap="square" lIns="0" tIns="0" rIns="0" bIns="0" rtlCol="0" anchor="ctr"/>
          <a:lstStyle/>
          <a:p>
            <a:pPr indent="0" marL="0">
              <a:lnSpc>
                <a:spcPts val="1200"/>
              </a:lnSpc>
              <a:buNone/>
            </a:pPr>
            <a:r>
              <a:rPr lang="en-US" sz="900" dirty="0">
                <a:solidFill>
                  <a:srgbClr val="5B6B7B"/>
                </a:solidFill>
                <a:latin typeface="Lato" pitchFamily="34" charset="0"/>
                <a:ea typeface="Lato" pitchFamily="34" charset="-122"/>
                <a:cs typeface="Lato" pitchFamily="34" charset="-120"/>
              </a:rPr>
              <a:t>Target reviews and source findings. Cost-share + fragmentation tools build the lead list; the evidence brief supplies citable provenance.</a:t>
            </a:r>
            <a:endParaRPr lang="en-US" sz="900" dirty="0"/>
          </a:p>
        </p:txBody>
      </p:sp>
      <p:sp>
        <p:nvSpPr>
          <p:cNvPr id="13" name="Text 10"/>
          <p:cNvSpPr/>
          <p:nvPr/>
        </p:nvSpPr>
        <p:spPr>
          <a:xfrm>
            <a:off x="914400" y="4334256"/>
            <a:ext cx="2221992" cy="237744"/>
          </a:xfrm>
          <a:prstGeom prst="rect">
            <a:avLst/>
          </a:prstGeom>
          <a:noFill/>
          <a:ln/>
        </p:spPr>
        <p:txBody>
          <a:bodyPr wrap="square" lIns="0" tIns="0" rIns="0" bIns="0" rtlCol="0" anchor="ctr"/>
          <a:lstStyle/>
          <a:p>
            <a:pPr indent="0" marL="0">
              <a:buNone/>
            </a:pPr>
            <a:r>
              <a:rPr lang="en-US" sz="850" b="1" spc="50" kern="0" dirty="0">
                <a:solidFill>
                  <a:srgbClr val="94A6B6"/>
                </a:solidFill>
                <a:latin typeface="Lato" pitchFamily="34" charset="0"/>
                <a:ea typeface="Lato" pitchFamily="34" charset="-122"/>
                <a:cs typeface="Lato" pitchFamily="34" charset="-120"/>
              </a:rPr>
              <a:t>KEY TOOL  </a:t>
            </a:r>
            <a:r>
              <a:rPr lang="en-US" sz="850" b="1" spc="50" kern="0" dirty="0">
                <a:solidFill>
                  <a:srgbClr val="E8681C"/>
                </a:solidFill>
                <a:latin typeface="Lato" pitchFamily="34" charset="0"/>
                <a:ea typeface="Lato" pitchFamily="34" charset="-122"/>
                <a:cs typeface="Lato" pitchFamily="34" charset="-120"/>
              </a:rPr>
              <a:t>Evidence brief</a:t>
            </a:r>
            <a:endParaRPr lang="en-US" sz="850" dirty="0"/>
          </a:p>
        </p:txBody>
      </p:sp>
      <p:sp>
        <p:nvSpPr>
          <p:cNvPr id="14" name="Shape 11"/>
          <p:cNvSpPr/>
          <p:nvPr/>
        </p:nvSpPr>
        <p:spPr>
          <a:xfrm>
            <a:off x="3547872" y="2286000"/>
            <a:ext cx="2679192" cy="2331720"/>
          </a:xfrm>
          <a:prstGeom prst="roundRect">
            <a:avLst>
              <a:gd name="adj" fmla="val 1961"/>
            </a:avLst>
          </a:prstGeom>
          <a:solidFill>
            <a:srgbClr val="FFFFFF"/>
          </a:solidFill>
          <a:ln w="12700">
            <a:solidFill>
              <a:srgbClr val="E2E7ED"/>
            </a:solidFill>
            <a:prstDash val="solid"/>
          </a:ln>
          <a:effectLst>
            <a:outerShdw sx="100000" sy="100000" kx="0" ky="0" algn="bl" rotWithShape="0" blurRad="50800" dist="25400" dir="5400000">
              <a:srgbClr val="B8C2CE">
                <a:alpha val="20000"/>
              </a:srgbClr>
            </a:outerShdw>
          </a:effectLst>
        </p:spPr>
      </p:sp>
      <p:sp>
        <p:nvSpPr>
          <p:cNvPr id="15" name="Shape 12"/>
          <p:cNvSpPr/>
          <p:nvPr/>
        </p:nvSpPr>
        <p:spPr>
          <a:xfrm>
            <a:off x="3547872" y="2286000"/>
            <a:ext cx="2679192" cy="54864"/>
          </a:xfrm>
          <a:prstGeom prst="rect">
            <a:avLst/>
          </a:prstGeom>
          <a:solidFill>
            <a:srgbClr val="1483C8"/>
          </a:solidFill>
          <a:ln/>
        </p:spPr>
      </p:sp>
      <p:sp>
        <p:nvSpPr>
          <p:cNvPr id="16" name="Shape 13"/>
          <p:cNvSpPr/>
          <p:nvPr/>
        </p:nvSpPr>
        <p:spPr>
          <a:xfrm>
            <a:off x="3776472" y="2514600"/>
            <a:ext cx="512064" cy="512064"/>
          </a:xfrm>
          <a:prstGeom prst="ellipse">
            <a:avLst/>
          </a:prstGeom>
          <a:solidFill>
            <a:srgbClr val="0C1B2E"/>
          </a:solidFill>
          <a:ln/>
        </p:spPr>
      </p:sp>
      <p:pic>
        <p:nvPicPr>
          <p:cNvPr id="17" name="Image 1" descr="ic_y8hcdmoy6ac.sv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04488" y="2642616"/>
            <a:ext cx="256032" cy="256032"/>
          </a:xfrm>
          <a:prstGeom prst="rect">
            <a:avLst/>
          </a:prstGeom>
        </p:spPr>
      </p:pic>
      <p:sp>
        <p:nvSpPr>
          <p:cNvPr id="18" name="Text 14"/>
          <p:cNvSpPr/>
          <p:nvPr/>
        </p:nvSpPr>
        <p:spPr>
          <a:xfrm>
            <a:off x="4389120" y="2542032"/>
            <a:ext cx="1719072" cy="237744"/>
          </a:xfrm>
          <a:prstGeom prst="rect">
            <a:avLst/>
          </a:prstGeom>
          <a:noFill/>
          <a:ln/>
        </p:spPr>
        <p:txBody>
          <a:bodyPr wrap="square" lIns="0" tIns="0" rIns="0" bIns="0" rtlCol="0" anchor="ctr"/>
          <a:lstStyle/>
          <a:p>
            <a:pPr indent="0" marL="0">
              <a:buNone/>
            </a:pPr>
            <a:r>
              <a:rPr lang="en-US" sz="1150" b="1" spc="50" kern="0" dirty="0">
                <a:solidFill>
                  <a:srgbClr val="0C1B2E"/>
                </a:solidFill>
                <a:latin typeface="Lato" pitchFamily="34" charset="0"/>
                <a:ea typeface="Lato" pitchFamily="34" charset="-122"/>
                <a:cs typeface="Lato" pitchFamily="34" charset="-120"/>
              </a:rPr>
              <a:t>PROGRAM STAFF</a:t>
            </a:r>
            <a:endParaRPr lang="en-US" sz="1150" dirty="0"/>
          </a:p>
        </p:txBody>
      </p:sp>
      <p:sp>
        <p:nvSpPr>
          <p:cNvPr id="19" name="Text 15"/>
          <p:cNvSpPr/>
          <p:nvPr/>
        </p:nvSpPr>
        <p:spPr>
          <a:xfrm>
            <a:off x="4389120" y="2779776"/>
            <a:ext cx="1719072" cy="237744"/>
          </a:xfrm>
          <a:prstGeom prst="rect">
            <a:avLst/>
          </a:prstGeom>
          <a:noFill/>
          <a:ln/>
        </p:spPr>
        <p:txBody>
          <a:bodyPr wrap="square" lIns="0" tIns="0" rIns="0" bIns="0" rtlCol="0" anchor="ctr"/>
          <a:lstStyle/>
          <a:p>
            <a:pPr indent="0" marL="0">
              <a:buNone/>
            </a:pPr>
            <a:r>
              <a:rPr lang="en-US" sz="800" dirty="0">
                <a:solidFill>
                  <a:srgbClr val="5B6B7B"/>
                </a:solidFill>
                <a:latin typeface="Lato" pitchFamily="34" charset="0"/>
                <a:ea typeface="Lato" pitchFamily="34" charset="-122"/>
                <a:cs typeface="Lato" pitchFamily="34" charset="-120"/>
              </a:rPr>
              <a:t>PA Division · CRCs · Regions · State EM</a:t>
            </a:r>
            <a:endParaRPr lang="en-US" sz="800" dirty="0"/>
          </a:p>
        </p:txBody>
      </p:sp>
      <p:sp>
        <p:nvSpPr>
          <p:cNvPr id="20" name="Text 16"/>
          <p:cNvSpPr/>
          <p:nvPr/>
        </p:nvSpPr>
        <p:spPr>
          <a:xfrm>
            <a:off x="3776472" y="3154680"/>
            <a:ext cx="2221992" cy="548640"/>
          </a:xfrm>
          <a:prstGeom prst="rect">
            <a:avLst/>
          </a:prstGeom>
          <a:noFill/>
          <a:ln/>
        </p:spPr>
        <p:txBody>
          <a:bodyPr wrap="square" lIns="0" tIns="0" rIns="0" bIns="0" rtlCol="0" anchor="ctr"/>
          <a:lstStyle/>
          <a:p>
            <a:pPr indent="0" marL="0">
              <a:lnSpc>
                <a:spcPts val="1300"/>
              </a:lnSpc>
              <a:buNone/>
            </a:pPr>
            <a:r>
              <a:rPr lang="en-US" sz="1000" i="1" dirty="0">
                <a:solidFill>
                  <a:srgbClr val="1483C8"/>
                </a:solidFill>
                <a:latin typeface="Lato" pitchFamily="34" charset="0"/>
                <a:ea typeface="Lato" pitchFamily="34" charset="-122"/>
                <a:cs typeface="Lato" pitchFamily="34" charset="-120"/>
              </a:rPr>
              <a:t>“What in my open PWs needs a second look before obligation?”</a:t>
            </a:r>
            <a:endParaRPr lang="en-US" sz="1000" dirty="0"/>
          </a:p>
        </p:txBody>
      </p:sp>
      <p:sp>
        <p:nvSpPr>
          <p:cNvPr id="21" name="Text 17"/>
          <p:cNvSpPr/>
          <p:nvPr/>
        </p:nvSpPr>
        <p:spPr>
          <a:xfrm>
            <a:off x="3776472" y="3712464"/>
            <a:ext cx="2221992" cy="658368"/>
          </a:xfrm>
          <a:prstGeom prst="rect">
            <a:avLst/>
          </a:prstGeom>
          <a:noFill/>
          <a:ln/>
        </p:spPr>
        <p:txBody>
          <a:bodyPr wrap="square" lIns="0" tIns="0" rIns="0" bIns="0" rtlCol="0" anchor="ctr"/>
          <a:lstStyle/>
          <a:p>
            <a:pPr indent="0" marL="0">
              <a:lnSpc>
                <a:spcPts val="1200"/>
              </a:lnSpc>
              <a:buNone/>
            </a:pPr>
            <a:r>
              <a:rPr lang="en-US" sz="900" dirty="0">
                <a:solidFill>
                  <a:srgbClr val="5B6B7B"/>
                </a:solidFill>
                <a:latin typeface="Lato" pitchFamily="34" charset="0"/>
                <a:ea typeface="Lato" pitchFamily="34" charset="-122"/>
                <a:cs typeface="Lato" pitchFamily="34" charset="-120"/>
              </a:rPr>
              <a:t>Triage and self-check. Outlier + cost-share tools filter the queue and catch a mispriced Section 406 proposal before money moves.</a:t>
            </a:r>
            <a:endParaRPr lang="en-US" sz="900" dirty="0"/>
          </a:p>
        </p:txBody>
      </p:sp>
      <p:sp>
        <p:nvSpPr>
          <p:cNvPr id="22" name="Text 18"/>
          <p:cNvSpPr/>
          <p:nvPr/>
        </p:nvSpPr>
        <p:spPr>
          <a:xfrm>
            <a:off x="3776472" y="4334256"/>
            <a:ext cx="2221992" cy="237744"/>
          </a:xfrm>
          <a:prstGeom prst="rect">
            <a:avLst/>
          </a:prstGeom>
          <a:noFill/>
          <a:ln/>
        </p:spPr>
        <p:txBody>
          <a:bodyPr wrap="square" lIns="0" tIns="0" rIns="0" bIns="0" rtlCol="0" anchor="ctr"/>
          <a:lstStyle/>
          <a:p>
            <a:pPr indent="0" marL="0">
              <a:buNone/>
            </a:pPr>
            <a:r>
              <a:rPr lang="en-US" sz="850" b="1" spc="50" kern="0" dirty="0">
                <a:solidFill>
                  <a:srgbClr val="94A6B6"/>
                </a:solidFill>
                <a:latin typeface="Lato" pitchFamily="34" charset="0"/>
                <a:ea typeface="Lato" pitchFamily="34" charset="-122"/>
                <a:cs typeface="Lato" pitchFamily="34" charset="-120"/>
              </a:rPr>
              <a:t>KEY TOOL  </a:t>
            </a:r>
            <a:r>
              <a:rPr lang="en-US" sz="850" b="1" spc="50" kern="0" dirty="0">
                <a:solidFill>
                  <a:srgbClr val="E8681C"/>
                </a:solidFill>
                <a:latin typeface="Lato" pitchFamily="34" charset="0"/>
                <a:ea typeface="Lato" pitchFamily="34" charset="-122"/>
                <a:cs typeface="Lato" pitchFamily="34" charset="-120"/>
              </a:rPr>
              <a:t>Category outlier</a:t>
            </a:r>
            <a:endParaRPr lang="en-US" sz="850" dirty="0"/>
          </a:p>
        </p:txBody>
      </p:sp>
      <p:sp>
        <p:nvSpPr>
          <p:cNvPr id="23" name="Shape 19"/>
          <p:cNvSpPr/>
          <p:nvPr/>
        </p:nvSpPr>
        <p:spPr>
          <a:xfrm>
            <a:off x="6409944" y="2286000"/>
            <a:ext cx="2679192" cy="2331720"/>
          </a:xfrm>
          <a:prstGeom prst="roundRect">
            <a:avLst>
              <a:gd name="adj" fmla="val 1961"/>
            </a:avLst>
          </a:prstGeom>
          <a:solidFill>
            <a:srgbClr val="FFFFFF"/>
          </a:solidFill>
          <a:ln w="12700">
            <a:solidFill>
              <a:srgbClr val="E2E7ED"/>
            </a:solidFill>
            <a:prstDash val="solid"/>
          </a:ln>
          <a:effectLst>
            <a:outerShdw sx="100000" sy="100000" kx="0" ky="0" algn="bl" rotWithShape="0" blurRad="50800" dist="25400" dir="5400000">
              <a:srgbClr val="B8C2CE">
                <a:alpha val="20000"/>
              </a:srgbClr>
            </a:outerShdw>
          </a:effectLst>
        </p:spPr>
      </p:sp>
      <p:sp>
        <p:nvSpPr>
          <p:cNvPr id="24" name="Shape 20"/>
          <p:cNvSpPr/>
          <p:nvPr/>
        </p:nvSpPr>
        <p:spPr>
          <a:xfrm>
            <a:off x="6409944" y="2286000"/>
            <a:ext cx="2679192" cy="54864"/>
          </a:xfrm>
          <a:prstGeom prst="rect">
            <a:avLst/>
          </a:prstGeom>
          <a:solidFill>
            <a:srgbClr val="1483C8"/>
          </a:solidFill>
          <a:ln/>
        </p:spPr>
      </p:sp>
      <p:sp>
        <p:nvSpPr>
          <p:cNvPr id="25" name="Shape 21"/>
          <p:cNvSpPr/>
          <p:nvPr/>
        </p:nvSpPr>
        <p:spPr>
          <a:xfrm>
            <a:off x="6638544" y="2514600"/>
            <a:ext cx="512064" cy="512064"/>
          </a:xfrm>
          <a:prstGeom prst="ellipse">
            <a:avLst/>
          </a:prstGeom>
          <a:solidFill>
            <a:srgbClr val="0C1B2E"/>
          </a:solidFill>
          <a:ln/>
        </p:spPr>
      </p:sp>
      <p:pic>
        <p:nvPicPr>
          <p:cNvPr id="26" name="Image 2" descr="ic_iwx7hhl6y6.sv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766560" y="2642616"/>
            <a:ext cx="256032" cy="256032"/>
          </a:xfrm>
          <a:prstGeom prst="rect">
            <a:avLst/>
          </a:prstGeom>
        </p:spPr>
      </p:pic>
      <p:sp>
        <p:nvSpPr>
          <p:cNvPr id="27" name="Text 22"/>
          <p:cNvSpPr/>
          <p:nvPr/>
        </p:nvSpPr>
        <p:spPr>
          <a:xfrm>
            <a:off x="7251192" y="2542032"/>
            <a:ext cx="1719072" cy="237744"/>
          </a:xfrm>
          <a:prstGeom prst="rect">
            <a:avLst/>
          </a:prstGeom>
          <a:noFill/>
          <a:ln/>
        </p:spPr>
        <p:txBody>
          <a:bodyPr wrap="square" lIns="0" tIns="0" rIns="0" bIns="0" rtlCol="0" anchor="ctr"/>
          <a:lstStyle/>
          <a:p>
            <a:pPr indent="0" marL="0">
              <a:buNone/>
            </a:pPr>
            <a:r>
              <a:rPr lang="en-US" sz="1150" b="1" spc="50" kern="0" dirty="0">
                <a:solidFill>
                  <a:srgbClr val="0C1B2E"/>
                </a:solidFill>
                <a:latin typeface="Lato" pitchFamily="34" charset="0"/>
                <a:ea typeface="Lato" pitchFamily="34" charset="-122"/>
                <a:cs typeface="Lato" pitchFamily="34" charset="-120"/>
              </a:rPr>
              <a:t>BUDGET &amp; LEGISLATIVE</a:t>
            </a:r>
            <a:endParaRPr lang="en-US" sz="1150" dirty="0"/>
          </a:p>
        </p:txBody>
      </p:sp>
      <p:sp>
        <p:nvSpPr>
          <p:cNvPr id="28" name="Text 23"/>
          <p:cNvSpPr/>
          <p:nvPr/>
        </p:nvSpPr>
        <p:spPr>
          <a:xfrm>
            <a:off x="7251192" y="2779776"/>
            <a:ext cx="1719072" cy="237744"/>
          </a:xfrm>
          <a:prstGeom prst="rect">
            <a:avLst/>
          </a:prstGeom>
          <a:noFill/>
          <a:ln/>
        </p:spPr>
        <p:txBody>
          <a:bodyPr wrap="square" lIns="0" tIns="0" rIns="0" bIns="0" rtlCol="0" anchor="ctr"/>
          <a:lstStyle/>
          <a:p>
            <a:pPr indent="0" marL="0">
              <a:buNone/>
            </a:pPr>
            <a:r>
              <a:rPr lang="en-US" sz="800" dirty="0">
                <a:solidFill>
                  <a:srgbClr val="5B6B7B"/>
                </a:solidFill>
                <a:latin typeface="Lato" pitchFamily="34" charset="0"/>
                <a:ea typeface="Lato" pitchFamily="34" charset="-122"/>
                <a:cs typeface="Lato" pitchFamily="34" charset="-120"/>
              </a:rPr>
              <a:t>OMB · Treasury · Committees · CRS</a:t>
            </a:r>
            <a:endParaRPr lang="en-US" sz="800" dirty="0"/>
          </a:p>
        </p:txBody>
      </p:sp>
      <p:sp>
        <p:nvSpPr>
          <p:cNvPr id="29" name="Text 24"/>
          <p:cNvSpPr/>
          <p:nvPr/>
        </p:nvSpPr>
        <p:spPr>
          <a:xfrm>
            <a:off x="6638544" y="3154680"/>
            <a:ext cx="2221992" cy="548640"/>
          </a:xfrm>
          <a:prstGeom prst="rect">
            <a:avLst/>
          </a:prstGeom>
          <a:noFill/>
          <a:ln/>
        </p:spPr>
        <p:txBody>
          <a:bodyPr wrap="square" lIns="0" tIns="0" rIns="0" bIns="0" rtlCol="0" anchor="ctr"/>
          <a:lstStyle/>
          <a:p>
            <a:pPr indent="0" marL="0">
              <a:lnSpc>
                <a:spcPts val="1300"/>
              </a:lnSpc>
              <a:buNone/>
            </a:pPr>
            <a:r>
              <a:rPr lang="en-US" sz="1000" i="1" dirty="0">
                <a:solidFill>
                  <a:srgbClr val="1483C8"/>
                </a:solidFill>
                <a:latin typeface="Lato" pitchFamily="34" charset="0"/>
                <a:ea typeface="Lato" pitchFamily="34" charset="-122"/>
                <a:cs typeface="Lato" pitchFamily="34" charset="-120"/>
              </a:rPr>
              <a:t>“Where is aggregate risk trending, and is this number defensible?”</a:t>
            </a:r>
            <a:endParaRPr lang="en-US" sz="1000" dirty="0"/>
          </a:p>
        </p:txBody>
      </p:sp>
      <p:sp>
        <p:nvSpPr>
          <p:cNvPr id="30" name="Text 25"/>
          <p:cNvSpPr/>
          <p:nvPr/>
        </p:nvSpPr>
        <p:spPr>
          <a:xfrm>
            <a:off x="6638544" y="3712464"/>
            <a:ext cx="2221992" cy="658368"/>
          </a:xfrm>
          <a:prstGeom prst="rect">
            <a:avLst/>
          </a:prstGeom>
          <a:noFill/>
          <a:ln/>
        </p:spPr>
        <p:txBody>
          <a:bodyPr wrap="square" lIns="0" tIns="0" rIns="0" bIns="0" rtlCol="0" anchor="ctr"/>
          <a:lstStyle/>
          <a:p>
            <a:pPr indent="0" marL="0">
              <a:lnSpc>
                <a:spcPts val="1200"/>
              </a:lnSpc>
              <a:buNone/>
            </a:pPr>
            <a:r>
              <a:rPr lang="en-US" sz="900" dirty="0">
                <a:solidFill>
                  <a:srgbClr val="5B6B7B"/>
                </a:solidFill>
                <a:latin typeface="Lato" pitchFamily="34" charset="0"/>
                <a:ea typeface="Lato" pitchFamily="34" charset="-122"/>
                <a:cs typeface="Lato" pitchFamily="34" charset="-120"/>
              </a:rPr>
              <a:t>Monitor aggregate risk and prep oversight questions. Explain tool defends the methodology; links back every figure.</a:t>
            </a:r>
            <a:endParaRPr lang="en-US" sz="900" dirty="0"/>
          </a:p>
        </p:txBody>
      </p:sp>
      <p:sp>
        <p:nvSpPr>
          <p:cNvPr id="31" name="Text 26"/>
          <p:cNvSpPr/>
          <p:nvPr/>
        </p:nvSpPr>
        <p:spPr>
          <a:xfrm>
            <a:off x="6638544" y="4334256"/>
            <a:ext cx="2221992" cy="237744"/>
          </a:xfrm>
          <a:prstGeom prst="rect">
            <a:avLst/>
          </a:prstGeom>
          <a:noFill/>
          <a:ln/>
        </p:spPr>
        <p:txBody>
          <a:bodyPr wrap="square" lIns="0" tIns="0" rIns="0" bIns="0" rtlCol="0" anchor="ctr"/>
          <a:lstStyle/>
          <a:p>
            <a:pPr indent="0" marL="0">
              <a:buNone/>
            </a:pPr>
            <a:r>
              <a:rPr lang="en-US" sz="850" b="1" spc="50" kern="0" dirty="0">
                <a:solidFill>
                  <a:srgbClr val="94A6B6"/>
                </a:solidFill>
                <a:latin typeface="Lato" pitchFamily="34" charset="0"/>
                <a:ea typeface="Lato" pitchFamily="34" charset="-122"/>
                <a:cs typeface="Lato" pitchFamily="34" charset="-120"/>
              </a:rPr>
              <a:t>KEY TOOL  </a:t>
            </a:r>
            <a:r>
              <a:rPr lang="en-US" sz="850" b="1" spc="50" kern="0" dirty="0">
                <a:solidFill>
                  <a:srgbClr val="E8681C"/>
                </a:solidFill>
                <a:latin typeface="Lato" pitchFamily="34" charset="0"/>
                <a:ea typeface="Lato" pitchFamily="34" charset="-122"/>
                <a:cs typeface="Lato" pitchFamily="34" charset="-120"/>
              </a:rPr>
              <a:t>Explain indicator</a:t>
            </a:r>
            <a:endParaRPr lang="en-US" sz="850" dirty="0"/>
          </a:p>
        </p:txBody>
      </p:sp>
      <p:sp>
        <p:nvSpPr>
          <p:cNvPr id="32" name="Text 27"/>
          <p:cNvSpPr/>
          <p:nvPr/>
        </p:nvSpPr>
        <p:spPr>
          <a:xfrm>
            <a:off x="685800" y="4736592"/>
            <a:ext cx="7863840" cy="274320"/>
          </a:xfrm>
          <a:prstGeom prst="rect">
            <a:avLst/>
          </a:prstGeom>
          <a:noFill/>
          <a:ln/>
        </p:spPr>
        <p:txBody>
          <a:bodyPr wrap="square" lIns="0" tIns="0" rIns="0" bIns="0" rtlCol="0" anchor="ctr"/>
          <a:lstStyle/>
          <a:p>
            <a:pPr algn="ctr" indent="0" marL="0">
              <a:buNone/>
            </a:pPr>
            <a:r>
              <a:rPr lang="en-US" sz="900" i="1" dirty="0">
                <a:solidFill>
                  <a:srgbClr val="0C1B2E"/>
                </a:solidFill>
                <a:latin typeface="Lato" pitchFamily="34" charset="0"/>
                <a:ea typeface="Lato" pitchFamily="34" charset="-122"/>
                <a:cs typeface="Lato" pitchFamily="34" charset="-120"/>
              </a:rPr>
              <a:t>Across every group, the human makes the finding. The agent finds what is worth looking at, hands over the evidence, and gets out of the way.</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48640"/>
            <a:ext cx="7772400" cy="274320"/>
          </a:xfrm>
          <a:prstGeom prst="rect">
            <a:avLst/>
          </a:prstGeom>
          <a:noFill/>
          <a:ln/>
        </p:spPr>
        <p:txBody>
          <a:bodyPr wrap="square" lIns="0" tIns="0" rIns="0" bIns="0" rtlCol="0" anchor="ctr"/>
          <a:lstStyle/>
          <a:p>
            <a:pPr indent="0" marL="0">
              <a:buNone/>
            </a:pPr>
            <a:r>
              <a:rPr lang="en-US" sz="1100" b="1" spc="150" kern="0" dirty="0">
                <a:solidFill>
                  <a:srgbClr val="1483C8"/>
                </a:solidFill>
                <a:latin typeface="Lato" pitchFamily="34" charset="0"/>
                <a:ea typeface="Lato" pitchFamily="34" charset="-122"/>
                <a:cs typeface="Lato" pitchFamily="34" charset="-120"/>
              </a:rPr>
              <a:t>VALUE PROPOSITION</a:t>
            </a:r>
            <a:endParaRPr lang="en-US" sz="1100" dirty="0"/>
          </a:p>
        </p:txBody>
      </p:sp>
      <p:sp>
        <p:nvSpPr>
          <p:cNvPr id="3" name="Text 1"/>
          <p:cNvSpPr/>
          <p:nvPr/>
        </p:nvSpPr>
        <p:spPr>
          <a:xfrm>
            <a:off x="667512" y="822960"/>
            <a:ext cx="7863840" cy="658368"/>
          </a:xfrm>
          <a:prstGeom prst="rect">
            <a:avLst/>
          </a:prstGeom>
          <a:noFill/>
          <a:ln/>
        </p:spPr>
        <p:txBody>
          <a:bodyPr wrap="square" lIns="0" tIns="0" rIns="0" bIns="0" rtlCol="0" anchor="ctr"/>
          <a:lstStyle/>
          <a:p>
            <a:pPr indent="0" marL="0">
              <a:buNone/>
            </a:pPr>
            <a:r>
              <a:rPr lang="en-US" sz="3200" b="1" dirty="0">
                <a:solidFill>
                  <a:srgbClr val="0C1B2E"/>
                </a:solidFill>
                <a:latin typeface="Lato" pitchFamily="34" charset="0"/>
                <a:ea typeface="Lato" pitchFamily="34" charset="-122"/>
                <a:cs typeface="Lato" pitchFamily="34" charset="-120"/>
              </a:rPr>
              <a:t>Why this architecture wins.</a:t>
            </a:r>
            <a:endParaRPr lang="en-US" sz="3200" dirty="0"/>
          </a:p>
        </p:txBody>
      </p:sp>
      <p:pic>
        <p:nvPicPr>
          <p:cNvPr id="4" name="Image 0" descr="ic_86cibgnktqu.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13232" y="1984248"/>
            <a:ext cx="237744" cy="237744"/>
          </a:xfrm>
          <a:prstGeom prst="rect">
            <a:avLst/>
          </a:prstGeom>
        </p:spPr>
      </p:pic>
      <p:sp>
        <p:nvSpPr>
          <p:cNvPr id="5" name="Text 2"/>
          <p:cNvSpPr/>
          <p:nvPr/>
        </p:nvSpPr>
        <p:spPr>
          <a:xfrm>
            <a:off x="1097280" y="1965960"/>
            <a:ext cx="7406640" cy="365760"/>
          </a:xfrm>
          <a:prstGeom prst="rect">
            <a:avLst/>
          </a:prstGeom>
          <a:noFill/>
          <a:ln/>
        </p:spPr>
        <p:txBody>
          <a:bodyPr wrap="square" lIns="0" tIns="0" rIns="0" bIns="0" rtlCol="0" anchor="ctr"/>
          <a:lstStyle/>
          <a:p>
            <a:pPr indent="0" marL="0">
              <a:buNone/>
            </a:pPr>
            <a:r>
              <a:rPr lang="en-US" sz="1300" dirty="0">
                <a:solidFill>
                  <a:srgbClr val="0C1B2E"/>
                </a:solidFill>
                <a:latin typeface="Lato" pitchFamily="34" charset="0"/>
                <a:ea typeface="Lato" pitchFamily="34" charset="-122"/>
                <a:cs typeface="Lato" pitchFamily="34" charset="-120"/>
              </a:rPr>
              <a:t>FEMA-specific policy intelligence, not generic AI.</a:t>
            </a:r>
            <a:endParaRPr lang="en-US" sz="1300" dirty="0"/>
          </a:p>
        </p:txBody>
      </p:sp>
      <p:pic>
        <p:nvPicPr>
          <p:cNvPr id="6" name="Image 1" descr="ic_iqvpjcv01md.sv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3232" y="2496312"/>
            <a:ext cx="237744" cy="237744"/>
          </a:xfrm>
          <a:prstGeom prst="rect">
            <a:avLst/>
          </a:prstGeom>
        </p:spPr>
      </p:pic>
      <p:sp>
        <p:nvSpPr>
          <p:cNvPr id="7" name="Text 3"/>
          <p:cNvSpPr/>
          <p:nvPr/>
        </p:nvSpPr>
        <p:spPr>
          <a:xfrm>
            <a:off x="1097280" y="2478024"/>
            <a:ext cx="7406640" cy="365760"/>
          </a:xfrm>
          <a:prstGeom prst="rect">
            <a:avLst/>
          </a:prstGeom>
          <a:noFill/>
          <a:ln/>
        </p:spPr>
        <p:txBody>
          <a:bodyPr wrap="square" lIns="0" tIns="0" rIns="0" bIns="0" rtlCol="0" anchor="ctr"/>
          <a:lstStyle/>
          <a:p>
            <a:pPr indent="0" marL="0">
              <a:buNone/>
            </a:pPr>
            <a:r>
              <a:rPr lang="en-US" sz="1300" dirty="0">
                <a:solidFill>
                  <a:srgbClr val="0C1B2E"/>
                </a:solidFill>
                <a:latin typeface="Lato" pitchFamily="34" charset="0"/>
                <a:ea typeface="Lato" pitchFamily="34" charset="-122"/>
                <a:cs typeface="Lato" pitchFamily="34" charset="-120"/>
              </a:rPr>
              <a:t>Evidence-backed outputs with explicit source traceability.</a:t>
            </a:r>
            <a:endParaRPr lang="en-US" sz="1300" dirty="0"/>
          </a:p>
        </p:txBody>
      </p:sp>
      <p:pic>
        <p:nvPicPr>
          <p:cNvPr id="8" name="Image 2" descr="ic_myjilocl9yl.sv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3232" y="3008376"/>
            <a:ext cx="237744" cy="237744"/>
          </a:xfrm>
          <a:prstGeom prst="rect">
            <a:avLst/>
          </a:prstGeom>
        </p:spPr>
      </p:pic>
      <p:sp>
        <p:nvSpPr>
          <p:cNvPr id="9" name="Text 4"/>
          <p:cNvSpPr/>
          <p:nvPr/>
        </p:nvSpPr>
        <p:spPr>
          <a:xfrm>
            <a:off x="1097280" y="2990088"/>
            <a:ext cx="7406640" cy="365760"/>
          </a:xfrm>
          <a:prstGeom prst="rect">
            <a:avLst/>
          </a:prstGeom>
          <a:noFill/>
          <a:ln/>
        </p:spPr>
        <p:txBody>
          <a:bodyPr wrap="square" lIns="0" tIns="0" rIns="0" bIns="0" rtlCol="0" anchor="ctr"/>
          <a:lstStyle/>
          <a:p>
            <a:pPr indent="0" marL="0">
              <a:buNone/>
            </a:pPr>
            <a:r>
              <a:rPr lang="en-US" sz="1300" dirty="0">
                <a:solidFill>
                  <a:srgbClr val="0C1B2E"/>
                </a:solidFill>
                <a:latin typeface="Lato" pitchFamily="34" charset="0"/>
                <a:ea typeface="Lato" pitchFamily="34" charset="-122"/>
                <a:cs typeface="Lato" pitchFamily="34" charset="-120"/>
              </a:rPr>
              <a:t>Human-in-the-loop decisions preserve legal accountability.</a:t>
            </a:r>
            <a:endParaRPr lang="en-US" sz="1300" dirty="0"/>
          </a:p>
        </p:txBody>
      </p:sp>
      <p:pic>
        <p:nvPicPr>
          <p:cNvPr id="10" name="Image 3" descr="ic_gtc8i849mkv.sv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13232" y="3520440"/>
            <a:ext cx="237744" cy="237744"/>
          </a:xfrm>
          <a:prstGeom prst="rect">
            <a:avLst/>
          </a:prstGeom>
        </p:spPr>
      </p:pic>
      <p:sp>
        <p:nvSpPr>
          <p:cNvPr id="11" name="Text 5"/>
          <p:cNvSpPr/>
          <p:nvPr/>
        </p:nvSpPr>
        <p:spPr>
          <a:xfrm>
            <a:off x="1097280" y="3502152"/>
            <a:ext cx="7406640" cy="365760"/>
          </a:xfrm>
          <a:prstGeom prst="rect">
            <a:avLst/>
          </a:prstGeom>
          <a:noFill/>
          <a:ln/>
        </p:spPr>
        <p:txBody>
          <a:bodyPr wrap="square" lIns="0" tIns="0" rIns="0" bIns="0" rtlCol="0" anchor="ctr"/>
          <a:lstStyle/>
          <a:p>
            <a:pPr indent="0" marL="0">
              <a:buNone/>
            </a:pPr>
            <a:r>
              <a:rPr lang="en-US" sz="1300" dirty="0">
                <a:solidFill>
                  <a:srgbClr val="0C1B2E"/>
                </a:solidFill>
                <a:latin typeface="Lato" pitchFamily="34" charset="0"/>
                <a:ea typeface="Lato" pitchFamily="34" charset="-122"/>
                <a:cs typeface="Lato" pitchFamily="34" charset="-120"/>
              </a:rPr>
              <a:t>Substantially reduces audit burden and improper-payment risk.</a:t>
            </a:r>
            <a:endParaRPr lang="en-US" sz="1300" dirty="0"/>
          </a:p>
        </p:txBody>
      </p:sp>
      <p:pic>
        <p:nvPicPr>
          <p:cNvPr id="12" name="Image 4" descr="ic_3k1oj3295md.sv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13232" y="4032504"/>
            <a:ext cx="237744" cy="237744"/>
          </a:xfrm>
          <a:prstGeom prst="rect">
            <a:avLst/>
          </a:prstGeom>
        </p:spPr>
      </p:pic>
      <p:sp>
        <p:nvSpPr>
          <p:cNvPr id="13" name="Text 6"/>
          <p:cNvSpPr/>
          <p:nvPr/>
        </p:nvSpPr>
        <p:spPr>
          <a:xfrm>
            <a:off x="1097280" y="4014216"/>
            <a:ext cx="7406640" cy="365760"/>
          </a:xfrm>
          <a:prstGeom prst="rect">
            <a:avLst/>
          </a:prstGeom>
          <a:noFill/>
          <a:ln/>
        </p:spPr>
        <p:txBody>
          <a:bodyPr wrap="square" lIns="0" tIns="0" rIns="0" bIns="0" rtlCol="0" anchor="ctr"/>
          <a:lstStyle/>
          <a:p>
            <a:pPr indent="0" marL="0">
              <a:buNone/>
            </a:pPr>
            <a:r>
              <a:rPr lang="en-US" sz="1300" dirty="0">
                <a:solidFill>
                  <a:srgbClr val="0C1B2E"/>
                </a:solidFill>
                <a:latin typeface="Lato" pitchFamily="34" charset="0"/>
                <a:ea typeface="Lato" pitchFamily="34" charset="-122"/>
                <a:cs typeface="Lato" pitchFamily="34" charset="-120"/>
              </a:rPr>
              <a:t>Speaks directly to compliance and transparency priorities valued by OIG stakeholders.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48640"/>
            <a:ext cx="7772400" cy="274320"/>
          </a:xfrm>
          <a:prstGeom prst="rect">
            <a:avLst/>
          </a:prstGeom>
          <a:noFill/>
          <a:ln/>
        </p:spPr>
        <p:txBody>
          <a:bodyPr wrap="square" lIns="0" tIns="0" rIns="0" bIns="0" rtlCol="0" anchor="ctr"/>
          <a:lstStyle/>
          <a:p>
            <a:pPr indent="0" marL="0">
              <a:buNone/>
            </a:pPr>
            <a:r>
              <a:rPr lang="en-US" sz="1100" b="1" spc="150" kern="0" dirty="0">
                <a:solidFill>
                  <a:srgbClr val="1483C8"/>
                </a:solidFill>
                <a:latin typeface="Lato" pitchFamily="34" charset="0"/>
                <a:ea typeface="Lato" pitchFamily="34" charset="-122"/>
                <a:cs typeface="Lato" pitchFamily="34" charset="-120"/>
              </a:rPr>
              <a:t>COMPLIANCE &amp; POLICY ALIGNMENT</a:t>
            </a:r>
            <a:endParaRPr lang="en-US" sz="1100" dirty="0"/>
          </a:p>
        </p:txBody>
      </p:sp>
      <p:sp>
        <p:nvSpPr>
          <p:cNvPr id="3" name="Text 1"/>
          <p:cNvSpPr/>
          <p:nvPr/>
        </p:nvSpPr>
        <p:spPr>
          <a:xfrm>
            <a:off x="667512" y="822960"/>
            <a:ext cx="7863840" cy="658368"/>
          </a:xfrm>
          <a:prstGeom prst="rect">
            <a:avLst/>
          </a:prstGeom>
          <a:noFill/>
          <a:ln/>
        </p:spPr>
        <p:txBody>
          <a:bodyPr wrap="square" lIns="0" tIns="0" rIns="0" bIns="0" rtlCol="0" anchor="ctr"/>
          <a:lstStyle/>
          <a:p>
            <a:pPr indent="0" marL="0">
              <a:buNone/>
            </a:pPr>
            <a:r>
              <a:rPr lang="en-US" sz="3200" b="1" dirty="0">
                <a:solidFill>
                  <a:srgbClr val="0C1B2E"/>
                </a:solidFill>
                <a:latin typeface="Lato" pitchFamily="34" charset="0"/>
                <a:ea typeface="Lato" pitchFamily="34" charset="-122"/>
                <a:cs typeface="Lato" pitchFamily="34" charset="-120"/>
              </a:rPr>
              <a:t>Built to current mandates.</a:t>
            </a:r>
            <a:endParaRPr lang="en-US" sz="3200" dirty="0"/>
          </a:p>
        </p:txBody>
      </p:sp>
      <p:sp>
        <p:nvSpPr>
          <p:cNvPr id="4" name="Text 2"/>
          <p:cNvSpPr/>
          <p:nvPr/>
        </p:nvSpPr>
        <p:spPr>
          <a:xfrm>
            <a:off x="685800" y="1517904"/>
            <a:ext cx="7589520" cy="548640"/>
          </a:xfrm>
          <a:prstGeom prst="rect">
            <a:avLst/>
          </a:prstGeom>
          <a:noFill/>
          <a:ln/>
        </p:spPr>
        <p:txBody>
          <a:bodyPr wrap="square" lIns="0" tIns="0" rIns="0" bIns="0" rtlCol="0" anchor="ctr"/>
          <a:lstStyle/>
          <a:p>
            <a:pPr indent="0" marL="0">
              <a:lnSpc>
                <a:spcPts val="1900"/>
              </a:lnSpc>
              <a:buNone/>
            </a:pPr>
            <a:r>
              <a:rPr lang="en-US" sz="1350" dirty="0">
                <a:solidFill>
                  <a:srgbClr val="5B6B7B"/>
                </a:solidFill>
                <a:latin typeface="Lato" pitchFamily="34" charset="0"/>
                <a:ea typeface="Lato" pitchFamily="34" charset="-122"/>
                <a:cs typeface="Lato" pitchFamily="34" charset="-120"/>
              </a:rPr>
              <a:t>Directly supports active fraud-reduction, open-data, and trustworthy-AI authorities. Click any to open.</a:t>
            </a:r>
            <a:endParaRPr lang="en-US" sz="1350" dirty="0"/>
          </a:p>
        </p:txBody>
      </p:sp>
      <p:sp>
        <p:nvSpPr>
          <p:cNvPr id="5" name="Shape 3"/>
          <p:cNvSpPr/>
          <p:nvPr/>
        </p:nvSpPr>
        <p:spPr>
          <a:xfrm>
            <a:off x="685800" y="2103120"/>
            <a:ext cx="4069080" cy="749808"/>
          </a:xfrm>
          <a:prstGeom prst="rect">
            <a:avLst/>
          </a:prstGeom>
          <a:solidFill>
            <a:srgbClr val="FFFFFF"/>
          </a:solidFill>
          <a:ln w="12700">
            <a:solidFill>
              <a:srgbClr val="E2E7ED"/>
            </a:solidFill>
            <a:prstDash val="solid"/>
          </a:ln>
        </p:spPr>
      </p:sp>
      <p:sp>
        <p:nvSpPr>
          <p:cNvPr id="6" name="Shape 4"/>
          <p:cNvSpPr/>
          <p:nvPr/>
        </p:nvSpPr>
        <p:spPr>
          <a:xfrm>
            <a:off x="685800" y="2103120"/>
            <a:ext cx="73152" cy="749808"/>
          </a:xfrm>
          <a:prstGeom prst="rect">
            <a:avLst/>
          </a:prstGeom>
          <a:solidFill>
            <a:srgbClr val="E8681C"/>
          </a:solidFill>
          <a:ln/>
        </p:spPr>
      </p:sp>
      <p:sp>
        <p:nvSpPr>
          <p:cNvPr id="7" name="Text 5"/>
          <p:cNvSpPr/>
          <p:nvPr/>
        </p:nvSpPr>
        <p:spPr>
          <a:xfrm>
            <a:off x="886968" y="2194560"/>
            <a:ext cx="3703320" cy="566928"/>
          </a:xfrm>
          <a:prstGeom prst="rect">
            <a:avLst/>
          </a:prstGeom>
          <a:noFill/>
          <a:ln/>
        </p:spPr>
        <p:txBody>
          <a:bodyPr wrap="square" lIns="0" tIns="0" rIns="0" bIns="0" rtlCol="0" anchor="ctr"/>
          <a:lstStyle/>
          <a:p>
            <a:pPr indent="0" marL="0">
              <a:lnSpc>
                <a:spcPts val="1100"/>
              </a:lnSpc>
              <a:buNone/>
            </a:pPr>
            <a:r>
              <a:rPr lang="en-US" sz="850" b="1" u="sng" dirty="0">
                <a:solidFill>
                  <a:srgbClr val="1483C8"/>
                </a:solidFill>
                <a:latin typeface="Lato" pitchFamily="34" charset="0"/>
                <a:ea typeface="Lato" pitchFamily="34" charset="-122"/>
                <a:cs typeface="Lato" pitchFamily="34" charset="-120"/>
                <a:hlinkClick r:id="rId1" invalidUrl="" action="" tgtFrame="" tooltip="EO 14249" history="1" highlightClick="0" endSnd="0">
                  <a:extLst>
                    <a:ext uri="{A12FA001-AC4F-418D-AE19-62706E023703}">
                      <ahyp:hlinkClr xmlns:ahyp="http://schemas.microsoft.com/office/drawing/2018/hyperlinkcolor" val="tx"/>
                    </a:ext>
                  </a:extLst>
                </a:hlinkClick>
              </a:rPr>
              <a:t>EO 14249</a:t>
            </a:r>
            <a:endParaRPr lang="en-US" sz="850" dirty="0"/>
          </a:p>
          <a:p>
            <a:pPr indent="0" marL="0">
              <a:lnSpc>
                <a:spcPts val="1100"/>
              </a:lnSpc>
              <a:buNone/>
            </a:pPr>
            <a:r>
              <a:rPr lang="en-US" sz="850" dirty="0">
                <a:solidFill>
                  <a:srgbClr val="5B6B7B"/>
                </a:solidFill>
                <a:latin typeface="Lato" pitchFamily="34" charset="0"/>
                <a:ea typeface="Lato" pitchFamily="34" charset="-122"/>
                <a:cs typeface="Lato" pitchFamily="34" charset="-120"/>
              </a:rPr>
              <a:t>Protecting America’s Bank Account Against Fraud, Waste, and Abuse (Mar 2025). Our review indicators feed the fraud/improper-payment mission.</a:t>
            </a:r>
            <a:endParaRPr lang="en-US" sz="850" dirty="0"/>
          </a:p>
        </p:txBody>
      </p:sp>
      <p:sp>
        <p:nvSpPr>
          <p:cNvPr id="8" name="Shape 6"/>
          <p:cNvSpPr/>
          <p:nvPr/>
        </p:nvSpPr>
        <p:spPr>
          <a:xfrm>
            <a:off x="4937760" y="2103120"/>
            <a:ext cx="4069080" cy="749808"/>
          </a:xfrm>
          <a:prstGeom prst="rect">
            <a:avLst/>
          </a:prstGeom>
          <a:solidFill>
            <a:srgbClr val="FFFFFF"/>
          </a:solidFill>
          <a:ln w="12700">
            <a:solidFill>
              <a:srgbClr val="E2E7ED"/>
            </a:solidFill>
            <a:prstDash val="solid"/>
          </a:ln>
        </p:spPr>
      </p:sp>
      <p:sp>
        <p:nvSpPr>
          <p:cNvPr id="9" name="Shape 7"/>
          <p:cNvSpPr/>
          <p:nvPr/>
        </p:nvSpPr>
        <p:spPr>
          <a:xfrm>
            <a:off x="4937760" y="2103120"/>
            <a:ext cx="73152" cy="749808"/>
          </a:xfrm>
          <a:prstGeom prst="rect">
            <a:avLst/>
          </a:prstGeom>
          <a:solidFill>
            <a:srgbClr val="E8681C"/>
          </a:solidFill>
          <a:ln/>
        </p:spPr>
      </p:sp>
      <p:sp>
        <p:nvSpPr>
          <p:cNvPr id="10" name="Text 8"/>
          <p:cNvSpPr/>
          <p:nvPr/>
        </p:nvSpPr>
        <p:spPr>
          <a:xfrm>
            <a:off x="5138928" y="2194560"/>
            <a:ext cx="3703320" cy="566928"/>
          </a:xfrm>
          <a:prstGeom prst="rect">
            <a:avLst/>
          </a:prstGeom>
          <a:noFill/>
          <a:ln/>
        </p:spPr>
        <p:txBody>
          <a:bodyPr wrap="square" lIns="0" tIns="0" rIns="0" bIns="0" rtlCol="0" anchor="ctr"/>
          <a:lstStyle/>
          <a:p>
            <a:pPr indent="0" marL="0">
              <a:lnSpc>
                <a:spcPts val="1100"/>
              </a:lnSpc>
              <a:buNone/>
            </a:pPr>
            <a:r>
              <a:rPr lang="en-US" sz="850" b="1" u="sng" dirty="0">
                <a:solidFill>
                  <a:srgbClr val="1483C8"/>
                </a:solidFill>
                <a:latin typeface="Lato" pitchFamily="34" charset="0"/>
                <a:ea typeface="Lato" pitchFamily="34" charset="-122"/>
                <a:cs typeface="Lato" pitchFamily="34" charset="-120"/>
                <a:hlinkClick r:id="rId2" invalidUrl="" action="" tgtFrame="" tooltip="EO 14395" history="1" highlightClick="0" endSnd="0">
                  <a:extLst>
                    <a:ext uri="{A12FA001-AC4F-418D-AE19-62706E023703}">
                      <ahyp:hlinkClr xmlns:ahyp="http://schemas.microsoft.com/office/drawing/2018/hyperlinkcolor" val="tx"/>
                    </a:ext>
                  </a:extLst>
                </a:hlinkClick>
              </a:rPr>
              <a:t>EO 14395</a:t>
            </a:r>
            <a:endParaRPr lang="en-US" sz="850" dirty="0"/>
          </a:p>
          <a:p>
            <a:pPr indent="0" marL="0">
              <a:lnSpc>
                <a:spcPts val="1100"/>
              </a:lnSpc>
              <a:buNone/>
            </a:pPr>
            <a:r>
              <a:rPr lang="en-US" sz="850" dirty="0">
                <a:solidFill>
                  <a:srgbClr val="5B6B7B"/>
                </a:solidFill>
                <a:latin typeface="Lato" pitchFamily="34" charset="0"/>
                <a:ea typeface="Lato" pitchFamily="34" charset="-122"/>
                <a:cs typeface="Lato" pitchFamily="34" charset="-120"/>
              </a:rPr>
              <a:t>Task Force to Eliminate Fraud (Mar 2026). Targets fraud in benefit programs administered jointly with state, local, tribal, territorial partners, exactly PA’s structure.</a:t>
            </a:r>
            <a:endParaRPr lang="en-US" sz="850" dirty="0"/>
          </a:p>
        </p:txBody>
      </p:sp>
      <p:sp>
        <p:nvSpPr>
          <p:cNvPr id="11" name="Shape 9"/>
          <p:cNvSpPr/>
          <p:nvPr/>
        </p:nvSpPr>
        <p:spPr>
          <a:xfrm>
            <a:off x="685800" y="2944368"/>
            <a:ext cx="4069080" cy="749808"/>
          </a:xfrm>
          <a:prstGeom prst="rect">
            <a:avLst/>
          </a:prstGeom>
          <a:solidFill>
            <a:srgbClr val="FFFFFF"/>
          </a:solidFill>
          <a:ln w="12700">
            <a:solidFill>
              <a:srgbClr val="E2E7ED"/>
            </a:solidFill>
            <a:prstDash val="solid"/>
          </a:ln>
        </p:spPr>
      </p:sp>
      <p:sp>
        <p:nvSpPr>
          <p:cNvPr id="12" name="Shape 10"/>
          <p:cNvSpPr/>
          <p:nvPr/>
        </p:nvSpPr>
        <p:spPr>
          <a:xfrm>
            <a:off x="685800" y="2944368"/>
            <a:ext cx="73152" cy="749808"/>
          </a:xfrm>
          <a:prstGeom prst="rect">
            <a:avLst/>
          </a:prstGeom>
          <a:solidFill>
            <a:srgbClr val="E8681C"/>
          </a:solidFill>
          <a:ln/>
        </p:spPr>
      </p:sp>
      <p:sp>
        <p:nvSpPr>
          <p:cNvPr id="13" name="Text 11"/>
          <p:cNvSpPr/>
          <p:nvPr/>
        </p:nvSpPr>
        <p:spPr>
          <a:xfrm>
            <a:off x="886968" y="3035808"/>
            <a:ext cx="3703320" cy="566928"/>
          </a:xfrm>
          <a:prstGeom prst="rect">
            <a:avLst/>
          </a:prstGeom>
          <a:noFill/>
          <a:ln/>
        </p:spPr>
        <p:txBody>
          <a:bodyPr wrap="square" lIns="0" tIns="0" rIns="0" bIns="0" rtlCol="0" anchor="ctr"/>
          <a:lstStyle/>
          <a:p>
            <a:pPr indent="0" marL="0">
              <a:lnSpc>
                <a:spcPts val="1100"/>
              </a:lnSpc>
              <a:buNone/>
            </a:pPr>
            <a:r>
              <a:rPr lang="en-US" sz="850" b="1" u="sng" dirty="0">
                <a:solidFill>
                  <a:srgbClr val="1483C8"/>
                </a:solidFill>
                <a:latin typeface="Lato" pitchFamily="34" charset="0"/>
                <a:ea typeface="Lato" pitchFamily="34" charset="-122"/>
                <a:cs typeface="Lato" pitchFamily="34" charset="-120"/>
                <a:hlinkClick r:id="rId3" invalidUrl="" action="" tgtFrame="" tooltip="OPEN Government Data Act" history="1" highlightClick="0" endSnd="0">
                  <a:extLst>
                    <a:ext uri="{A12FA001-AC4F-418D-AE19-62706E023703}">
                      <ahyp:hlinkClr xmlns:ahyp="http://schemas.microsoft.com/office/drawing/2018/hyperlinkcolor" val="tx"/>
                    </a:ext>
                  </a:extLst>
                </a:hlinkClick>
              </a:rPr>
              <a:t>OPEN Government Data Act</a:t>
            </a:r>
            <a:endParaRPr lang="en-US" sz="850" dirty="0"/>
          </a:p>
          <a:p>
            <a:pPr indent="0" marL="0">
              <a:lnSpc>
                <a:spcPts val="1100"/>
              </a:lnSpc>
              <a:buNone/>
            </a:pPr>
            <a:r>
              <a:rPr lang="en-US" sz="850" dirty="0">
                <a:solidFill>
                  <a:srgbClr val="5B6B7B"/>
                </a:solidFill>
                <a:latin typeface="Lato" pitchFamily="34" charset="0"/>
                <a:ea typeface="Lato" pitchFamily="34" charset="-122"/>
                <a:cs typeface="Lato" pitchFamily="34" charset="-120"/>
              </a:rPr>
              <a:t>Title II, Evidence Act of 2018 (P.L. 115-435). Open, machine-readable by default, the public data this server makes agent-ready.</a:t>
            </a:r>
            <a:endParaRPr lang="en-US" sz="850" dirty="0"/>
          </a:p>
        </p:txBody>
      </p:sp>
      <p:sp>
        <p:nvSpPr>
          <p:cNvPr id="14" name="Shape 12"/>
          <p:cNvSpPr/>
          <p:nvPr/>
        </p:nvSpPr>
        <p:spPr>
          <a:xfrm>
            <a:off x="4937760" y="2944368"/>
            <a:ext cx="4069080" cy="749808"/>
          </a:xfrm>
          <a:prstGeom prst="rect">
            <a:avLst/>
          </a:prstGeom>
          <a:solidFill>
            <a:srgbClr val="FFFFFF"/>
          </a:solidFill>
          <a:ln w="12700">
            <a:solidFill>
              <a:srgbClr val="E2E7ED"/>
            </a:solidFill>
            <a:prstDash val="solid"/>
          </a:ln>
        </p:spPr>
      </p:sp>
      <p:sp>
        <p:nvSpPr>
          <p:cNvPr id="15" name="Shape 13"/>
          <p:cNvSpPr/>
          <p:nvPr/>
        </p:nvSpPr>
        <p:spPr>
          <a:xfrm>
            <a:off x="4937760" y="2944368"/>
            <a:ext cx="73152" cy="749808"/>
          </a:xfrm>
          <a:prstGeom prst="rect">
            <a:avLst/>
          </a:prstGeom>
          <a:solidFill>
            <a:srgbClr val="E8681C"/>
          </a:solidFill>
          <a:ln/>
        </p:spPr>
      </p:sp>
      <p:sp>
        <p:nvSpPr>
          <p:cNvPr id="16" name="Text 14"/>
          <p:cNvSpPr/>
          <p:nvPr/>
        </p:nvSpPr>
        <p:spPr>
          <a:xfrm>
            <a:off x="5138928" y="3035808"/>
            <a:ext cx="3703320" cy="566928"/>
          </a:xfrm>
          <a:prstGeom prst="rect">
            <a:avLst/>
          </a:prstGeom>
          <a:noFill/>
          <a:ln/>
        </p:spPr>
        <p:txBody>
          <a:bodyPr wrap="square" lIns="0" tIns="0" rIns="0" bIns="0" rtlCol="0" anchor="ctr"/>
          <a:lstStyle/>
          <a:p>
            <a:pPr indent="0" marL="0">
              <a:lnSpc>
                <a:spcPts val="1100"/>
              </a:lnSpc>
              <a:buNone/>
            </a:pPr>
            <a:r>
              <a:rPr lang="en-US" sz="850" b="1" u="sng" dirty="0">
                <a:solidFill>
                  <a:srgbClr val="1483C8"/>
                </a:solidFill>
                <a:latin typeface="Lato" pitchFamily="34" charset="0"/>
                <a:ea typeface="Lato" pitchFamily="34" charset="-122"/>
                <a:cs typeface="Lato" pitchFamily="34" charset="-120"/>
                <a:hlinkClick r:id="rId4" invalidUrl="" action="" tgtFrame="" tooltip="EO 13960" history="1" highlightClick="0" endSnd="0">
                  <a:extLst>
                    <a:ext uri="{A12FA001-AC4F-418D-AE19-62706E023703}">
                      <ahyp:hlinkClr xmlns:ahyp="http://schemas.microsoft.com/office/drawing/2018/hyperlinkcolor" val="tx"/>
                    </a:ext>
                  </a:extLst>
                </a:hlinkClick>
              </a:rPr>
              <a:t>EO 13960</a:t>
            </a:r>
            <a:endParaRPr lang="en-US" sz="850" dirty="0"/>
          </a:p>
          <a:p>
            <a:pPr indent="0" marL="0">
              <a:lnSpc>
                <a:spcPts val="1100"/>
              </a:lnSpc>
              <a:buNone/>
            </a:pPr>
            <a:r>
              <a:rPr lang="en-US" sz="850" dirty="0">
                <a:solidFill>
                  <a:srgbClr val="5B6B7B"/>
                </a:solidFill>
                <a:latin typeface="Lato" pitchFamily="34" charset="0"/>
                <a:ea typeface="Lato" pitchFamily="34" charset="-122"/>
                <a:cs typeface="Lato" pitchFamily="34" charset="-120"/>
              </a:rPr>
              <a:t>Promoting Trustworthy AI in the Federal Government (2020). Our human-in-the-loop, evidence-backed design is trustworthy-AI by construction.</a:t>
            </a:r>
            <a:endParaRPr lang="en-US" sz="850" dirty="0"/>
          </a:p>
        </p:txBody>
      </p:sp>
      <p:sp>
        <p:nvSpPr>
          <p:cNvPr id="17" name="Shape 15"/>
          <p:cNvSpPr/>
          <p:nvPr/>
        </p:nvSpPr>
        <p:spPr>
          <a:xfrm>
            <a:off x="685800" y="3785616"/>
            <a:ext cx="4069080" cy="749808"/>
          </a:xfrm>
          <a:prstGeom prst="rect">
            <a:avLst/>
          </a:prstGeom>
          <a:solidFill>
            <a:srgbClr val="FFFFFF"/>
          </a:solidFill>
          <a:ln w="12700">
            <a:solidFill>
              <a:srgbClr val="E2E7ED"/>
            </a:solidFill>
            <a:prstDash val="solid"/>
          </a:ln>
        </p:spPr>
      </p:sp>
      <p:sp>
        <p:nvSpPr>
          <p:cNvPr id="18" name="Shape 16"/>
          <p:cNvSpPr/>
          <p:nvPr/>
        </p:nvSpPr>
        <p:spPr>
          <a:xfrm>
            <a:off x="685800" y="3785616"/>
            <a:ext cx="73152" cy="749808"/>
          </a:xfrm>
          <a:prstGeom prst="rect">
            <a:avLst/>
          </a:prstGeom>
          <a:solidFill>
            <a:srgbClr val="E8681C"/>
          </a:solidFill>
          <a:ln/>
        </p:spPr>
      </p:sp>
      <p:sp>
        <p:nvSpPr>
          <p:cNvPr id="19" name="Text 17"/>
          <p:cNvSpPr/>
          <p:nvPr/>
        </p:nvSpPr>
        <p:spPr>
          <a:xfrm>
            <a:off x="886968" y="3877056"/>
            <a:ext cx="3703320" cy="566928"/>
          </a:xfrm>
          <a:prstGeom prst="rect">
            <a:avLst/>
          </a:prstGeom>
          <a:noFill/>
          <a:ln/>
        </p:spPr>
        <p:txBody>
          <a:bodyPr wrap="square" lIns="0" tIns="0" rIns="0" bIns="0" rtlCol="0" anchor="ctr"/>
          <a:lstStyle/>
          <a:p>
            <a:pPr indent="0" marL="0">
              <a:lnSpc>
                <a:spcPts val="1100"/>
              </a:lnSpc>
              <a:buNone/>
            </a:pPr>
            <a:r>
              <a:rPr lang="en-US" sz="850" b="1" u="sng" dirty="0">
                <a:solidFill>
                  <a:srgbClr val="1483C8"/>
                </a:solidFill>
                <a:latin typeface="Lato" pitchFamily="34" charset="0"/>
                <a:ea typeface="Lato" pitchFamily="34" charset="-122"/>
                <a:cs typeface="Lato" pitchFamily="34" charset="-120"/>
                <a:hlinkClick r:id="rId5" invalidUrl="" action="" tgtFrame="" tooltip="OMB M-25-21" history="1" highlightClick="0" endSnd="0">
                  <a:extLst>
                    <a:ext uri="{A12FA001-AC4F-418D-AE19-62706E023703}">
                      <ahyp:hlinkClr xmlns:ahyp="http://schemas.microsoft.com/office/drawing/2018/hyperlinkcolor" val="tx"/>
                    </a:ext>
                  </a:extLst>
                </a:hlinkClick>
              </a:rPr>
              <a:t>OMB M-25-21</a:t>
            </a:r>
            <a:endParaRPr lang="en-US" sz="850" dirty="0"/>
          </a:p>
          <a:p>
            <a:pPr indent="0" marL="0">
              <a:lnSpc>
                <a:spcPts val="1100"/>
              </a:lnSpc>
              <a:buNone/>
            </a:pPr>
            <a:r>
              <a:rPr lang="en-US" sz="850" dirty="0">
                <a:solidFill>
                  <a:srgbClr val="5B6B7B"/>
                </a:solidFill>
                <a:latin typeface="Lato" pitchFamily="34" charset="0"/>
                <a:ea typeface="Lato" pitchFamily="34" charset="-122"/>
                <a:cs typeface="Lato" pitchFamily="34" charset="-120"/>
              </a:rPr>
              <a:t>Accelerating Federal Use of AI through Innovation, Governance, and Public Trust (2025). Governed, auditable agent access is the model it calls for.</a:t>
            </a:r>
            <a:endParaRPr lang="en-US" sz="850" dirty="0"/>
          </a:p>
        </p:txBody>
      </p:sp>
      <p:sp>
        <p:nvSpPr>
          <p:cNvPr id="20" name="Shape 18"/>
          <p:cNvSpPr/>
          <p:nvPr/>
        </p:nvSpPr>
        <p:spPr>
          <a:xfrm>
            <a:off x="4937760" y="3785616"/>
            <a:ext cx="4069080" cy="749808"/>
          </a:xfrm>
          <a:prstGeom prst="rect">
            <a:avLst/>
          </a:prstGeom>
          <a:solidFill>
            <a:srgbClr val="FFFFFF"/>
          </a:solidFill>
          <a:ln w="12700">
            <a:solidFill>
              <a:srgbClr val="E2E7ED"/>
            </a:solidFill>
            <a:prstDash val="solid"/>
          </a:ln>
        </p:spPr>
      </p:sp>
      <p:sp>
        <p:nvSpPr>
          <p:cNvPr id="21" name="Shape 19"/>
          <p:cNvSpPr/>
          <p:nvPr/>
        </p:nvSpPr>
        <p:spPr>
          <a:xfrm>
            <a:off x="4937760" y="3785616"/>
            <a:ext cx="73152" cy="749808"/>
          </a:xfrm>
          <a:prstGeom prst="rect">
            <a:avLst/>
          </a:prstGeom>
          <a:solidFill>
            <a:srgbClr val="E8681C"/>
          </a:solidFill>
          <a:ln/>
        </p:spPr>
      </p:sp>
      <p:sp>
        <p:nvSpPr>
          <p:cNvPr id="22" name="Text 20"/>
          <p:cNvSpPr/>
          <p:nvPr/>
        </p:nvSpPr>
        <p:spPr>
          <a:xfrm>
            <a:off x="5138928" y="3877056"/>
            <a:ext cx="3703320" cy="566928"/>
          </a:xfrm>
          <a:prstGeom prst="rect">
            <a:avLst/>
          </a:prstGeom>
          <a:noFill/>
          <a:ln/>
        </p:spPr>
        <p:txBody>
          <a:bodyPr wrap="square" lIns="0" tIns="0" rIns="0" bIns="0" rtlCol="0" anchor="ctr"/>
          <a:lstStyle/>
          <a:p>
            <a:pPr indent="0" marL="0">
              <a:lnSpc>
                <a:spcPts val="1100"/>
              </a:lnSpc>
              <a:buNone/>
            </a:pPr>
            <a:r>
              <a:rPr lang="en-US" sz="850" b="1" u="sng" dirty="0">
                <a:solidFill>
                  <a:srgbClr val="1483C8"/>
                </a:solidFill>
                <a:latin typeface="Lato" pitchFamily="34" charset="0"/>
                <a:ea typeface="Lato" pitchFamily="34" charset="-122"/>
                <a:cs typeface="Lato" pitchFamily="34" charset="-120"/>
                <a:hlinkClick r:id="rId6" invalidUrl="" action="" tgtFrame="" tooltip="OMB M-25-32" history="1" highlightClick="0" endSnd="0">
                  <a:extLst>
                    <a:ext uri="{A12FA001-AC4F-418D-AE19-62706E023703}">
                      <ahyp:hlinkClr xmlns:ahyp="http://schemas.microsoft.com/office/drawing/2018/hyperlinkcolor" val="tx"/>
                    </a:ext>
                  </a:extLst>
                </a:hlinkClick>
              </a:rPr>
              <a:t>OMB M-25-32</a:t>
            </a:r>
            <a:endParaRPr lang="en-US" sz="850" dirty="0"/>
          </a:p>
          <a:p>
            <a:pPr indent="0" marL="0">
              <a:lnSpc>
                <a:spcPts val="1100"/>
              </a:lnSpc>
              <a:buNone/>
            </a:pPr>
            <a:r>
              <a:rPr lang="en-US" sz="850" dirty="0">
                <a:solidFill>
                  <a:srgbClr val="5B6B7B"/>
                </a:solidFill>
                <a:latin typeface="Lato" pitchFamily="34" charset="0"/>
                <a:ea typeface="Lato" pitchFamily="34" charset="-122"/>
                <a:cs typeface="Lato" pitchFamily="34" charset="-120"/>
              </a:rPr>
              <a:t>Preventing Improper Payments through Do Not Pay (2025). Structured evidence briefs are consumable as Do Not Pay screening inputs.</a:t>
            </a:r>
            <a:endParaRPr lang="en-US" sz="850" dirty="0"/>
          </a:p>
        </p:txBody>
      </p:sp>
      <p:sp>
        <p:nvSpPr>
          <p:cNvPr id="23" name="Text 21"/>
          <p:cNvSpPr/>
          <p:nvPr/>
        </p:nvSpPr>
        <p:spPr>
          <a:xfrm>
            <a:off x="685800" y="4645152"/>
            <a:ext cx="7863840" cy="274320"/>
          </a:xfrm>
          <a:prstGeom prst="rect">
            <a:avLst/>
          </a:prstGeom>
          <a:noFill/>
          <a:ln/>
        </p:spPr>
        <p:txBody>
          <a:bodyPr wrap="square" lIns="0" tIns="0" rIns="0" bIns="0" rtlCol="0" anchor="ctr"/>
          <a:lstStyle/>
          <a:p>
            <a:pPr algn="ctr" indent="0" marL="0">
              <a:buNone/>
            </a:pPr>
            <a:r>
              <a:rPr lang="en-US" sz="950" i="1" dirty="0">
                <a:solidFill>
                  <a:srgbClr val="0C1B2E"/>
                </a:solidFill>
                <a:latin typeface="Lato" pitchFamily="34" charset="0"/>
                <a:ea typeface="Lato" pitchFamily="34" charset="-122"/>
                <a:cs typeface="Lato" pitchFamily="34" charset="-120"/>
              </a:rPr>
              <a:t>Speaks directly to compliance and transparency priorities: find risk, show the evidence, keep a human accountable.</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1B2E"/>
        </a:solidFill>
      </p:bgPr>
    </p:bg>
    <p:spTree>
      <p:nvGrpSpPr>
        <p:cNvPr id="1" name=""/>
        <p:cNvGrpSpPr/>
        <p:nvPr/>
      </p:nvGrpSpPr>
      <p:grpSpPr>
        <a:xfrm>
          <a:off x="0" y="0"/>
          <a:ext cx="0" cy="0"/>
          <a:chOff x="0" y="0"/>
          <a:chExt cx="0" cy="0"/>
        </a:xfrm>
      </p:grpSpPr>
      <p:sp>
        <p:nvSpPr>
          <p:cNvPr id="2" name="Text 0"/>
          <p:cNvSpPr/>
          <p:nvPr/>
        </p:nvSpPr>
        <p:spPr>
          <a:xfrm>
            <a:off x="731520" y="640080"/>
            <a:ext cx="7772400" cy="868680"/>
          </a:xfrm>
          <a:prstGeom prst="rect">
            <a:avLst/>
          </a:prstGeom>
          <a:noFill/>
          <a:ln/>
        </p:spPr>
        <p:txBody>
          <a:bodyPr wrap="square" lIns="0" tIns="0" rIns="0" bIns="0" rtlCol="0" anchor="ctr"/>
          <a:lstStyle/>
          <a:p>
            <a:pPr indent="0" marL="0">
              <a:lnSpc>
                <a:spcPts val="3000"/>
              </a:lnSpc>
              <a:buNone/>
            </a:pPr>
            <a:r>
              <a:rPr lang="en-US" sz="2500" b="1" dirty="0">
                <a:solidFill>
                  <a:srgbClr val="FFFFFF"/>
                </a:solidFill>
                <a:latin typeface="Lato" pitchFamily="34" charset="0"/>
                <a:ea typeface="Lato" pitchFamily="34" charset="-122"/>
                <a:cs typeface="Lato" pitchFamily="34" charset="-120"/>
              </a:rPr>
              <a:t>Trusted oversight at the speed of a question.</a:t>
            </a:r>
            <a:endParaRPr lang="en-US" sz="2500" dirty="0"/>
          </a:p>
        </p:txBody>
      </p:sp>
      <p:sp>
        <p:nvSpPr>
          <p:cNvPr id="3" name="Shape 1"/>
          <p:cNvSpPr/>
          <p:nvPr/>
        </p:nvSpPr>
        <p:spPr>
          <a:xfrm>
            <a:off x="758952" y="1572768"/>
            <a:ext cx="914400" cy="0"/>
          </a:xfrm>
          <a:prstGeom prst="line">
            <a:avLst/>
          </a:prstGeom>
          <a:noFill/>
          <a:ln w="31750">
            <a:solidFill>
              <a:srgbClr val="E8681C"/>
            </a:solidFill>
            <a:prstDash val="solid"/>
          </a:ln>
        </p:spPr>
      </p:sp>
      <p:sp>
        <p:nvSpPr>
          <p:cNvPr id="4" name="Shape 2"/>
          <p:cNvSpPr/>
          <p:nvPr/>
        </p:nvSpPr>
        <p:spPr>
          <a:xfrm>
            <a:off x="731520" y="1874520"/>
            <a:ext cx="1572768" cy="1371600"/>
          </a:xfrm>
          <a:prstGeom prst="roundRect">
            <a:avLst>
              <a:gd name="adj" fmla="val 3333"/>
            </a:avLst>
          </a:prstGeom>
          <a:solidFill>
            <a:srgbClr val="15263A"/>
          </a:solidFill>
          <a:ln/>
        </p:spPr>
      </p:sp>
      <p:sp>
        <p:nvSpPr>
          <p:cNvPr id="5" name="Shape 3"/>
          <p:cNvSpPr/>
          <p:nvPr/>
        </p:nvSpPr>
        <p:spPr>
          <a:xfrm>
            <a:off x="731520" y="1874520"/>
            <a:ext cx="1572768" cy="54864"/>
          </a:xfrm>
          <a:prstGeom prst="rect">
            <a:avLst/>
          </a:prstGeom>
          <a:solidFill>
            <a:srgbClr val="1483C8"/>
          </a:solidFill>
          <a:ln/>
        </p:spPr>
      </p:sp>
      <p:sp>
        <p:nvSpPr>
          <p:cNvPr id="6" name="Text 4"/>
          <p:cNvSpPr/>
          <p:nvPr/>
        </p:nvSpPr>
        <p:spPr>
          <a:xfrm>
            <a:off x="868680" y="2112264"/>
            <a:ext cx="1298448" cy="502920"/>
          </a:xfrm>
          <a:prstGeom prst="rect">
            <a:avLst/>
          </a:prstGeom>
          <a:noFill/>
          <a:ln/>
        </p:spPr>
        <p:txBody>
          <a:bodyPr wrap="square" lIns="0" tIns="0" rIns="0" bIns="0" rtlCol="0" anchor="ctr"/>
          <a:lstStyle/>
          <a:p>
            <a:pPr indent="0" marL="0">
              <a:lnSpc>
                <a:spcPts val="1500"/>
              </a:lnSpc>
              <a:buNone/>
            </a:pPr>
            <a:r>
              <a:rPr lang="en-US" sz="1300" b="1" dirty="0">
                <a:solidFill>
                  <a:srgbClr val="FFFFFF"/>
                </a:solidFill>
                <a:latin typeface="Lato" pitchFamily="34" charset="0"/>
                <a:ea typeface="Lato" pitchFamily="34" charset="-122"/>
                <a:cs typeface="Lato" pitchFamily="34" charset="-120"/>
              </a:rPr>
              <a:t>Transparent</a:t>
            </a:r>
            <a:endParaRPr lang="en-US" sz="1300" dirty="0"/>
          </a:p>
        </p:txBody>
      </p:sp>
      <p:sp>
        <p:nvSpPr>
          <p:cNvPr id="7" name="Text 5"/>
          <p:cNvSpPr/>
          <p:nvPr/>
        </p:nvSpPr>
        <p:spPr>
          <a:xfrm>
            <a:off x="868680" y="2624328"/>
            <a:ext cx="1298448" cy="548640"/>
          </a:xfrm>
          <a:prstGeom prst="rect">
            <a:avLst/>
          </a:prstGeom>
          <a:noFill/>
          <a:ln/>
        </p:spPr>
        <p:txBody>
          <a:bodyPr wrap="square" lIns="0" tIns="0" rIns="0" bIns="0" rtlCol="0" anchor="ctr"/>
          <a:lstStyle/>
          <a:p>
            <a:pPr indent="0" marL="0">
              <a:lnSpc>
                <a:spcPts val="1200"/>
              </a:lnSpc>
              <a:buNone/>
            </a:pPr>
            <a:r>
              <a:rPr lang="en-US" sz="950" dirty="0">
                <a:solidFill>
                  <a:srgbClr val="C3D0DC"/>
                </a:solidFill>
                <a:latin typeface="Lato" pitchFamily="34" charset="0"/>
                <a:ea typeface="Lato" pitchFamily="34" charset="-122"/>
                <a:cs typeface="Lato" pitchFamily="34" charset="-120"/>
              </a:rPr>
              <a:t>Every answer includes evidence.</a:t>
            </a:r>
            <a:endParaRPr lang="en-US" sz="950" dirty="0"/>
          </a:p>
        </p:txBody>
      </p:sp>
      <p:sp>
        <p:nvSpPr>
          <p:cNvPr id="8" name="Shape 6"/>
          <p:cNvSpPr/>
          <p:nvPr/>
        </p:nvSpPr>
        <p:spPr>
          <a:xfrm>
            <a:off x="2432304" y="1874520"/>
            <a:ext cx="1572768" cy="1371600"/>
          </a:xfrm>
          <a:prstGeom prst="roundRect">
            <a:avLst>
              <a:gd name="adj" fmla="val 3333"/>
            </a:avLst>
          </a:prstGeom>
          <a:solidFill>
            <a:srgbClr val="15263A"/>
          </a:solidFill>
          <a:ln/>
        </p:spPr>
      </p:sp>
      <p:sp>
        <p:nvSpPr>
          <p:cNvPr id="9" name="Shape 7"/>
          <p:cNvSpPr/>
          <p:nvPr/>
        </p:nvSpPr>
        <p:spPr>
          <a:xfrm>
            <a:off x="2432304" y="1874520"/>
            <a:ext cx="1572768" cy="54864"/>
          </a:xfrm>
          <a:prstGeom prst="rect">
            <a:avLst/>
          </a:prstGeom>
          <a:solidFill>
            <a:srgbClr val="1483C8"/>
          </a:solidFill>
          <a:ln/>
        </p:spPr>
      </p:sp>
      <p:sp>
        <p:nvSpPr>
          <p:cNvPr id="10" name="Text 8"/>
          <p:cNvSpPr/>
          <p:nvPr/>
        </p:nvSpPr>
        <p:spPr>
          <a:xfrm>
            <a:off x="2569464" y="2112264"/>
            <a:ext cx="1298448" cy="502920"/>
          </a:xfrm>
          <a:prstGeom prst="rect">
            <a:avLst/>
          </a:prstGeom>
          <a:noFill/>
          <a:ln/>
        </p:spPr>
        <p:txBody>
          <a:bodyPr wrap="square" lIns="0" tIns="0" rIns="0" bIns="0" rtlCol="0" anchor="ctr"/>
          <a:lstStyle/>
          <a:p>
            <a:pPr indent="0" marL="0">
              <a:lnSpc>
                <a:spcPts val="1500"/>
              </a:lnSpc>
              <a:buNone/>
            </a:pPr>
            <a:r>
              <a:rPr lang="en-US" sz="1300" b="1" dirty="0">
                <a:solidFill>
                  <a:srgbClr val="FFFFFF"/>
                </a:solidFill>
                <a:latin typeface="Lato" pitchFamily="34" charset="0"/>
                <a:ea typeface="Lato" pitchFamily="34" charset="-122"/>
                <a:cs typeface="Lato" pitchFamily="34" charset="-120"/>
              </a:rPr>
              <a:t>Governed</a:t>
            </a:r>
            <a:endParaRPr lang="en-US" sz="1300" dirty="0"/>
          </a:p>
        </p:txBody>
      </p:sp>
      <p:sp>
        <p:nvSpPr>
          <p:cNvPr id="11" name="Text 9"/>
          <p:cNvSpPr/>
          <p:nvPr/>
        </p:nvSpPr>
        <p:spPr>
          <a:xfrm>
            <a:off x="2569464" y="2624328"/>
            <a:ext cx="1298448" cy="548640"/>
          </a:xfrm>
          <a:prstGeom prst="rect">
            <a:avLst/>
          </a:prstGeom>
          <a:noFill/>
          <a:ln/>
        </p:spPr>
        <p:txBody>
          <a:bodyPr wrap="square" lIns="0" tIns="0" rIns="0" bIns="0" rtlCol="0" anchor="ctr"/>
          <a:lstStyle/>
          <a:p>
            <a:pPr indent="0" marL="0">
              <a:lnSpc>
                <a:spcPts val="1200"/>
              </a:lnSpc>
              <a:buNone/>
            </a:pPr>
            <a:r>
              <a:rPr lang="en-US" sz="950" dirty="0">
                <a:solidFill>
                  <a:srgbClr val="C3D0DC"/>
                </a:solidFill>
                <a:latin typeface="Lato" pitchFamily="34" charset="0"/>
                <a:ea typeface="Lato" pitchFamily="34" charset="-122"/>
                <a:cs typeface="Lato" pitchFamily="34" charset="-120"/>
              </a:rPr>
              <a:t>Every action is auditable.</a:t>
            </a:r>
            <a:endParaRPr lang="en-US" sz="950" dirty="0"/>
          </a:p>
        </p:txBody>
      </p:sp>
      <p:sp>
        <p:nvSpPr>
          <p:cNvPr id="12" name="Shape 10"/>
          <p:cNvSpPr/>
          <p:nvPr/>
        </p:nvSpPr>
        <p:spPr>
          <a:xfrm>
            <a:off x="4133088" y="1874520"/>
            <a:ext cx="1572768" cy="1371600"/>
          </a:xfrm>
          <a:prstGeom prst="roundRect">
            <a:avLst>
              <a:gd name="adj" fmla="val 3333"/>
            </a:avLst>
          </a:prstGeom>
          <a:solidFill>
            <a:srgbClr val="15263A"/>
          </a:solidFill>
          <a:ln/>
        </p:spPr>
      </p:sp>
      <p:sp>
        <p:nvSpPr>
          <p:cNvPr id="13" name="Shape 11"/>
          <p:cNvSpPr/>
          <p:nvPr/>
        </p:nvSpPr>
        <p:spPr>
          <a:xfrm>
            <a:off x="4133088" y="1874520"/>
            <a:ext cx="1572768" cy="54864"/>
          </a:xfrm>
          <a:prstGeom prst="rect">
            <a:avLst/>
          </a:prstGeom>
          <a:solidFill>
            <a:srgbClr val="1483C8"/>
          </a:solidFill>
          <a:ln/>
        </p:spPr>
      </p:sp>
      <p:sp>
        <p:nvSpPr>
          <p:cNvPr id="14" name="Text 12"/>
          <p:cNvSpPr/>
          <p:nvPr/>
        </p:nvSpPr>
        <p:spPr>
          <a:xfrm>
            <a:off x="4270248" y="2112264"/>
            <a:ext cx="1298448" cy="502920"/>
          </a:xfrm>
          <a:prstGeom prst="rect">
            <a:avLst/>
          </a:prstGeom>
          <a:noFill/>
          <a:ln/>
        </p:spPr>
        <p:txBody>
          <a:bodyPr wrap="square" lIns="0" tIns="0" rIns="0" bIns="0" rtlCol="0" anchor="ctr"/>
          <a:lstStyle/>
          <a:p>
            <a:pPr indent="0" marL="0">
              <a:lnSpc>
                <a:spcPts val="1500"/>
              </a:lnSpc>
              <a:buNone/>
            </a:pPr>
            <a:r>
              <a:rPr lang="en-US" sz="1300" b="1" dirty="0">
                <a:solidFill>
                  <a:srgbClr val="FFFFFF"/>
                </a:solidFill>
                <a:latin typeface="Lato" pitchFamily="34" charset="0"/>
                <a:ea typeface="Lato" pitchFamily="34" charset="-122"/>
                <a:cs typeface="Lato" pitchFamily="34" charset="-120"/>
              </a:rPr>
              <a:t>Explainable</a:t>
            </a:r>
            <a:endParaRPr lang="en-US" sz="1300" dirty="0"/>
          </a:p>
        </p:txBody>
      </p:sp>
      <p:sp>
        <p:nvSpPr>
          <p:cNvPr id="15" name="Text 13"/>
          <p:cNvSpPr/>
          <p:nvPr/>
        </p:nvSpPr>
        <p:spPr>
          <a:xfrm>
            <a:off x="4270248" y="2624328"/>
            <a:ext cx="1298448" cy="548640"/>
          </a:xfrm>
          <a:prstGeom prst="rect">
            <a:avLst/>
          </a:prstGeom>
          <a:noFill/>
          <a:ln/>
        </p:spPr>
        <p:txBody>
          <a:bodyPr wrap="square" lIns="0" tIns="0" rIns="0" bIns="0" rtlCol="0" anchor="ctr"/>
          <a:lstStyle/>
          <a:p>
            <a:pPr indent="0" marL="0">
              <a:lnSpc>
                <a:spcPts val="1200"/>
              </a:lnSpc>
              <a:buNone/>
            </a:pPr>
            <a:r>
              <a:rPr lang="en-US" sz="950" dirty="0">
                <a:solidFill>
                  <a:srgbClr val="C3D0DC"/>
                </a:solidFill>
                <a:latin typeface="Lato" pitchFamily="34" charset="0"/>
                <a:ea typeface="Lato" pitchFamily="34" charset="-122"/>
                <a:cs typeface="Lato" pitchFamily="34" charset="-120"/>
              </a:rPr>
              <a:t>Every indicator includes rationale.</a:t>
            </a:r>
            <a:endParaRPr lang="en-US" sz="950" dirty="0"/>
          </a:p>
        </p:txBody>
      </p:sp>
      <p:sp>
        <p:nvSpPr>
          <p:cNvPr id="16" name="Shape 14"/>
          <p:cNvSpPr/>
          <p:nvPr/>
        </p:nvSpPr>
        <p:spPr>
          <a:xfrm>
            <a:off x="5833872" y="1874520"/>
            <a:ext cx="1572768" cy="1371600"/>
          </a:xfrm>
          <a:prstGeom prst="roundRect">
            <a:avLst>
              <a:gd name="adj" fmla="val 3333"/>
            </a:avLst>
          </a:prstGeom>
          <a:solidFill>
            <a:srgbClr val="15263A"/>
          </a:solidFill>
          <a:ln/>
        </p:spPr>
      </p:sp>
      <p:sp>
        <p:nvSpPr>
          <p:cNvPr id="17" name="Shape 15"/>
          <p:cNvSpPr/>
          <p:nvPr/>
        </p:nvSpPr>
        <p:spPr>
          <a:xfrm>
            <a:off x="5833872" y="1874520"/>
            <a:ext cx="1572768" cy="54864"/>
          </a:xfrm>
          <a:prstGeom prst="rect">
            <a:avLst/>
          </a:prstGeom>
          <a:solidFill>
            <a:srgbClr val="1483C8"/>
          </a:solidFill>
          <a:ln/>
        </p:spPr>
      </p:sp>
      <p:sp>
        <p:nvSpPr>
          <p:cNvPr id="18" name="Text 16"/>
          <p:cNvSpPr/>
          <p:nvPr/>
        </p:nvSpPr>
        <p:spPr>
          <a:xfrm>
            <a:off x="5971032" y="2112264"/>
            <a:ext cx="1298448" cy="502920"/>
          </a:xfrm>
          <a:prstGeom prst="rect">
            <a:avLst/>
          </a:prstGeom>
          <a:noFill/>
          <a:ln/>
        </p:spPr>
        <p:txBody>
          <a:bodyPr wrap="square" lIns="0" tIns="0" rIns="0" bIns="0" rtlCol="0" anchor="ctr"/>
          <a:lstStyle/>
          <a:p>
            <a:pPr indent="0" marL="0">
              <a:lnSpc>
                <a:spcPts val="1500"/>
              </a:lnSpc>
              <a:buNone/>
            </a:pPr>
            <a:r>
              <a:rPr lang="en-US" sz="1300" b="1" dirty="0">
                <a:solidFill>
                  <a:srgbClr val="FFFFFF"/>
                </a:solidFill>
                <a:latin typeface="Lato" pitchFamily="34" charset="0"/>
                <a:ea typeface="Lato" pitchFamily="34" charset="-122"/>
                <a:cs typeface="Lato" pitchFamily="34" charset="-120"/>
              </a:rPr>
              <a:t>Human-Centered</a:t>
            </a:r>
            <a:endParaRPr lang="en-US" sz="1300" dirty="0"/>
          </a:p>
        </p:txBody>
      </p:sp>
      <p:sp>
        <p:nvSpPr>
          <p:cNvPr id="19" name="Text 17"/>
          <p:cNvSpPr/>
          <p:nvPr/>
        </p:nvSpPr>
        <p:spPr>
          <a:xfrm>
            <a:off x="5971032" y="2624328"/>
            <a:ext cx="1298448" cy="548640"/>
          </a:xfrm>
          <a:prstGeom prst="rect">
            <a:avLst/>
          </a:prstGeom>
          <a:noFill/>
          <a:ln/>
        </p:spPr>
        <p:txBody>
          <a:bodyPr wrap="square" lIns="0" tIns="0" rIns="0" bIns="0" rtlCol="0" anchor="ctr"/>
          <a:lstStyle/>
          <a:p>
            <a:pPr indent="0" marL="0">
              <a:lnSpc>
                <a:spcPts val="1200"/>
              </a:lnSpc>
              <a:buNone/>
            </a:pPr>
            <a:r>
              <a:rPr lang="en-US" sz="950" dirty="0">
                <a:solidFill>
                  <a:srgbClr val="C3D0DC"/>
                </a:solidFill>
                <a:latin typeface="Lato" pitchFamily="34" charset="0"/>
                <a:ea typeface="Lato" pitchFamily="34" charset="-122"/>
                <a:cs typeface="Lato" pitchFamily="34" charset="-120"/>
              </a:rPr>
              <a:t>Analysts make findings, not AI.</a:t>
            </a:r>
            <a:endParaRPr lang="en-US" sz="950" dirty="0"/>
          </a:p>
        </p:txBody>
      </p:sp>
      <p:sp>
        <p:nvSpPr>
          <p:cNvPr id="20" name="Shape 18"/>
          <p:cNvSpPr/>
          <p:nvPr/>
        </p:nvSpPr>
        <p:spPr>
          <a:xfrm>
            <a:off x="7534656" y="1874520"/>
            <a:ext cx="1572768" cy="1371600"/>
          </a:xfrm>
          <a:prstGeom prst="roundRect">
            <a:avLst>
              <a:gd name="adj" fmla="val 3333"/>
            </a:avLst>
          </a:prstGeom>
          <a:solidFill>
            <a:srgbClr val="15263A"/>
          </a:solidFill>
          <a:ln/>
        </p:spPr>
      </p:sp>
      <p:sp>
        <p:nvSpPr>
          <p:cNvPr id="21" name="Shape 19"/>
          <p:cNvSpPr/>
          <p:nvPr/>
        </p:nvSpPr>
        <p:spPr>
          <a:xfrm>
            <a:off x="7534656" y="1874520"/>
            <a:ext cx="1572768" cy="54864"/>
          </a:xfrm>
          <a:prstGeom prst="rect">
            <a:avLst/>
          </a:prstGeom>
          <a:solidFill>
            <a:srgbClr val="1483C8"/>
          </a:solidFill>
          <a:ln/>
        </p:spPr>
      </p:sp>
      <p:sp>
        <p:nvSpPr>
          <p:cNvPr id="22" name="Text 20"/>
          <p:cNvSpPr/>
          <p:nvPr/>
        </p:nvSpPr>
        <p:spPr>
          <a:xfrm>
            <a:off x="7671816" y="2112264"/>
            <a:ext cx="1298448" cy="502920"/>
          </a:xfrm>
          <a:prstGeom prst="rect">
            <a:avLst/>
          </a:prstGeom>
          <a:noFill/>
          <a:ln/>
        </p:spPr>
        <p:txBody>
          <a:bodyPr wrap="square" lIns="0" tIns="0" rIns="0" bIns="0" rtlCol="0" anchor="ctr"/>
          <a:lstStyle/>
          <a:p>
            <a:pPr indent="0" marL="0">
              <a:lnSpc>
                <a:spcPts val="1500"/>
              </a:lnSpc>
              <a:buNone/>
            </a:pPr>
            <a:r>
              <a:rPr lang="en-US" sz="1300" b="1" dirty="0">
                <a:solidFill>
                  <a:srgbClr val="FFFFFF"/>
                </a:solidFill>
                <a:latin typeface="Lato" pitchFamily="34" charset="0"/>
                <a:ea typeface="Lato" pitchFamily="34" charset="-122"/>
                <a:cs typeface="Lato" pitchFamily="34" charset="-120"/>
              </a:rPr>
              <a:t>Reusable</a:t>
            </a:r>
            <a:endParaRPr lang="en-US" sz="1300" dirty="0"/>
          </a:p>
        </p:txBody>
      </p:sp>
      <p:sp>
        <p:nvSpPr>
          <p:cNvPr id="23" name="Text 21"/>
          <p:cNvSpPr/>
          <p:nvPr/>
        </p:nvSpPr>
        <p:spPr>
          <a:xfrm>
            <a:off x="7671816" y="2624328"/>
            <a:ext cx="1298448" cy="548640"/>
          </a:xfrm>
          <a:prstGeom prst="rect">
            <a:avLst/>
          </a:prstGeom>
          <a:noFill/>
          <a:ln/>
        </p:spPr>
        <p:txBody>
          <a:bodyPr wrap="square" lIns="0" tIns="0" rIns="0" bIns="0" rtlCol="0" anchor="ctr"/>
          <a:lstStyle/>
          <a:p>
            <a:pPr indent="0" marL="0">
              <a:lnSpc>
                <a:spcPts val="1200"/>
              </a:lnSpc>
              <a:buNone/>
            </a:pPr>
            <a:r>
              <a:rPr lang="en-US" sz="950" dirty="0">
                <a:solidFill>
                  <a:srgbClr val="C3D0DC"/>
                </a:solidFill>
                <a:latin typeface="Lato" pitchFamily="34" charset="0"/>
                <a:ea typeface="Lato" pitchFamily="34" charset="-122"/>
                <a:cs typeface="Lato" pitchFamily="34" charset="-120"/>
              </a:rPr>
              <a:t>Works across federal grant programs.</a:t>
            </a:r>
            <a:endParaRPr lang="en-US" sz="950" dirty="0"/>
          </a:p>
        </p:txBody>
      </p:sp>
      <p:sp>
        <p:nvSpPr>
          <p:cNvPr id="24" name="Text 22"/>
          <p:cNvSpPr/>
          <p:nvPr/>
        </p:nvSpPr>
        <p:spPr>
          <a:xfrm>
            <a:off x="731520" y="3611880"/>
            <a:ext cx="7772400" cy="914400"/>
          </a:xfrm>
          <a:prstGeom prst="rect">
            <a:avLst/>
          </a:prstGeom>
          <a:noFill/>
          <a:ln/>
        </p:spPr>
        <p:txBody>
          <a:bodyPr wrap="square" lIns="0" tIns="0" rIns="0" bIns="0" rtlCol="0" anchor="ctr"/>
          <a:lstStyle/>
          <a:p>
            <a:pPr indent="0" marL="0">
              <a:lnSpc>
                <a:spcPts val="2000"/>
              </a:lnSpc>
              <a:buNone/>
            </a:pPr>
            <a:r>
              <a:rPr lang="en-US" sz="1350" dirty="0">
                <a:solidFill>
                  <a:srgbClr val="FFFFFF"/>
                </a:solidFill>
                <a:latin typeface="Lato" pitchFamily="34" charset="0"/>
                <a:ea typeface="Lato" pitchFamily="34" charset="-122"/>
                <a:cs typeface="Lato" pitchFamily="34" charset="-120"/>
              </a:rPr>
              <a:t>This project demonstrates how government open data can become trusted infrastructure for AI agents while preserving accountability, transparency, and human judgment.</a:t>
            </a:r>
            <a:endParaRPr lang="en-US" sz="1350" dirty="0"/>
          </a:p>
        </p:txBody>
      </p:sp>
      <p:sp>
        <p:nvSpPr>
          <p:cNvPr id="25" name="Text 23"/>
          <p:cNvSpPr/>
          <p:nvPr/>
        </p:nvSpPr>
        <p:spPr>
          <a:xfrm>
            <a:off x="731520" y="4526280"/>
            <a:ext cx="7772400" cy="274320"/>
          </a:xfrm>
          <a:prstGeom prst="rect">
            <a:avLst/>
          </a:prstGeom>
          <a:noFill/>
          <a:ln/>
        </p:spPr>
        <p:txBody>
          <a:bodyPr wrap="square" lIns="0" tIns="0" rIns="0" bIns="0" rtlCol="0" anchor="ctr"/>
          <a:lstStyle/>
          <a:p>
            <a:pPr indent="0" marL="0">
              <a:buNone/>
            </a:pPr>
            <a:r>
              <a:rPr lang="en-US" sz="1200" b="1" dirty="0">
                <a:solidFill>
                  <a:srgbClr val="4FB0E8"/>
                </a:solidFill>
                <a:latin typeface="Lato" pitchFamily="34" charset="0"/>
                <a:ea typeface="Lato" pitchFamily="34" charset="-122"/>
                <a:cs typeface="Lato" pitchFamily="34" charset="-120"/>
              </a:rPr>
              <a:t>Review indicators, never verdicts.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48640"/>
            <a:ext cx="7772400" cy="274320"/>
          </a:xfrm>
          <a:prstGeom prst="rect">
            <a:avLst/>
          </a:prstGeom>
          <a:noFill/>
          <a:ln/>
        </p:spPr>
        <p:txBody>
          <a:bodyPr wrap="square" lIns="0" tIns="0" rIns="0" bIns="0" rtlCol="0" anchor="ctr"/>
          <a:lstStyle/>
          <a:p>
            <a:pPr indent="0" marL="0">
              <a:buNone/>
            </a:pPr>
            <a:r>
              <a:rPr lang="en-US" sz="1100" b="1" spc="150" kern="0" dirty="0">
                <a:solidFill>
                  <a:srgbClr val="1483C8"/>
                </a:solidFill>
                <a:latin typeface="Lato" pitchFamily="34" charset="0"/>
                <a:ea typeface="Lato" pitchFamily="34" charset="-122"/>
                <a:cs typeface="Lato" pitchFamily="34" charset="-120"/>
              </a:rPr>
              <a:t>SOURCES &amp; PROVENANCE</a:t>
            </a:r>
            <a:endParaRPr lang="en-US" sz="1100" dirty="0"/>
          </a:p>
        </p:txBody>
      </p:sp>
      <p:sp>
        <p:nvSpPr>
          <p:cNvPr id="3" name="Text 1"/>
          <p:cNvSpPr/>
          <p:nvPr/>
        </p:nvSpPr>
        <p:spPr>
          <a:xfrm>
            <a:off x="667512" y="822960"/>
            <a:ext cx="7863840" cy="658368"/>
          </a:xfrm>
          <a:prstGeom prst="rect">
            <a:avLst/>
          </a:prstGeom>
          <a:noFill/>
          <a:ln/>
        </p:spPr>
        <p:txBody>
          <a:bodyPr wrap="square" lIns="0" tIns="0" rIns="0" bIns="0" rtlCol="0" anchor="ctr"/>
          <a:lstStyle/>
          <a:p>
            <a:pPr indent="0" marL="0">
              <a:buNone/>
            </a:pPr>
            <a:r>
              <a:rPr lang="en-US" sz="3200" b="1" dirty="0">
                <a:solidFill>
                  <a:srgbClr val="0C1B2E"/>
                </a:solidFill>
                <a:latin typeface="Lato" pitchFamily="34" charset="0"/>
                <a:ea typeface="Lato" pitchFamily="34" charset="-122"/>
                <a:cs typeface="Lato" pitchFamily="34" charset="-120"/>
              </a:rPr>
              <a:t>Sources</a:t>
            </a:r>
            <a:endParaRPr lang="en-US" sz="3200" dirty="0"/>
          </a:p>
        </p:txBody>
      </p:sp>
      <p:sp>
        <p:nvSpPr>
          <p:cNvPr id="4" name="Text 2"/>
          <p:cNvSpPr/>
          <p:nvPr/>
        </p:nvSpPr>
        <p:spPr>
          <a:xfrm>
            <a:off x="685800" y="1517904"/>
            <a:ext cx="7589520" cy="548640"/>
          </a:xfrm>
          <a:prstGeom prst="rect">
            <a:avLst/>
          </a:prstGeom>
          <a:noFill/>
          <a:ln/>
        </p:spPr>
        <p:txBody>
          <a:bodyPr wrap="square" lIns="0" tIns="0" rIns="0" bIns="0" rtlCol="0" anchor="ctr"/>
          <a:lstStyle/>
          <a:p>
            <a:pPr indent="0" marL="0">
              <a:lnSpc>
                <a:spcPts val="1900"/>
              </a:lnSpc>
              <a:buNone/>
            </a:pPr>
            <a:r>
              <a:rPr lang="en-US" sz="1350" dirty="0">
                <a:solidFill>
                  <a:srgbClr val="5B6B7B"/>
                </a:solidFill>
                <a:latin typeface="Lato" pitchFamily="34" charset="0"/>
                <a:ea typeface="Lato" pitchFamily="34" charset="-122"/>
                <a:cs typeface="Lato" pitchFamily="34" charset="-120"/>
              </a:rPr>
              <a:t>Program facts cite FEMA.gov and federal primary sources. Design choices and evaluation targets are labeled as such.</a:t>
            </a:r>
            <a:endParaRPr lang="en-US" sz="1350" dirty="0"/>
          </a:p>
        </p:txBody>
      </p:sp>
      <p:sp>
        <p:nvSpPr>
          <p:cNvPr id="5" name="Text 3"/>
          <p:cNvSpPr/>
          <p:nvPr/>
        </p:nvSpPr>
        <p:spPr>
          <a:xfrm>
            <a:off x="868680" y="2286000"/>
            <a:ext cx="3931920" cy="402336"/>
          </a:xfrm>
          <a:prstGeom prst="rect">
            <a:avLst/>
          </a:prstGeom>
          <a:noFill/>
          <a:ln/>
        </p:spPr>
        <p:txBody>
          <a:bodyPr wrap="square" lIns="0" tIns="0" rIns="0" bIns="0" rtlCol="0" anchor="ctr"/>
          <a:lstStyle/>
          <a:p>
            <a:pPr indent="0" marL="0">
              <a:lnSpc>
                <a:spcPts val="1100"/>
              </a:lnSpc>
              <a:buNone/>
            </a:pPr>
            <a:r>
              <a:rPr lang="en-US" sz="900" b="1" dirty="0">
                <a:solidFill>
                  <a:srgbClr val="0C1B2E"/>
                </a:solidFill>
                <a:latin typeface="Lato" pitchFamily="34" charset="0"/>
                <a:ea typeface="Lato" pitchFamily="34" charset="-122"/>
                <a:cs typeface="Lato" pitchFamily="34" charset="-120"/>
              </a:rPr>
              <a:t>PA categories A-G  </a:t>
            </a:r>
            <a:endParaRPr lang="en-US" sz="900" dirty="0"/>
          </a:p>
          <a:p>
            <a:pPr indent="0" marL="0">
              <a:lnSpc>
                <a:spcPts val="1100"/>
              </a:lnSpc>
              <a:buNone/>
            </a:pPr>
            <a:r>
              <a:rPr lang="en-US" sz="900" u="sng" dirty="0">
                <a:solidFill>
                  <a:srgbClr val="1483C8"/>
                </a:solidFill>
                <a:latin typeface="Lato" pitchFamily="34" charset="0"/>
                <a:ea typeface="Lato" pitchFamily="34" charset="-122"/>
                <a:cs typeface="Lato" pitchFamily="34" charset="-120"/>
                <a:hlinkClick r:id="rId1" invalidUrl="" action="" tgtFrame="" tooltip="FEMA Work Eligibility Matrix" history="1" highlightClick="0" endSnd="0">
                  <a:extLst>
                    <a:ext uri="{A12FA001-AC4F-418D-AE19-62706E023703}">
                      <ahyp:hlinkClr xmlns:ahyp="http://schemas.microsoft.com/office/drawing/2018/hyperlinkcolor" val="tx"/>
                    </a:ext>
                  </a:extLst>
                </a:hlinkClick>
              </a:rPr>
              <a:t>FEMA Work Eligibility Matrix</a:t>
            </a:r>
            <a:endParaRPr lang="en-US" sz="900" dirty="0"/>
          </a:p>
        </p:txBody>
      </p:sp>
      <p:sp>
        <p:nvSpPr>
          <p:cNvPr id="6" name="Shape 4"/>
          <p:cNvSpPr/>
          <p:nvPr/>
        </p:nvSpPr>
        <p:spPr>
          <a:xfrm>
            <a:off x="704088" y="2322576"/>
            <a:ext cx="64008" cy="274320"/>
          </a:xfrm>
          <a:prstGeom prst="rect">
            <a:avLst/>
          </a:prstGeom>
          <a:solidFill>
            <a:srgbClr val="1483C8"/>
          </a:solidFill>
          <a:ln/>
        </p:spPr>
      </p:sp>
      <p:sp>
        <p:nvSpPr>
          <p:cNvPr id="7" name="Text 5"/>
          <p:cNvSpPr/>
          <p:nvPr/>
        </p:nvSpPr>
        <p:spPr>
          <a:xfrm>
            <a:off x="868680" y="2688336"/>
            <a:ext cx="3931920" cy="402336"/>
          </a:xfrm>
          <a:prstGeom prst="rect">
            <a:avLst/>
          </a:prstGeom>
          <a:noFill/>
          <a:ln/>
        </p:spPr>
        <p:txBody>
          <a:bodyPr wrap="square" lIns="0" tIns="0" rIns="0" bIns="0" rtlCol="0" anchor="ctr"/>
          <a:lstStyle/>
          <a:p>
            <a:pPr indent="0" marL="0">
              <a:lnSpc>
                <a:spcPts val="1100"/>
              </a:lnSpc>
              <a:buNone/>
            </a:pPr>
            <a:r>
              <a:rPr lang="en-US" sz="900" b="1" dirty="0">
                <a:solidFill>
                  <a:srgbClr val="0C1B2E"/>
                </a:solidFill>
                <a:latin typeface="Lato" pitchFamily="34" charset="0"/>
                <a:ea typeface="Lato" pitchFamily="34" charset="-122"/>
                <a:cs typeface="Lato" pitchFamily="34" charset="-120"/>
              </a:rPr>
              <a:t>75% federal cost share  </a:t>
            </a:r>
            <a:endParaRPr lang="en-US" sz="900" dirty="0"/>
          </a:p>
          <a:p>
            <a:pPr indent="0" marL="0">
              <a:lnSpc>
                <a:spcPts val="1100"/>
              </a:lnSpc>
              <a:buNone/>
            </a:pPr>
            <a:r>
              <a:rPr lang="en-US" sz="900" u="sng" dirty="0">
                <a:solidFill>
                  <a:srgbClr val="1483C8"/>
                </a:solidFill>
                <a:latin typeface="Lato" pitchFamily="34" charset="0"/>
                <a:ea typeface="Lato" pitchFamily="34" charset="-122"/>
                <a:cs typeface="Lato" pitchFamily="34" charset="-120"/>
                <a:hlinkClick r:id="rId2" invalidUrl="" action="" tgtFrame="" tooltip="FEMA PA Hazard Mitigation" history="1" highlightClick="0" endSnd="0">
                  <a:extLst>
                    <a:ext uri="{A12FA001-AC4F-418D-AE19-62706E023703}">
                      <ahyp:hlinkClr xmlns:ahyp="http://schemas.microsoft.com/office/drawing/2018/hyperlinkcolor" val="tx"/>
                    </a:ext>
                  </a:extLst>
                </a:hlinkClick>
              </a:rPr>
              <a:t>FEMA PA Hazard Mitigation</a:t>
            </a:r>
            <a:endParaRPr lang="en-US" sz="900" dirty="0"/>
          </a:p>
        </p:txBody>
      </p:sp>
      <p:sp>
        <p:nvSpPr>
          <p:cNvPr id="8" name="Shape 6"/>
          <p:cNvSpPr/>
          <p:nvPr/>
        </p:nvSpPr>
        <p:spPr>
          <a:xfrm>
            <a:off x="704088" y="2724912"/>
            <a:ext cx="64008" cy="274320"/>
          </a:xfrm>
          <a:prstGeom prst="rect">
            <a:avLst/>
          </a:prstGeom>
          <a:solidFill>
            <a:srgbClr val="1483C8"/>
          </a:solidFill>
          <a:ln/>
        </p:spPr>
      </p:sp>
      <p:sp>
        <p:nvSpPr>
          <p:cNvPr id="9" name="Text 7"/>
          <p:cNvSpPr/>
          <p:nvPr/>
        </p:nvSpPr>
        <p:spPr>
          <a:xfrm>
            <a:off x="868680" y="3090672"/>
            <a:ext cx="3931920" cy="402336"/>
          </a:xfrm>
          <a:prstGeom prst="rect">
            <a:avLst/>
          </a:prstGeom>
          <a:noFill/>
          <a:ln/>
        </p:spPr>
        <p:txBody>
          <a:bodyPr wrap="square" lIns="0" tIns="0" rIns="0" bIns="0" rtlCol="0" anchor="ctr"/>
          <a:lstStyle/>
          <a:p>
            <a:pPr indent="0" marL="0">
              <a:lnSpc>
                <a:spcPts val="1100"/>
              </a:lnSpc>
              <a:buNone/>
            </a:pPr>
            <a:r>
              <a:rPr lang="en-US" sz="900" b="1" dirty="0">
                <a:solidFill>
                  <a:srgbClr val="0C1B2E"/>
                </a:solidFill>
                <a:latin typeface="Lato" pitchFamily="34" charset="0"/>
                <a:ea typeface="Lato" pitchFamily="34" charset="-122"/>
                <a:cs typeface="Lato" pitchFamily="34" charset="-120"/>
              </a:rPr>
              <a:t>Section 406 / 15% rule  </a:t>
            </a:r>
            <a:endParaRPr lang="en-US" sz="900" dirty="0"/>
          </a:p>
          <a:p>
            <a:pPr indent="0" marL="0">
              <a:lnSpc>
                <a:spcPts val="1100"/>
              </a:lnSpc>
              <a:buNone/>
            </a:pPr>
            <a:r>
              <a:rPr lang="en-US" sz="900" u="sng" dirty="0">
                <a:solidFill>
                  <a:srgbClr val="1483C8"/>
                </a:solidFill>
                <a:latin typeface="Lato" pitchFamily="34" charset="0"/>
                <a:ea typeface="Lato" pitchFamily="34" charset="-122"/>
                <a:cs typeface="Lato" pitchFamily="34" charset="-120"/>
                <a:hlinkClick r:id="rId3" invalidUrl="" action="" tgtFrame="" tooltip="FEMA IS-1014 (benefit-cost)" history="1" highlightClick="0" endSnd="0">
                  <a:extLst>
                    <a:ext uri="{A12FA001-AC4F-418D-AE19-62706E023703}">
                      <ahyp:hlinkClr xmlns:ahyp="http://schemas.microsoft.com/office/drawing/2018/hyperlinkcolor" val="tx"/>
                    </a:ext>
                  </a:extLst>
                </a:hlinkClick>
              </a:rPr>
              <a:t>FEMA IS-1014 (benefit-cost)</a:t>
            </a:r>
            <a:endParaRPr lang="en-US" sz="900" dirty="0"/>
          </a:p>
        </p:txBody>
      </p:sp>
      <p:sp>
        <p:nvSpPr>
          <p:cNvPr id="10" name="Shape 8"/>
          <p:cNvSpPr/>
          <p:nvPr/>
        </p:nvSpPr>
        <p:spPr>
          <a:xfrm>
            <a:off x="704088" y="3127248"/>
            <a:ext cx="64008" cy="274320"/>
          </a:xfrm>
          <a:prstGeom prst="rect">
            <a:avLst/>
          </a:prstGeom>
          <a:solidFill>
            <a:srgbClr val="1483C8"/>
          </a:solidFill>
          <a:ln/>
        </p:spPr>
      </p:sp>
      <p:sp>
        <p:nvSpPr>
          <p:cNvPr id="11" name="Text 9"/>
          <p:cNvSpPr/>
          <p:nvPr/>
        </p:nvSpPr>
        <p:spPr>
          <a:xfrm>
            <a:off x="868680" y="3493008"/>
            <a:ext cx="3931920" cy="402336"/>
          </a:xfrm>
          <a:prstGeom prst="rect">
            <a:avLst/>
          </a:prstGeom>
          <a:noFill/>
          <a:ln/>
        </p:spPr>
        <p:txBody>
          <a:bodyPr wrap="square" lIns="0" tIns="0" rIns="0" bIns="0" rtlCol="0" anchor="ctr"/>
          <a:lstStyle/>
          <a:p>
            <a:pPr indent="0" marL="0">
              <a:lnSpc>
                <a:spcPts val="1100"/>
              </a:lnSpc>
              <a:buNone/>
            </a:pPr>
            <a:r>
              <a:rPr lang="en-US" sz="900" b="1" dirty="0">
                <a:solidFill>
                  <a:srgbClr val="0C1B2E"/>
                </a:solidFill>
                <a:latin typeface="Lato" pitchFamily="34" charset="0"/>
                <a:ea typeface="Lato" pitchFamily="34" charset="-122"/>
                <a:cs typeface="Lato" pitchFamily="34" charset="-120"/>
              </a:rPr>
              <a:t>Stafford Act authority  </a:t>
            </a:r>
            <a:endParaRPr lang="en-US" sz="900" dirty="0"/>
          </a:p>
          <a:p>
            <a:pPr indent="0" marL="0">
              <a:lnSpc>
                <a:spcPts val="1100"/>
              </a:lnSpc>
              <a:buNone/>
            </a:pPr>
            <a:r>
              <a:rPr lang="en-US" sz="900" u="sng" dirty="0">
                <a:solidFill>
                  <a:srgbClr val="1483C8"/>
                </a:solidFill>
                <a:latin typeface="Lato" pitchFamily="34" charset="0"/>
                <a:ea typeface="Lato" pitchFamily="34" charset="-122"/>
                <a:cs typeface="Lato" pitchFamily="34" charset="-120"/>
                <a:hlinkClick r:id="rId4" invalidUrl="" action="" tgtFrame="" tooltip="FEMA IS-1000" history="1" highlightClick="0" endSnd="0">
                  <a:extLst>
                    <a:ext uri="{A12FA001-AC4F-418D-AE19-62706E023703}">
                      <ahyp:hlinkClr xmlns:ahyp="http://schemas.microsoft.com/office/drawing/2018/hyperlinkcolor" val="tx"/>
                    </a:ext>
                  </a:extLst>
                </a:hlinkClick>
              </a:rPr>
              <a:t>FEMA IS-1000</a:t>
            </a:r>
            <a:endParaRPr lang="en-US" sz="900" dirty="0"/>
          </a:p>
        </p:txBody>
      </p:sp>
      <p:sp>
        <p:nvSpPr>
          <p:cNvPr id="12" name="Shape 10"/>
          <p:cNvSpPr/>
          <p:nvPr/>
        </p:nvSpPr>
        <p:spPr>
          <a:xfrm>
            <a:off x="704088" y="3529584"/>
            <a:ext cx="64008" cy="274320"/>
          </a:xfrm>
          <a:prstGeom prst="rect">
            <a:avLst/>
          </a:prstGeom>
          <a:solidFill>
            <a:srgbClr val="1483C8"/>
          </a:solidFill>
          <a:ln/>
        </p:spPr>
      </p:sp>
      <p:sp>
        <p:nvSpPr>
          <p:cNvPr id="13" name="Text 11"/>
          <p:cNvSpPr/>
          <p:nvPr/>
        </p:nvSpPr>
        <p:spPr>
          <a:xfrm>
            <a:off x="868680" y="3895344"/>
            <a:ext cx="3931920" cy="402336"/>
          </a:xfrm>
          <a:prstGeom prst="rect">
            <a:avLst/>
          </a:prstGeom>
          <a:noFill/>
          <a:ln/>
        </p:spPr>
        <p:txBody>
          <a:bodyPr wrap="square" lIns="0" tIns="0" rIns="0" bIns="0" rtlCol="0" anchor="ctr"/>
          <a:lstStyle/>
          <a:p>
            <a:pPr indent="0" marL="0">
              <a:lnSpc>
                <a:spcPts val="1100"/>
              </a:lnSpc>
              <a:buNone/>
            </a:pPr>
            <a:r>
              <a:rPr lang="en-US" sz="900" b="1" dirty="0">
                <a:solidFill>
                  <a:srgbClr val="0C1B2E"/>
                </a:solidFill>
                <a:latin typeface="Lato" pitchFamily="34" charset="0"/>
                <a:ea typeface="Lato" pitchFamily="34" charset="-122"/>
                <a:cs typeface="Lato" pitchFamily="34" charset="-120"/>
              </a:rPr>
              <a:t>PAPPG v5 (Jun 2024)  </a:t>
            </a:r>
            <a:endParaRPr lang="en-US" sz="900" dirty="0"/>
          </a:p>
          <a:p>
            <a:pPr indent="0" marL="0">
              <a:lnSpc>
                <a:spcPts val="1100"/>
              </a:lnSpc>
              <a:buNone/>
            </a:pPr>
            <a:r>
              <a:rPr lang="en-US" sz="900" u="sng" dirty="0">
                <a:solidFill>
                  <a:srgbClr val="1483C8"/>
                </a:solidFill>
                <a:latin typeface="Lato" pitchFamily="34" charset="0"/>
                <a:ea typeface="Lato" pitchFamily="34" charset="-122"/>
                <a:cs typeface="Lato" pitchFamily="34" charset="-120"/>
                <a:hlinkClick r:id="rId5" invalidUrl="" action="" tgtFrame="" tooltip="fema.gov Program &amp; Policy Guide" history="1" highlightClick="0" endSnd="0">
                  <a:extLst>
                    <a:ext uri="{A12FA001-AC4F-418D-AE19-62706E023703}">
                      <ahyp:hlinkClr xmlns:ahyp="http://schemas.microsoft.com/office/drawing/2018/hyperlinkcolor" val="tx"/>
                    </a:ext>
                  </a:extLst>
                </a:hlinkClick>
              </a:rPr>
              <a:t>fema.gov Program &amp; Policy Guide</a:t>
            </a:r>
            <a:endParaRPr lang="en-US" sz="900" dirty="0"/>
          </a:p>
        </p:txBody>
      </p:sp>
      <p:sp>
        <p:nvSpPr>
          <p:cNvPr id="14" name="Shape 12"/>
          <p:cNvSpPr/>
          <p:nvPr/>
        </p:nvSpPr>
        <p:spPr>
          <a:xfrm>
            <a:off x="704088" y="3931920"/>
            <a:ext cx="64008" cy="274320"/>
          </a:xfrm>
          <a:prstGeom prst="rect">
            <a:avLst/>
          </a:prstGeom>
          <a:solidFill>
            <a:srgbClr val="1483C8"/>
          </a:solidFill>
          <a:ln/>
        </p:spPr>
      </p:sp>
      <p:sp>
        <p:nvSpPr>
          <p:cNvPr id="15" name="Text 13"/>
          <p:cNvSpPr/>
          <p:nvPr/>
        </p:nvSpPr>
        <p:spPr>
          <a:xfrm>
            <a:off x="868680" y="4297680"/>
            <a:ext cx="3931920" cy="402336"/>
          </a:xfrm>
          <a:prstGeom prst="rect">
            <a:avLst/>
          </a:prstGeom>
          <a:noFill/>
          <a:ln/>
        </p:spPr>
        <p:txBody>
          <a:bodyPr wrap="square" lIns="0" tIns="0" rIns="0" bIns="0" rtlCol="0" anchor="ctr"/>
          <a:lstStyle/>
          <a:p>
            <a:pPr indent="0" marL="0">
              <a:lnSpc>
                <a:spcPts val="1100"/>
              </a:lnSpc>
              <a:buNone/>
            </a:pPr>
            <a:r>
              <a:rPr lang="en-US" sz="900" b="1" dirty="0">
                <a:solidFill>
                  <a:srgbClr val="0C1B2E"/>
                </a:solidFill>
                <a:latin typeface="Lato" pitchFamily="34" charset="0"/>
                <a:ea typeface="Lato" pitchFamily="34" charset="-122"/>
                <a:cs typeface="Lato" pitchFamily="34" charset="-120"/>
              </a:rPr>
              <a:t>Dataset (849,167 PWs)  </a:t>
            </a:r>
            <a:endParaRPr lang="en-US" sz="900" dirty="0"/>
          </a:p>
          <a:p>
            <a:pPr indent="0" marL="0">
              <a:lnSpc>
                <a:spcPts val="1100"/>
              </a:lnSpc>
              <a:buNone/>
            </a:pPr>
            <a:r>
              <a:rPr lang="en-US" sz="900" u="sng" dirty="0">
                <a:solidFill>
                  <a:srgbClr val="1483C8"/>
                </a:solidFill>
                <a:latin typeface="Lato" pitchFamily="34" charset="0"/>
                <a:ea typeface="Lato" pitchFamily="34" charset="-122"/>
                <a:cs typeface="Lato" pitchFamily="34" charset="-120"/>
                <a:hlinkClick r:id="rId6" invalidUrl="" action="" tgtFrame="" tooltip="OpenFEMA PA Funded Projects v2" history="1" highlightClick="0" endSnd="0">
                  <a:extLst>
                    <a:ext uri="{A12FA001-AC4F-418D-AE19-62706E023703}">
                      <ahyp:hlinkClr xmlns:ahyp="http://schemas.microsoft.com/office/drawing/2018/hyperlinkcolor" val="tx"/>
                    </a:ext>
                  </a:extLst>
                </a:hlinkClick>
              </a:rPr>
              <a:t>OpenFEMA PA Funded Projects v2</a:t>
            </a:r>
            <a:endParaRPr lang="en-US" sz="900" dirty="0"/>
          </a:p>
        </p:txBody>
      </p:sp>
      <p:sp>
        <p:nvSpPr>
          <p:cNvPr id="16" name="Shape 14"/>
          <p:cNvSpPr/>
          <p:nvPr/>
        </p:nvSpPr>
        <p:spPr>
          <a:xfrm>
            <a:off x="704088" y="4334256"/>
            <a:ext cx="64008" cy="274320"/>
          </a:xfrm>
          <a:prstGeom prst="rect">
            <a:avLst/>
          </a:prstGeom>
          <a:solidFill>
            <a:srgbClr val="1483C8"/>
          </a:solidFill>
          <a:ln/>
        </p:spPr>
      </p:sp>
      <p:sp>
        <p:nvSpPr>
          <p:cNvPr id="17" name="Text 15"/>
          <p:cNvSpPr/>
          <p:nvPr/>
        </p:nvSpPr>
        <p:spPr>
          <a:xfrm>
            <a:off x="4937760" y="2286000"/>
            <a:ext cx="3931920" cy="402336"/>
          </a:xfrm>
          <a:prstGeom prst="rect">
            <a:avLst/>
          </a:prstGeom>
          <a:noFill/>
          <a:ln/>
        </p:spPr>
        <p:txBody>
          <a:bodyPr wrap="square" lIns="0" tIns="0" rIns="0" bIns="0" rtlCol="0" anchor="ctr"/>
          <a:lstStyle/>
          <a:p>
            <a:pPr indent="0" marL="0">
              <a:lnSpc>
                <a:spcPts val="1100"/>
              </a:lnSpc>
              <a:buNone/>
            </a:pPr>
            <a:r>
              <a:rPr lang="en-US" sz="900" b="1" dirty="0">
                <a:solidFill>
                  <a:srgbClr val="0C1B2E"/>
                </a:solidFill>
                <a:latin typeface="Lato" pitchFamily="34" charset="0"/>
                <a:ea typeface="Lato" pitchFamily="34" charset="-122"/>
                <a:cs typeface="Lato" pitchFamily="34" charset="-120"/>
              </a:rPr>
              <a:t>LLM legal hallucination 17-33%  </a:t>
            </a:r>
            <a:endParaRPr lang="en-US" sz="900" dirty="0"/>
          </a:p>
          <a:p>
            <a:pPr indent="0" marL="0">
              <a:lnSpc>
                <a:spcPts val="1100"/>
              </a:lnSpc>
              <a:buNone/>
            </a:pPr>
            <a:r>
              <a:rPr lang="en-US" sz="900" u="sng" dirty="0">
                <a:solidFill>
                  <a:srgbClr val="1483C8"/>
                </a:solidFill>
                <a:latin typeface="Lato" pitchFamily="34" charset="0"/>
                <a:ea typeface="Lato" pitchFamily="34" charset="-122"/>
                <a:cs typeface="Lato" pitchFamily="34" charset="-120"/>
                <a:hlinkClick r:id="rId7" invalidUrl="" action="" tgtFrame="" tooltip="Stanford RegLab, Magesh 2024" history="1" highlightClick="0" endSnd="0">
                  <a:extLst>
                    <a:ext uri="{A12FA001-AC4F-418D-AE19-62706E023703}">
                      <ahyp:hlinkClr xmlns:ahyp="http://schemas.microsoft.com/office/drawing/2018/hyperlinkcolor" val="tx"/>
                    </a:ext>
                  </a:extLst>
                </a:hlinkClick>
              </a:rPr>
              <a:t>Stanford RegLab, Magesh 2024</a:t>
            </a:r>
            <a:endParaRPr lang="en-US" sz="900" dirty="0"/>
          </a:p>
        </p:txBody>
      </p:sp>
      <p:sp>
        <p:nvSpPr>
          <p:cNvPr id="18" name="Shape 16"/>
          <p:cNvSpPr/>
          <p:nvPr/>
        </p:nvSpPr>
        <p:spPr>
          <a:xfrm>
            <a:off x="4773168" y="2322576"/>
            <a:ext cx="64008" cy="274320"/>
          </a:xfrm>
          <a:prstGeom prst="rect">
            <a:avLst/>
          </a:prstGeom>
          <a:solidFill>
            <a:srgbClr val="1483C8"/>
          </a:solidFill>
          <a:ln/>
        </p:spPr>
      </p:sp>
      <p:sp>
        <p:nvSpPr>
          <p:cNvPr id="19" name="Text 17"/>
          <p:cNvSpPr/>
          <p:nvPr/>
        </p:nvSpPr>
        <p:spPr>
          <a:xfrm>
            <a:off x="4937760" y="2688336"/>
            <a:ext cx="3931920" cy="402336"/>
          </a:xfrm>
          <a:prstGeom prst="rect">
            <a:avLst/>
          </a:prstGeom>
          <a:noFill/>
          <a:ln/>
        </p:spPr>
        <p:txBody>
          <a:bodyPr wrap="square" lIns="0" tIns="0" rIns="0" bIns="0" rtlCol="0" anchor="ctr"/>
          <a:lstStyle/>
          <a:p>
            <a:pPr indent="0" marL="0">
              <a:lnSpc>
                <a:spcPts val="1100"/>
              </a:lnSpc>
              <a:buNone/>
            </a:pPr>
            <a:r>
              <a:rPr lang="en-US" sz="900" b="1" dirty="0">
                <a:solidFill>
                  <a:srgbClr val="0C1B2E"/>
                </a:solidFill>
                <a:latin typeface="Lato" pitchFamily="34" charset="0"/>
                <a:ea typeface="Lato" pitchFamily="34" charset="-122"/>
                <a:cs typeface="Lato" pitchFamily="34" charset="-120"/>
              </a:rPr>
              <a:t>Legal hallucination profiling  </a:t>
            </a:r>
            <a:endParaRPr lang="en-US" sz="900" dirty="0"/>
          </a:p>
          <a:p>
            <a:pPr indent="0" marL="0">
              <a:lnSpc>
                <a:spcPts val="1100"/>
              </a:lnSpc>
              <a:buNone/>
            </a:pPr>
            <a:r>
              <a:rPr lang="en-US" sz="900" u="sng" dirty="0">
                <a:solidFill>
                  <a:srgbClr val="1483C8"/>
                </a:solidFill>
                <a:latin typeface="Lato" pitchFamily="34" charset="0"/>
                <a:ea typeface="Lato" pitchFamily="34" charset="-122"/>
                <a:cs typeface="Lato" pitchFamily="34" charset="-120"/>
                <a:hlinkClick r:id="rId8" invalidUrl="" action="" tgtFrame="" tooltip="Dahl et al., arXiv:2401.01301" history="1" highlightClick="0" endSnd="0">
                  <a:extLst>
                    <a:ext uri="{A12FA001-AC4F-418D-AE19-62706E023703}">
                      <ahyp:hlinkClr xmlns:ahyp="http://schemas.microsoft.com/office/drawing/2018/hyperlinkcolor" val="tx"/>
                    </a:ext>
                  </a:extLst>
                </a:hlinkClick>
              </a:rPr>
              <a:t>Dahl et al., arXiv:2401.01301</a:t>
            </a:r>
            <a:endParaRPr lang="en-US" sz="900" dirty="0"/>
          </a:p>
        </p:txBody>
      </p:sp>
      <p:sp>
        <p:nvSpPr>
          <p:cNvPr id="20" name="Shape 18"/>
          <p:cNvSpPr/>
          <p:nvPr/>
        </p:nvSpPr>
        <p:spPr>
          <a:xfrm>
            <a:off x="4773168" y="2724912"/>
            <a:ext cx="64008" cy="274320"/>
          </a:xfrm>
          <a:prstGeom prst="rect">
            <a:avLst/>
          </a:prstGeom>
          <a:solidFill>
            <a:srgbClr val="1483C8"/>
          </a:solidFill>
          <a:ln/>
        </p:spPr>
      </p:sp>
      <p:sp>
        <p:nvSpPr>
          <p:cNvPr id="21" name="Text 19"/>
          <p:cNvSpPr/>
          <p:nvPr/>
        </p:nvSpPr>
        <p:spPr>
          <a:xfrm>
            <a:off x="4937760" y="3090672"/>
            <a:ext cx="3931920" cy="402336"/>
          </a:xfrm>
          <a:prstGeom prst="rect">
            <a:avLst/>
          </a:prstGeom>
          <a:noFill/>
          <a:ln/>
        </p:spPr>
        <p:txBody>
          <a:bodyPr wrap="square" lIns="0" tIns="0" rIns="0" bIns="0" rtlCol="0" anchor="ctr"/>
          <a:lstStyle/>
          <a:p>
            <a:pPr indent="0" marL="0">
              <a:lnSpc>
                <a:spcPts val="1100"/>
              </a:lnSpc>
              <a:buNone/>
            </a:pPr>
            <a:r>
              <a:rPr lang="en-US" sz="900" b="1" dirty="0">
                <a:solidFill>
                  <a:srgbClr val="0C1B2E"/>
                </a:solidFill>
                <a:latin typeface="Lato" pitchFamily="34" charset="0"/>
                <a:ea typeface="Lato" pitchFamily="34" charset="-122"/>
                <a:cs typeface="Lato" pitchFamily="34" charset="-120"/>
              </a:rPr>
              <a:t>Agents ~half of FRED traffic  </a:t>
            </a:r>
            <a:endParaRPr lang="en-US" sz="900" dirty="0"/>
          </a:p>
          <a:p>
            <a:pPr indent="0" marL="0">
              <a:lnSpc>
                <a:spcPts val="1100"/>
              </a:lnSpc>
              <a:buNone/>
            </a:pPr>
            <a:r>
              <a:rPr lang="en-US" sz="900" u="sng" dirty="0">
                <a:solidFill>
                  <a:srgbClr val="1483C8"/>
                </a:solidFill>
                <a:latin typeface="Lato" pitchFamily="34" charset="0"/>
                <a:ea typeface="Lato" pitchFamily="34" charset="-122"/>
                <a:cs typeface="Lato" pitchFamily="34" charset="-120"/>
                <a:hlinkClick r:id="rId9" invalidUrl="" action="" tgtFrame="" tooltip="NextGov, Hart, Oct 2026" history="1" highlightClick="0" endSnd="0">
                  <a:extLst>
                    <a:ext uri="{A12FA001-AC4F-418D-AE19-62706E023703}">
                      <ahyp:hlinkClr xmlns:ahyp="http://schemas.microsoft.com/office/drawing/2018/hyperlinkcolor" val="tx"/>
                    </a:ext>
                  </a:extLst>
                </a:hlinkClick>
              </a:rPr>
              <a:t>NextGov, Hart, Oct 2026</a:t>
            </a:r>
            <a:endParaRPr lang="en-US" sz="900" dirty="0"/>
          </a:p>
        </p:txBody>
      </p:sp>
      <p:sp>
        <p:nvSpPr>
          <p:cNvPr id="22" name="Shape 20"/>
          <p:cNvSpPr/>
          <p:nvPr/>
        </p:nvSpPr>
        <p:spPr>
          <a:xfrm>
            <a:off x="4773168" y="3127248"/>
            <a:ext cx="64008" cy="274320"/>
          </a:xfrm>
          <a:prstGeom prst="rect">
            <a:avLst/>
          </a:prstGeom>
          <a:solidFill>
            <a:srgbClr val="1483C8"/>
          </a:solidFill>
          <a:ln/>
        </p:spPr>
      </p:sp>
      <p:sp>
        <p:nvSpPr>
          <p:cNvPr id="23" name="Text 21"/>
          <p:cNvSpPr/>
          <p:nvPr/>
        </p:nvSpPr>
        <p:spPr>
          <a:xfrm>
            <a:off x="4937760" y="3493008"/>
            <a:ext cx="3931920" cy="402336"/>
          </a:xfrm>
          <a:prstGeom prst="rect">
            <a:avLst/>
          </a:prstGeom>
          <a:noFill/>
          <a:ln/>
        </p:spPr>
        <p:txBody>
          <a:bodyPr wrap="square" lIns="0" tIns="0" rIns="0" bIns="0" rtlCol="0" anchor="ctr"/>
          <a:lstStyle/>
          <a:p>
            <a:pPr indent="0" marL="0">
              <a:lnSpc>
                <a:spcPts val="1100"/>
              </a:lnSpc>
              <a:buNone/>
            </a:pPr>
            <a:r>
              <a:rPr lang="en-US" sz="900" b="1" dirty="0">
                <a:solidFill>
                  <a:srgbClr val="0C1B2E"/>
                </a:solidFill>
                <a:latin typeface="Lato" pitchFamily="34" charset="0"/>
                <a:ea typeface="Lato" pitchFamily="34" charset="-122"/>
                <a:cs typeface="Lato" pitchFamily="34" charset="-120"/>
              </a:rPr>
              <a:t>Managed MCP (Genie, UC)  </a:t>
            </a:r>
            <a:endParaRPr lang="en-US" sz="900" dirty="0"/>
          </a:p>
          <a:p>
            <a:pPr indent="0" marL="0">
              <a:lnSpc>
                <a:spcPts val="1100"/>
              </a:lnSpc>
              <a:buNone/>
            </a:pPr>
            <a:r>
              <a:rPr lang="en-US" sz="900" u="sng" dirty="0">
                <a:solidFill>
                  <a:srgbClr val="1483C8"/>
                </a:solidFill>
                <a:latin typeface="Lato" pitchFamily="34" charset="0"/>
                <a:ea typeface="Lato" pitchFamily="34" charset="-122"/>
                <a:cs typeface="Lato" pitchFamily="34" charset="-120"/>
                <a:hlinkClick r:id="rId10" invalidUrl="" action="" tgtFrame="" tooltip="docs.databricks.com" history="1" highlightClick="0" endSnd="0">
                  <a:extLst>
                    <a:ext uri="{A12FA001-AC4F-418D-AE19-62706E023703}">
                      <ahyp:hlinkClr xmlns:ahyp="http://schemas.microsoft.com/office/drawing/2018/hyperlinkcolor" val="tx"/>
                    </a:ext>
                  </a:extLst>
                </a:hlinkClick>
              </a:rPr>
              <a:t>docs.databricks.com</a:t>
            </a:r>
            <a:endParaRPr lang="en-US" sz="900" dirty="0"/>
          </a:p>
        </p:txBody>
      </p:sp>
      <p:sp>
        <p:nvSpPr>
          <p:cNvPr id="24" name="Shape 22"/>
          <p:cNvSpPr/>
          <p:nvPr/>
        </p:nvSpPr>
        <p:spPr>
          <a:xfrm>
            <a:off x="4773168" y="3529584"/>
            <a:ext cx="64008" cy="274320"/>
          </a:xfrm>
          <a:prstGeom prst="rect">
            <a:avLst/>
          </a:prstGeom>
          <a:solidFill>
            <a:srgbClr val="1483C8"/>
          </a:solidFill>
          <a:ln/>
        </p:spPr>
      </p:sp>
      <p:sp>
        <p:nvSpPr>
          <p:cNvPr id="25" name="Text 23"/>
          <p:cNvSpPr/>
          <p:nvPr/>
        </p:nvSpPr>
        <p:spPr>
          <a:xfrm>
            <a:off x="4937760" y="3895344"/>
            <a:ext cx="3931920" cy="402336"/>
          </a:xfrm>
          <a:prstGeom prst="rect">
            <a:avLst/>
          </a:prstGeom>
          <a:noFill/>
          <a:ln/>
        </p:spPr>
        <p:txBody>
          <a:bodyPr wrap="square" lIns="0" tIns="0" rIns="0" bIns="0" rtlCol="0" anchor="ctr"/>
          <a:lstStyle/>
          <a:p>
            <a:pPr indent="0" marL="0">
              <a:lnSpc>
                <a:spcPts val="1100"/>
              </a:lnSpc>
              <a:buNone/>
            </a:pPr>
            <a:r>
              <a:rPr lang="en-US" sz="900" b="1" dirty="0">
                <a:solidFill>
                  <a:srgbClr val="0C1B2E"/>
                </a:solidFill>
                <a:latin typeface="Lato" pitchFamily="34" charset="0"/>
                <a:ea typeface="Lato" pitchFamily="34" charset="-122"/>
                <a:cs typeface="Lato" pitchFamily="34" charset="-120"/>
              </a:rPr>
              <a:t>Directed agent graphs  </a:t>
            </a:r>
            <a:endParaRPr lang="en-US" sz="900" dirty="0"/>
          </a:p>
          <a:p>
            <a:pPr indent="0" marL="0">
              <a:lnSpc>
                <a:spcPts val="1100"/>
              </a:lnSpc>
              <a:buNone/>
            </a:pPr>
            <a:r>
              <a:rPr lang="en-US" sz="900" u="sng" dirty="0">
                <a:solidFill>
                  <a:srgbClr val="1483C8"/>
                </a:solidFill>
                <a:latin typeface="Lato" pitchFamily="34" charset="0"/>
                <a:ea typeface="Lato" pitchFamily="34" charset="-122"/>
                <a:cs typeface="Lato" pitchFamily="34" charset="-120"/>
                <a:hlinkClick r:id="rId11" invalidUrl="" action="" tgtFrame="" tooltip="Prefect, “Loops vs. graphs”" history="1" highlightClick="0" endSnd="0">
                  <a:extLst>
                    <a:ext uri="{A12FA001-AC4F-418D-AE19-62706E023703}">
                      <ahyp:hlinkClr xmlns:ahyp="http://schemas.microsoft.com/office/drawing/2018/hyperlinkcolor" val="tx"/>
                    </a:ext>
                  </a:extLst>
                </a:hlinkClick>
              </a:rPr>
              <a:t>Prefect, “Loops vs. graphs”</a:t>
            </a:r>
            <a:endParaRPr lang="en-US" sz="900" dirty="0"/>
          </a:p>
        </p:txBody>
      </p:sp>
      <p:sp>
        <p:nvSpPr>
          <p:cNvPr id="26" name="Shape 24"/>
          <p:cNvSpPr/>
          <p:nvPr/>
        </p:nvSpPr>
        <p:spPr>
          <a:xfrm>
            <a:off x="4773168" y="3931920"/>
            <a:ext cx="64008" cy="274320"/>
          </a:xfrm>
          <a:prstGeom prst="rect">
            <a:avLst/>
          </a:prstGeom>
          <a:solidFill>
            <a:srgbClr val="1483C8"/>
          </a:solidFill>
          <a:ln/>
        </p:spPr>
      </p:sp>
      <p:sp>
        <p:nvSpPr>
          <p:cNvPr id="27" name="Text 25"/>
          <p:cNvSpPr/>
          <p:nvPr/>
        </p:nvSpPr>
        <p:spPr>
          <a:xfrm>
            <a:off x="4937760" y="4297680"/>
            <a:ext cx="3931920" cy="402336"/>
          </a:xfrm>
          <a:prstGeom prst="rect">
            <a:avLst/>
          </a:prstGeom>
          <a:noFill/>
          <a:ln/>
        </p:spPr>
        <p:txBody>
          <a:bodyPr wrap="square" lIns="0" tIns="0" rIns="0" bIns="0" rtlCol="0" anchor="ctr"/>
          <a:lstStyle/>
          <a:p>
            <a:pPr indent="0" marL="0">
              <a:lnSpc>
                <a:spcPts val="1100"/>
              </a:lnSpc>
              <a:buNone/>
            </a:pPr>
            <a:r>
              <a:rPr lang="en-US" sz="900" b="1" dirty="0">
                <a:solidFill>
                  <a:srgbClr val="0C1B2E"/>
                </a:solidFill>
                <a:latin typeface="Lato" pitchFamily="34" charset="0"/>
                <a:ea typeface="Lato" pitchFamily="34" charset="-122"/>
                <a:cs typeface="Lato" pitchFamily="34" charset="-120"/>
              </a:rPr>
              <a:t>Design, tools, eval targets  </a:t>
            </a:r>
            <a:endParaRPr lang="en-US" sz="900" dirty="0"/>
          </a:p>
          <a:p>
            <a:pPr indent="0" marL="0">
              <a:lnSpc>
                <a:spcPts val="1100"/>
              </a:lnSpc>
              <a:buNone/>
            </a:pPr>
            <a:r>
              <a:rPr lang="en-US" sz="900" i="1" dirty="0">
                <a:solidFill>
                  <a:srgbClr val="5B6B7B"/>
                </a:solidFill>
                <a:latin typeface="Lato" pitchFamily="34" charset="0"/>
                <a:ea typeface="Lato" pitchFamily="34" charset="-122"/>
                <a:cs typeface="Lato" pitchFamily="34" charset="-120"/>
              </a:rPr>
              <a:t>This project — see SOURCES.md</a:t>
            </a:r>
            <a:endParaRPr lang="en-US" sz="900" dirty="0"/>
          </a:p>
        </p:txBody>
      </p:sp>
      <p:sp>
        <p:nvSpPr>
          <p:cNvPr id="28" name="Shape 26"/>
          <p:cNvSpPr/>
          <p:nvPr/>
        </p:nvSpPr>
        <p:spPr>
          <a:xfrm>
            <a:off x="4773168" y="4334256"/>
            <a:ext cx="64008" cy="274320"/>
          </a:xfrm>
          <a:prstGeom prst="rect">
            <a:avLst/>
          </a:prstGeom>
          <a:solidFill>
            <a:srgbClr val="1483C8"/>
          </a:solidFill>
          <a:ln/>
        </p:spPr>
      </p:sp>
      <p:sp>
        <p:nvSpPr>
          <p:cNvPr id="29" name="Text 27"/>
          <p:cNvSpPr/>
          <p:nvPr/>
        </p:nvSpPr>
        <p:spPr>
          <a:xfrm>
            <a:off x="685800" y="4590288"/>
            <a:ext cx="7863840" cy="274320"/>
          </a:xfrm>
          <a:prstGeom prst="rect">
            <a:avLst/>
          </a:prstGeom>
          <a:noFill/>
          <a:ln/>
        </p:spPr>
        <p:txBody>
          <a:bodyPr wrap="square" lIns="0" tIns="0" rIns="0" bIns="0" rtlCol="0" anchor="ctr"/>
          <a:lstStyle/>
          <a:p>
            <a:pPr indent="0" marL="0">
              <a:buNone/>
            </a:pPr>
            <a:r>
              <a:rPr lang="en-US" sz="900" i="1" dirty="0">
                <a:solidFill>
                  <a:srgbClr val="E8681C"/>
                </a:solidFill>
                <a:latin typeface="Lato" pitchFamily="34" charset="0"/>
                <a:ea typeface="Lato" pitchFamily="34" charset="-122"/>
                <a:cs typeface="Lato" pitchFamily="34" charset="-120"/>
              </a:rPr>
              <a:t>Click any source to open it. Full claim-by-claim provenance: SOURCES.md in the submission repository.</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
  <Relationship Id="rId1" Type="http://schemas.microsoft.com/office/2011/relationships/webextension" Target="webextension1.xml"/>
</Relationships>
</file>

<file path=ppt/webextensions/taskpanes.xml><?xml version="1.0" encoding="utf-8"?>
<wetp:taskpanes xmlns:wetp="http://schemas.microsoft.com/office/webextensions/taskpanes/2010/11">
  <wetp:taskpane dockstate="right" visibility="1"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DFA87E7-5258-43BA-9C91-56D80180A0F5}">
  <we:reference id="WA200010606" version="1.0.10036.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FEMA PA Evidence &amp; Oversight Graph</dc:title>
  <dc:subject>PptxGenJS Presentation</dc:subject>
  <dc:creator>FEMA Evidence &amp; Oversight Graph</dc:creator>
  <cp:lastModifiedBy>FEMA Evidence &amp; Oversight Graph</cp:lastModifiedBy>
  <cp:revision>1</cp:revision>
  <dcterms:created xsi:type="dcterms:W3CDTF">2026-10-23T08:23:42Z</dcterms:created>
  <dcterms:modified xsi:type="dcterms:W3CDTF">2026-10-23T08:23:42Z</dcterms:modified>
</cp:coreProperties>
</file>